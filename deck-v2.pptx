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unvx21uq3TyruOs6ZsogdrEeH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395d4a1ce48_0_456"/>
          <p:cNvCxnSpPr/>
          <p:nvPr/>
        </p:nvCxnSpPr>
        <p:spPr>
          <a:xfrm>
            <a:off x="0" y="399753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g395d4a1ce48_0_456"/>
          <p:cNvSpPr txBox="1"/>
          <p:nvPr>
            <p:ph type="ctrTitle"/>
          </p:nvPr>
        </p:nvSpPr>
        <p:spPr>
          <a:xfrm>
            <a:off x="510450" y="1676400"/>
            <a:ext cx="8123100" cy="21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g395d4a1ce48_0_456"/>
          <p:cNvSpPr txBox="1"/>
          <p:nvPr>
            <p:ph idx="1" type="subTitle"/>
          </p:nvPr>
        </p:nvSpPr>
        <p:spPr>
          <a:xfrm>
            <a:off x="510450" y="4243083"/>
            <a:ext cx="8123100" cy="8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g395d4a1ce48_0_4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g395d4a1ce48_0_461"/>
          <p:cNvCxnSpPr/>
          <p:nvPr/>
        </p:nvCxnSpPr>
        <p:spPr>
          <a:xfrm>
            <a:off x="0" y="3997533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g395d4a1ce48_0_461"/>
          <p:cNvSpPr txBox="1"/>
          <p:nvPr>
            <p:ph type="title"/>
          </p:nvPr>
        </p:nvSpPr>
        <p:spPr>
          <a:xfrm>
            <a:off x="510450" y="2743200"/>
            <a:ext cx="8123100" cy="103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95d4a1ce48_0_4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95d4a1ce48_0_465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95d4a1ce48_0_4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395d4a1ce48_0_46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g395d4a1ce48_0_4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5d4a1ce48_0_47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g395d4a1ce48_0_470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g395d4a1ce48_0_470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95d4a1ce48_0_4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5d4a1ce48_0_47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g395d4a1ce48_0_47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5d4a1ce48_0_47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g395d4a1ce48_0_478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g395d4a1ce48_0_47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5d4a1ce48_0_482"/>
          <p:cNvSpPr txBox="1"/>
          <p:nvPr>
            <p:ph type="title"/>
          </p:nvPr>
        </p:nvSpPr>
        <p:spPr>
          <a:xfrm>
            <a:off x="490250" y="701800"/>
            <a:ext cx="57975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g395d4a1ce48_0_48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95d4a1ce48_0_485"/>
          <p:cNvSpPr/>
          <p:nvPr/>
        </p:nvSpPr>
        <p:spPr>
          <a:xfrm>
            <a:off x="4572000" y="10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g395d4a1ce48_0_485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g395d4a1ce48_0_485"/>
          <p:cNvSpPr txBox="1"/>
          <p:nvPr>
            <p:ph type="title"/>
          </p:nvPr>
        </p:nvSpPr>
        <p:spPr>
          <a:xfrm>
            <a:off x="265500" y="1607767"/>
            <a:ext cx="4045200" cy="201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95d4a1ce48_0_485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95d4a1ce48_0_485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g395d4a1ce48_0_48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95d4a1ce48_0_492"/>
          <p:cNvSpPr txBox="1"/>
          <p:nvPr>
            <p:ph idx="1" type="body"/>
          </p:nvPr>
        </p:nvSpPr>
        <p:spPr>
          <a:xfrm>
            <a:off x="311700" y="5649100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g395d4a1ce48_0_49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95d4a1ce48_0_495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95d4a1ce48_0_495"/>
          <p:cNvSpPr txBox="1"/>
          <p:nvPr>
            <p:ph hasCustomPrompt="1" type="title"/>
          </p:nvPr>
        </p:nvSpPr>
        <p:spPr>
          <a:xfrm>
            <a:off x="311700" y="1321967"/>
            <a:ext cx="8520600" cy="25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g395d4a1ce48_0_495"/>
          <p:cNvSpPr txBox="1"/>
          <p:nvPr>
            <p:ph idx="1" type="body"/>
          </p:nvPr>
        </p:nvSpPr>
        <p:spPr>
          <a:xfrm>
            <a:off x="311700" y="4095067"/>
            <a:ext cx="85206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395d4a1ce48_0_49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5d4a1ce48_0_5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5d4a1ce48_0_4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g395d4a1ce48_0_45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g395d4a1ce48_0_4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title"/>
          </p:nvPr>
        </p:nvSpPr>
        <p:spPr>
          <a:xfrm>
            <a:off x="311700" y="3469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Topic &amp; Brief Introduction</a:t>
            </a:r>
            <a:endParaRPr sz="4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354900" y="2412095"/>
            <a:ext cx="8229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Brief Introduction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Explores training DRL agents to output trade positions directly, bypassing traditional explicit forecasting steps.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Agent learns to maximize a reward function based on expected cumulative trade returns.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Dynamically incorporates transaction costs into the optimization process.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Paper: Zhang, Zohren, Roberts (Oxford-Man Institute, 2019) | arXiv:1911.10107</a:t>
            </a:r>
            <a:endParaRPr sz="1800"/>
          </a:p>
        </p:txBody>
      </p:sp>
      <p:sp>
        <p:nvSpPr>
          <p:cNvPr id="61" name="Google Shape;61;p1"/>
          <p:cNvSpPr txBox="1"/>
          <p:nvPr/>
        </p:nvSpPr>
        <p:spPr>
          <a:xfrm>
            <a:off x="354900" y="1275200"/>
            <a:ext cx="814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Topic: </a:t>
            </a:r>
            <a:endParaRPr b="1" sz="180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Reinforcement Learning (DRL) for optimal trading strategy development.</a:t>
            </a:r>
            <a:r>
              <a:rPr b="1" lang="en-US" sz="18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457200" y="15105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3D85C6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Overview of Literature and Methods</a:t>
            </a:r>
            <a:endParaRPr sz="2400">
              <a:solidFill>
                <a:srgbClr val="3D85C6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29975" y="699626"/>
            <a:ext cx="4114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Traditional Methods</a:t>
            </a:r>
            <a:endParaRPr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301375" y="1176650"/>
            <a:ext cx="4343400" cy="21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Fundamental &amp; Technical Analysis: Often lack precise timing for entering and exiting trades, leading to potential drawdowns.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Time-Series Momentum: Highly effective in trending markets, but severely vulnerable to sideways or mean-reverting markets (like FX).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Classical RL (Q-Learning): Frequently relies on discrete action spaces (fully long/short), which is highly risky during volatile periods.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775200" y="818125"/>
            <a:ext cx="40893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Proposed RL Methods</a:t>
            </a:r>
            <a:endParaRPr sz="12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775200" y="1247324"/>
            <a:ext cx="38862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Deep Q-Networks (DQN):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Evaluates the value of discrete actions in a given state.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Policy Gradients (PG):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Optimizes the policy directly, useful for continuous action spaces.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Advantage Actor-Critic (A2C):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Updates policies in real-time by combining an 'actor' network with a 'critic' network.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2" title="Screenshot 2026-03-06 at 2.41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75" y="3365150"/>
            <a:ext cx="6460675" cy="33998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5623150" y="5114150"/>
            <a:ext cx="27351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Figure 1: Cumulative trade returns for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First row: commodity, equity index and fixed income;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Second row: FX and the portfolio of using all contracts.</a:t>
            </a:r>
            <a:endParaRPr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311700" y="22599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2A75B8"/>
                </a:solidFill>
                <a:latin typeface="Calibri"/>
                <a:ea typeface="Calibri"/>
                <a:cs typeface="Calibri"/>
                <a:sym typeface="Calibri"/>
              </a:rPr>
              <a:t>Strategy Overview</a:t>
            </a:r>
            <a:endParaRPr sz="2400">
              <a:solidFill>
                <a:srgbClr val="2A75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861251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1. Data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1228225"/>
            <a:ext cx="2560200" cy="14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/>
              <a:buNone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50 most liquid futures contracts (2011-2019).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Commodities (25)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Equity Indices (11)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Fixed Income (5)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Forex (9)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959920" y="861239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2. Methodology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2923950" y="1259250"/>
            <a:ext cx="3058200" cy="15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/>
              <a:buNone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Markov Decision Process (MDP) formulation.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State: 60-day lookback (Price, Returns, MACD, RSI).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Action: Target orders [-1, 1].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Reward: Volatility-scaled additive profits.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982155" y="861251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3. Evaluation Metrics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982150" y="1228225"/>
            <a:ext cx="3058200" cy="14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/>
              <a:buNone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Portfolio-level performance assessment.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Annualised Expected Return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Sharpe &amp; Sortino Ratios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Maximum Drawdown (MDD)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Calmar Ratio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36201" y="2915942"/>
            <a:ext cx="1759500" cy="5988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 State</a:t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Price, Vol, MACD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080075" y="2915950"/>
            <a:ext cx="2319900" cy="5988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DRL Agent</a:t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(Actor-Critic LSTM)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184350" y="2897200"/>
            <a:ext cx="2653800" cy="6363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12700">
            <a:solidFill>
              <a:srgbClr val="1C191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r>
              <a:rPr b="1" lang="en-US">
                <a:solidFill>
                  <a:schemeClr val="lt1"/>
                </a:solidFill>
              </a:rPr>
              <a:t> </a:t>
            </a: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Portfolio Weights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3"/>
          <p:cNvCxnSpPr>
            <a:endCxn id="85" idx="1"/>
          </p:cNvCxnSpPr>
          <p:nvPr/>
        </p:nvCxnSpPr>
        <p:spPr>
          <a:xfrm>
            <a:off x="2295575" y="3210250"/>
            <a:ext cx="784500" cy="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88" name="Google Shape;88;p3" title="reward_function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25" y="3813925"/>
            <a:ext cx="4002551" cy="8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 title="Screenshot 2026-03-06 at 3.09.2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00" y="4857300"/>
            <a:ext cx="7587832" cy="1644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3"/>
          <p:cNvCxnSpPr/>
          <p:nvPr/>
        </p:nvCxnSpPr>
        <p:spPr>
          <a:xfrm>
            <a:off x="5399975" y="3212800"/>
            <a:ext cx="784500" cy="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>
            <p:ph type="title"/>
          </p:nvPr>
        </p:nvSpPr>
        <p:spPr>
          <a:xfrm>
            <a:off x="311700" y="-554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Identified Weaknesses &amp; Tentative Timeline</a:t>
            </a:r>
            <a:endParaRPr sz="2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311700" y="608525"/>
            <a:ext cx="4852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Weaknesse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s:</a:t>
            </a:r>
            <a:b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Risk-Neutral Objective Function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Paper maximizes E[Σ Rt] (linear utility, risk-neutral)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Problem: Ignores downside risk → large drawdowns possible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Regime Awareness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Same policy for all market conditions (bull/bear/sideways)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Paper notes: 'Long-only better in trending equity markets'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 Transaction Costs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Constant bp = 0.0020 (20 bps) used throughout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• Real costs vary with volatility and liquidity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The paper treats each of the 50 futures contracts as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independent entities, failing to capture the cross-correlations and strong coupling between different asset classes.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5265975" y="608525"/>
            <a:ext cx="36582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Extensions:</a:t>
            </a:r>
            <a:b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Alpha Decay Analysis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• Replicate on 2019-2024 data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• Test if DRL advantage persists</a:t>
            </a:r>
            <a:b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Risk-Averse Objective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• Change: max E[ΣRt] → max Sharpe Ratio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• Expected: Lower MDD, higher Sortino</a:t>
            </a:r>
            <a:b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Regime-Aware Policy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• Detect regime (VIX/HMM)</a:t>
            </a:r>
            <a:b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• Train separate policies per regime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Correlation into the objective function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imeline_v2.png"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050" y="4172674"/>
            <a:ext cx="7315199" cy="2685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