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</p:sldIdLst>
  <p:sldSz cx="9144000" cy="6858000"/>
  <p:notesSz cx="6858000" cy="9144000"/>
  <p:embeddedFontLst>
    <p:embeddedFont>
      <p:font typeface="Proxima Nova" panose="02000506030000020004"/>
      <p:regular r:id="rId11"/>
    </p:embeddedFont>
    <p:embeddedFont>
      <p:font typeface="Calibri" panose="020F0502020204030204"/>
      <p:regular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font" Target="fonts/font2.fntdata"/><Relationship Id="rId11" Type="http://schemas.openxmlformats.org/officeDocument/2006/relationships/font" Target="fonts/font1.fntdata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7" name="Google Shape;57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Google Shape;64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5" name="Google Shape;75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" name="Google Shape;93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bg>
      <p:bgPr>
        <a:solidFill>
          <a:schemeClr val="dk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g395d4a1ce48_0_456"/>
          <p:cNvCxnSpPr/>
          <p:nvPr/>
        </p:nvCxnSpPr>
        <p:spPr>
          <a:xfrm>
            <a:off x="0" y="3997533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g395d4a1ce48_0_456"/>
          <p:cNvSpPr txBox="1"/>
          <p:nvPr>
            <p:ph type="ctrTitle"/>
          </p:nvPr>
        </p:nvSpPr>
        <p:spPr>
          <a:xfrm>
            <a:off x="510450" y="1676400"/>
            <a:ext cx="8123100" cy="211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g395d4a1ce48_0_456"/>
          <p:cNvSpPr txBox="1"/>
          <p:nvPr>
            <p:ph type="subTitle" idx="1"/>
          </p:nvPr>
        </p:nvSpPr>
        <p:spPr>
          <a:xfrm>
            <a:off x="510450" y="4243083"/>
            <a:ext cx="8123100" cy="8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g395d4a1ce48_0_456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bg>
      <p:bgPr>
        <a:solidFill>
          <a:schemeClr val="dk1"/>
        </a:solidFill>
        <a:effectLst/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g395d4a1ce48_0_461"/>
          <p:cNvCxnSpPr/>
          <p:nvPr/>
        </p:nvCxnSpPr>
        <p:spPr>
          <a:xfrm>
            <a:off x="0" y="3997533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g395d4a1ce48_0_461"/>
          <p:cNvSpPr txBox="1"/>
          <p:nvPr>
            <p:ph type="title"/>
          </p:nvPr>
        </p:nvSpPr>
        <p:spPr>
          <a:xfrm>
            <a:off x="510450" y="2743200"/>
            <a:ext cx="8123100" cy="103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g395d4a1ce48_0_461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g395d4a1ce48_0_465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" name="Google Shape;20;g395d4a1ce48_0_46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g395d4a1ce48_0_465"/>
          <p:cNvSpPr txBox="1"/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g395d4a1ce48_0_465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395d4a1ce48_0_47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g395d4a1ce48_0_470"/>
          <p:cNvSpPr txBox="1"/>
          <p:nvPr>
            <p:ph type="body" idx="1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g395d4a1ce48_0_470"/>
          <p:cNvSpPr txBox="1"/>
          <p:nvPr>
            <p:ph type="body" idx="2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g395d4a1ce48_0_470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95d4a1ce48_0_47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g395d4a1ce48_0_475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95d4a1ce48_0_478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g395d4a1ce48_0_478"/>
          <p:cNvSpPr txBox="1"/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g395d4a1ce48_0_478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95d4a1ce48_0_482"/>
          <p:cNvSpPr txBox="1"/>
          <p:nvPr>
            <p:ph type="title"/>
          </p:nvPr>
        </p:nvSpPr>
        <p:spPr>
          <a:xfrm>
            <a:off x="490250" y="701800"/>
            <a:ext cx="57975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g395d4a1ce48_0_482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95d4a1ce48_0_485"/>
          <p:cNvSpPr/>
          <p:nvPr/>
        </p:nvSpPr>
        <p:spPr>
          <a:xfrm>
            <a:off x="4572000" y="100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cxnSp>
        <p:nvCxnSpPr>
          <p:cNvPr id="40" name="Google Shape;40;g395d4a1ce48_0_485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g395d4a1ce48_0_485"/>
          <p:cNvSpPr txBox="1"/>
          <p:nvPr>
            <p:ph type="title"/>
          </p:nvPr>
        </p:nvSpPr>
        <p:spPr>
          <a:xfrm>
            <a:off x="265500" y="1607767"/>
            <a:ext cx="4045200" cy="201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g395d4a1ce48_0_485"/>
          <p:cNvSpPr txBox="1"/>
          <p:nvPr>
            <p:ph type="subTitle" idx="1"/>
          </p:nvPr>
        </p:nvSpPr>
        <p:spPr>
          <a:xfrm>
            <a:off x="265500" y="3692001"/>
            <a:ext cx="4045200" cy="179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g395d4a1ce48_0_485"/>
          <p:cNvSpPr txBox="1"/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g395d4a1ce48_0_485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95d4a1ce48_0_492"/>
          <p:cNvSpPr txBox="1"/>
          <p:nvPr>
            <p:ph type="body" idx="1"/>
          </p:nvPr>
        </p:nvSpPr>
        <p:spPr>
          <a:xfrm>
            <a:off x="311700" y="5649100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47" name="Google Shape;47;g395d4a1ce48_0_492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95d4a1ce48_0_495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" name="Google Shape;50;g395d4a1ce48_0_495"/>
          <p:cNvSpPr txBox="1"/>
          <p:nvPr>
            <p:ph type="title" hasCustomPrompt="1"/>
          </p:nvPr>
        </p:nvSpPr>
        <p:spPr>
          <a:xfrm>
            <a:off x="311700" y="1321967"/>
            <a:ext cx="8520600" cy="255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g395d4a1ce48_0_495"/>
          <p:cNvSpPr txBox="1"/>
          <p:nvPr>
            <p:ph type="body" idx="1"/>
          </p:nvPr>
        </p:nvSpPr>
        <p:spPr>
          <a:xfrm>
            <a:off x="311700" y="4095067"/>
            <a:ext cx="8520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g395d4a1ce48_0_495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95d4a1ce48_0_500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95d4a1ce48_0_45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 panose="02000506030000020004"/>
              <a:buNone/>
              <a:defRPr sz="28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9pPr>
          </a:lstStyle>
          <a:p/>
        </p:txBody>
      </p:sp>
      <p:sp>
        <p:nvSpPr>
          <p:cNvPr id="7" name="Google Shape;7;g395d4a1ce48_0_452"/>
          <p:cNvSpPr txBox="1"/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 panose="02000506030000020004"/>
              <a:buChar char="●"/>
              <a:defRPr sz="1800"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 panose="02000506030000020004"/>
              <a:buChar char="○"/>
              <a:defRPr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 panose="02000506030000020004"/>
              <a:buChar char="■"/>
              <a:defRPr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 panose="02000506030000020004"/>
              <a:buChar char="●"/>
              <a:defRPr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 panose="02000506030000020004"/>
              <a:buChar char="○"/>
              <a:defRPr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 panose="02000506030000020004"/>
              <a:buChar char="■"/>
              <a:defRPr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 panose="02000506030000020004"/>
              <a:buChar char="●"/>
              <a:defRPr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 panose="02000506030000020004"/>
              <a:buChar char="○"/>
              <a:defRPr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 panose="02000506030000020004"/>
              <a:buChar char="■"/>
              <a:defRPr>
                <a:solidFill>
                  <a:schemeClr val="accent3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9pPr>
          </a:lstStyle>
          <a:p/>
        </p:txBody>
      </p:sp>
      <p:sp>
        <p:nvSpPr>
          <p:cNvPr id="8" name="Google Shape;8;g395d4a1ce48_0_452"/>
          <p:cNvSpPr txBox="1"/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"/>
          <p:cNvSpPr txBox="1"/>
          <p:nvPr>
            <p:ph type="title"/>
          </p:nvPr>
        </p:nvSpPr>
        <p:spPr>
          <a:xfrm>
            <a:off x="311700" y="3469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3D85C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Topic &amp; Brief Introduction</a:t>
            </a:r>
            <a:endParaRPr sz="4400">
              <a:solidFill>
                <a:srgbClr val="3D85C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0" name="Google Shape;60;p1"/>
          <p:cNvSpPr txBox="1"/>
          <p:nvPr/>
        </p:nvSpPr>
        <p:spPr>
          <a:xfrm>
            <a:off x="354900" y="2412095"/>
            <a:ext cx="82296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Brief Introduction</a:t>
            </a:r>
            <a:r>
              <a:rPr lang="en-US" sz="1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:</a:t>
            </a:r>
            <a:br>
              <a:rPr lang="en-US" sz="1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Explores training DRL agents to output trade positions directly, bypassing traditional explicit forecasting steps.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Agent learns to maximize a reward function based on expected cumulative trade returns.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Dynamically incorporates transaction costs into the optimization process.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Paper: Zhang, Zohren, Roberts (Oxford-Man Institute, 2019) | arXiv:1911.10107</a:t>
            </a:r>
            <a:endParaRPr sz="1800"/>
          </a:p>
        </p:txBody>
      </p:sp>
      <p:sp>
        <p:nvSpPr>
          <p:cNvPr id="61" name="Google Shape;61;p1"/>
          <p:cNvSpPr txBox="1"/>
          <p:nvPr/>
        </p:nvSpPr>
        <p:spPr>
          <a:xfrm>
            <a:off x="354900" y="1275200"/>
            <a:ext cx="81432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Topic: </a:t>
            </a:r>
            <a:endParaRPr sz="1800" b="1">
              <a:solidFill>
                <a:srgbClr val="1C1917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Deep Reinforcement Learning (DRL) for optimal trading strategy development.</a:t>
            </a:r>
            <a:r>
              <a:rPr lang="en-US" sz="1800" b="1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"/>
          <p:cNvSpPr/>
          <p:nvPr/>
        </p:nvSpPr>
        <p:spPr>
          <a:xfrm>
            <a:off x="457200" y="151050"/>
            <a:ext cx="82296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3D85C6"/>
                </a:solidFill>
                <a:highlight>
                  <a:schemeClr val="lt1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Overview of Literature and Methods</a:t>
            </a:r>
            <a:endParaRPr sz="2400">
              <a:solidFill>
                <a:srgbClr val="3D85C6"/>
              </a:solidFill>
              <a:highlight>
                <a:schemeClr val="lt1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529975" y="699626"/>
            <a:ext cx="41148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800"/>
              <a:buFont typeface="Calibri" panose="020F0502020204030204"/>
              <a:buNone/>
            </a:pPr>
            <a:r>
              <a:rPr lang="en-US" sz="1800" b="1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Traditional Methods</a:t>
            </a:r>
            <a:endParaRPr sz="1200">
              <a:solidFill>
                <a:srgbClr val="7F7F7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301375" y="1176650"/>
            <a:ext cx="4343400" cy="21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 &amp; Technical Analysis: Often lack precise timing for entering and exiting trades, leading to potential drawdowns.</a:t>
            </a:r>
            <a:endParaRPr lang="en-US" sz="14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Time-Series Momentum: Highly effective in trending markets, but severely vulnerable to sideways or mean-reverting markets (like FX).</a:t>
            </a:r>
            <a:endParaRPr lang="en-US" sz="14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Classical RL (Q-Learning): Frequently relies on discrete action spaces (fully long/short), which is highly risky during volatile periods.</a:t>
            </a:r>
            <a:endParaRPr sz="14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775200" y="818125"/>
            <a:ext cx="4089300" cy="4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800"/>
              <a:buFont typeface="Calibri" panose="020F0502020204030204"/>
              <a:buNone/>
            </a:pPr>
            <a:r>
              <a:rPr lang="en-US" sz="1800" b="1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Proposed RL Methods</a:t>
            </a:r>
            <a:endParaRPr sz="1200">
              <a:solidFill>
                <a:srgbClr val="7F7F7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775200" y="1247324"/>
            <a:ext cx="3886200" cy="16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Deep Q-Networks (DQN): </a:t>
            </a:r>
            <a:r>
              <a:rPr lang="en-US" sz="14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Evaluates the value of discrete actions in a given state.</a:t>
            </a:r>
            <a:endParaRPr lang="en-US" sz="14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Policy Gradients (PG): </a:t>
            </a:r>
            <a:r>
              <a:rPr lang="en-US" sz="14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Optimizes the policy directly, useful for continuous action spaces.</a:t>
            </a:r>
            <a:endParaRPr lang="en-US" sz="14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Advantage Actor-Critic (A2C): </a:t>
            </a:r>
            <a:r>
              <a:rPr lang="en-US" sz="140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Updates policies in real-time by combining an 'actor' network with a 'critic' network.</a:t>
            </a:r>
            <a:endParaRPr sz="14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71" name="Google Shape;71;p2" title="Screenshot 2026-03-06 at 2.41.14 PM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83075" y="3365150"/>
            <a:ext cx="6460675" cy="339989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 txBox="1"/>
          <p:nvPr/>
        </p:nvSpPr>
        <p:spPr>
          <a:xfrm>
            <a:off x="5623150" y="5114150"/>
            <a:ext cx="2735100" cy="158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Figure 1: Cumulative trade returns for </a:t>
            </a:r>
            <a:endParaRPr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First row: commodity, equity index and fixed income; </a:t>
            </a:r>
            <a:endParaRPr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row: FX and the portfolio of using all contracts.</a:t>
            </a:r>
            <a:endParaRPr>
              <a:solidFill>
                <a:schemeClr val="accent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"/>
          <p:cNvSpPr txBox="1"/>
          <p:nvPr>
            <p:ph type="title"/>
          </p:nvPr>
        </p:nvSpPr>
        <p:spPr>
          <a:xfrm>
            <a:off x="311700" y="225992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2A75B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Strategy Overview</a:t>
            </a:r>
            <a:endParaRPr sz="2400">
              <a:solidFill>
                <a:srgbClr val="2A75B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457200" y="861251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Data</a:t>
            </a:r>
            <a:endParaRPr sz="16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457200" y="1228225"/>
            <a:ext cx="2560200" cy="14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50 most liquid futures contracts (2011-2019).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Commodities (25)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Equity Indices (11)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Fixed Income (5)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Forex (9)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2959920" y="861239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Methodology</a:t>
            </a:r>
            <a:endParaRPr sz="16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2923950" y="1259250"/>
            <a:ext cx="3058200" cy="15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Markov Decision Process (MDP) formulation.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State: 60-day lookback (Price, Returns, MACD, RSI).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Action: Target orders [-1, 1].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Reward: Volatility-scaled additive profits.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5982155" y="861251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Evaluation Metrics</a:t>
            </a:r>
            <a:endParaRPr sz="16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5982150" y="1228225"/>
            <a:ext cx="3058200" cy="14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Portfolio-level performance assessment.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Annualised Expected Return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Sharpe &amp; Sortino Ratios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Maximum Drawdown (MDD)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Calmar Ratio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536201" y="2915942"/>
            <a:ext cx="1759500" cy="5988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Market State</a:t>
            </a:r>
            <a:endParaRPr b="1">
              <a:solidFill>
                <a:schemeClr val="lt1"/>
              </a:solidFill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Price, Vol, MACD</a:t>
            </a:r>
            <a:endParaRPr sz="16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3080075" y="2915950"/>
            <a:ext cx="2319900" cy="5988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DRL Agent</a:t>
            </a:r>
            <a:endParaRPr b="1">
              <a:solidFill>
                <a:schemeClr val="lt1"/>
              </a:solidFill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(Actor-Critic LSTM)</a:t>
            </a:r>
            <a:endParaRPr sz="16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184350" y="2897200"/>
            <a:ext cx="2653800" cy="6363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rgbClr val="1C191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Action</a:t>
            </a:r>
            <a:r>
              <a:rPr lang="en-US" b="1">
                <a:solidFill>
                  <a:schemeClr val="lt1"/>
                </a:solidFill>
              </a:rPr>
              <a:t> </a:t>
            </a:r>
            <a:r>
              <a:rPr lang="en-US" sz="16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Portfolio Weights</a:t>
            </a:r>
            <a:endParaRPr sz="16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87" name="Google Shape;87;p3"/>
          <p:cNvCxnSpPr>
            <a:endCxn id="85" idx="1"/>
          </p:cNvCxnSpPr>
          <p:nvPr/>
        </p:nvCxnSpPr>
        <p:spPr>
          <a:xfrm>
            <a:off x="2295575" y="3210250"/>
            <a:ext cx="784500" cy="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88" name="Google Shape;88;p3" title="reward_function_v2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6125" y="3813925"/>
            <a:ext cx="4002551" cy="82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3" title="Screenshot 2026-03-06 at 3.09.24 PM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46100" y="4857300"/>
            <a:ext cx="7587832" cy="1644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0" name="Google Shape;90;p3"/>
          <p:cNvCxnSpPr/>
          <p:nvPr/>
        </p:nvCxnSpPr>
        <p:spPr>
          <a:xfrm>
            <a:off x="5399975" y="3212800"/>
            <a:ext cx="784500" cy="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"/>
          <p:cNvSpPr txBox="1"/>
          <p:nvPr>
            <p:ph type="title"/>
          </p:nvPr>
        </p:nvSpPr>
        <p:spPr>
          <a:xfrm>
            <a:off x="311700" y="-55433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3D85C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Identified Weaknesses &amp; Tentative Timeline</a:t>
            </a:r>
            <a:endParaRPr sz="2400">
              <a:solidFill>
                <a:srgbClr val="3D85C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" name="Google Shape;96;p4"/>
          <p:cNvSpPr txBox="1"/>
          <p:nvPr/>
        </p:nvSpPr>
        <p:spPr>
          <a:xfrm>
            <a:off x="311700" y="516450"/>
            <a:ext cx="4852200" cy="3752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Weaknesse</a:t>
            </a:r>
            <a:r>
              <a:rPr lang="en-US" sz="18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s:</a:t>
            </a:r>
            <a:br>
              <a:rPr lang="en-US" sz="1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</a:t>
            </a:r>
            <a:r>
              <a:rPr lang="en-US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Risk-Neutral Objective Function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• Paper maximizes E[Σ Rt] (linear utility, risk-neutral)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• Problem: Ignores downside risk → large drawdowns possible</a:t>
            </a:r>
            <a:br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br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</a:t>
            </a:r>
            <a:r>
              <a:rPr lang="en-US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No Regime Awareness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• Same policy for all market conditions (bull/bear/sideways)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• Paper notes: 'Long-only better in trending equity markets'</a:t>
            </a:r>
            <a:br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br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</a:t>
            </a:r>
            <a:r>
              <a:rPr lang="en-US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Fixed Transaction Costs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• Constant bp = 0.0020 (20 bps) used throughout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• Real costs vary with volatility and liquidity</a:t>
            </a:r>
            <a:endParaRPr lang="en-US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4. </a:t>
            </a:r>
            <a:r>
              <a:rPr lang="en-US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Lack of considering </a:t>
            </a:r>
            <a:r>
              <a:rPr lang="en-US" altLang="en-US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cross-class correlation</a:t>
            </a:r>
            <a:r>
              <a:rPr lang="en-US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lang="en-US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•</a:t>
            </a:r>
            <a:r>
              <a:rPr lang="en-US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paper </a:t>
            </a:r>
            <a:r>
              <a:rPr lang="en-US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grouped contracts according to asset classes then trained a model for each asset class, failing to capture strong coupling between different asset classes.</a:t>
            </a: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" name="Google Shape;97;p4"/>
          <p:cNvSpPr txBox="1"/>
          <p:nvPr/>
        </p:nvSpPr>
        <p:spPr>
          <a:xfrm>
            <a:off x="5265975" y="608525"/>
            <a:ext cx="3658200" cy="3290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Proposed Extensions:</a:t>
            </a:r>
            <a:br>
              <a:rPr lang="en-US" sz="1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(A) </a:t>
            </a:r>
            <a:r>
              <a:rPr lang="en-US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Alpha Decay Analysis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• Replicate on 2019-2024 data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• Test if DRL advantage persists</a:t>
            </a:r>
            <a:br>
              <a:rPr lang="en-US" sz="1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br>
              <a:rPr lang="en-US" sz="1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(B) </a:t>
            </a:r>
            <a:r>
              <a:rPr lang="en-US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Risk-Averse Objective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• Change: max E[ΣRt] → max Sharpe Ratio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• Expected: Lower MDD, higher Sortino</a:t>
            </a:r>
            <a:br>
              <a:rPr lang="en-US" sz="1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br>
              <a:rPr lang="en-US" sz="1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(C) </a:t>
            </a:r>
            <a:r>
              <a:rPr lang="en-US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Regime-Aware Policy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• Detect regime (VIX/HMM)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• Train separate policies per regime</a:t>
            </a:r>
            <a:endParaRPr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(D) </a:t>
            </a:r>
            <a:r>
              <a:rPr lang="en-US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Add Correlation into the objective function</a:t>
            </a:r>
            <a:endParaRPr lang="en-US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US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311785" y="4509770"/>
            <a:ext cx="4572000" cy="18148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Project Timeline</a:t>
            </a:r>
            <a:endParaRPr lang="en-US" altLang="en-US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US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Data Pipeline &amp; Features 3.16-3.22</a:t>
            </a:r>
            <a:endParaRPr lang="en-US" altLang="en-US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Implement DQN/PG/A2C 3.23-3.29</a:t>
            </a:r>
            <a:endParaRPr lang="en-US" altLang="en-US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Replicate Paper Results 3.30-4.5</a:t>
            </a:r>
            <a:endParaRPr lang="en-US" altLang="en-US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Alpha Decay Test (2019-2024) 4.6-4.12</a:t>
            </a:r>
            <a:endParaRPr lang="en-US" altLang="en-US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Risk – Aversion Extension 4.13-4.19</a:t>
            </a:r>
            <a:endParaRPr lang="en-US" altLang="en-US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Dashboard &amp; Final Deck 4.20-4.26</a:t>
            </a:r>
            <a:endParaRPr lang="en-US" altLang="en-US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3218</Words>
  <Application>WPS Writer</Application>
  <PresentationFormat/>
  <Paragraphs>79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SimSun</vt:lpstr>
      <vt:lpstr>Wingdings</vt:lpstr>
      <vt:lpstr>Arial</vt:lpstr>
      <vt:lpstr>Proxima Nova</vt:lpstr>
      <vt:lpstr>Calibri</vt:lpstr>
      <vt:lpstr>汉仪书宋二KW</vt:lpstr>
      <vt:lpstr>Microsoft YaHei</vt:lpstr>
      <vt:lpstr>汉仪旗黑</vt:lpstr>
      <vt:lpstr>Arial Unicode MS</vt:lpstr>
      <vt:lpstr>DengXian</vt:lpstr>
      <vt:lpstr>汉仪中等线KW</vt:lpstr>
      <vt:lpstr>Spearmint</vt:lpstr>
      <vt:lpstr>Topic &amp; Brief Introduction</vt:lpstr>
      <vt:lpstr>PowerPoint 演示文稿</vt:lpstr>
      <vt:lpstr>Strategy Overview</vt:lpstr>
      <vt:lpstr>Identified Weaknesses &amp; Tentative Timeline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Topic &amp; Brief Introduction</dc:title>
  <dc:creator/>
  <cp:lastModifiedBy>正在努力准备逆袭成为学霸中……</cp:lastModifiedBy>
  <cp:revision>1</cp:revision>
  <dcterms:created xsi:type="dcterms:W3CDTF">2026-03-06T22:48:53Z</dcterms:created>
  <dcterms:modified xsi:type="dcterms:W3CDTF">2026-03-06T22:48:53Z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1033-12.1.24031.24031</vt:lpwstr>
  </property>
  <property fmtid="{D5CDD505-2E9C-101B-9397-08002B2CF9AE}" pid="3" name="ICV">
    <vt:lpwstr>6DC1BA338C9C6137D559AB69939A7EB8_42</vt:lpwstr>
  </property>
</Properties>
</file>