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7199"/>
    <p:restoredTop sz="94610"/>
  </p:normalViewPr>
  <p:slideViewPr>
    <p:cSldViewPr snapToGrid="0" snapToObjects="1">
      <p:cViewPr varScale="1">
        <p:scale>
          <a:sx n="74" d="100"/>
          <a:sy n="74" d="100"/>
        </p:scale>
        <p:origin x="176" y="8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970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9"/>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12D26997-CF39-AD95-82C7-0AC66A40F8CE}"/>
              </a:ext>
            </a:extLst>
          </p:cNvPr>
          <p:cNvSpPr/>
          <p:nvPr/>
        </p:nvSpPr>
        <p:spPr>
          <a:xfrm>
            <a:off x="431800" y="457200"/>
            <a:ext cx="8229600" cy="731520"/>
          </a:xfrm>
          <a:prstGeom prst="rect">
            <a:avLst/>
          </a:prstGeom>
          <a:noFill/>
          <a:ln/>
        </p:spPr>
        <p:txBody>
          <a:bodyPr wrap="square" rtlCol="0" anchor="ctr"/>
          <a:lstStyle/>
          <a:p>
            <a:pPr marL="0" indent="0">
              <a:buNone/>
            </a:pPr>
            <a:r>
              <a:rPr lang="en-US" sz="2400" b="1" dirty="0">
                <a:solidFill>
                  <a:srgbClr val="047857"/>
                </a:solidFill>
              </a:rPr>
              <a:t>Topic &amp; Brief Introduction</a:t>
            </a:r>
            <a:endParaRPr lang="en-US" sz="2400" dirty="0"/>
          </a:p>
        </p:txBody>
      </p:sp>
      <p:sp>
        <p:nvSpPr>
          <p:cNvPr id="6" name="Text 1">
            <a:extLst>
              <a:ext uri="{FF2B5EF4-FFF2-40B4-BE49-F238E27FC236}">
                <a16:creationId xmlns:a16="http://schemas.microsoft.com/office/drawing/2014/main" id="{B3C4F157-7DF9-A1FC-2575-8CAFD24B38FE}"/>
              </a:ext>
            </a:extLst>
          </p:cNvPr>
          <p:cNvSpPr/>
          <p:nvPr/>
        </p:nvSpPr>
        <p:spPr>
          <a:xfrm>
            <a:off x="457200" y="1049020"/>
            <a:ext cx="8547100" cy="457200"/>
          </a:xfrm>
          <a:prstGeom prst="rect">
            <a:avLst/>
          </a:prstGeom>
          <a:noFill/>
          <a:ln/>
        </p:spPr>
        <p:txBody>
          <a:bodyPr wrap="square" rtlCol="0" anchor="ctr"/>
          <a:lstStyle/>
          <a:p>
            <a:r>
              <a:rPr lang="en-US" b="1" dirty="0">
                <a:solidFill>
                  <a:srgbClr val="1C1917"/>
                </a:solidFill>
              </a:rPr>
              <a:t>Topic: </a:t>
            </a:r>
            <a:r>
              <a:rPr lang="en" altLang="zh-CN" dirty="0"/>
              <a:t>Deep Reinforcement Learning (DRL) for optimal trading strategy development.</a:t>
            </a:r>
            <a:r>
              <a:rPr lang="en-US" b="1" dirty="0">
                <a:solidFill>
                  <a:srgbClr val="1C1917"/>
                </a:solidFill>
              </a:rPr>
              <a:t> </a:t>
            </a:r>
            <a:endParaRPr lang="en-US" sz="1800" dirty="0"/>
          </a:p>
        </p:txBody>
      </p:sp>
      <p:sp>
        <p:nvSpPr>
          <p:cNvPr id="7" name="Text 1">
            <a:extLst>
              <a:ext uri="{FF2B5EF4-FFF2-40B4-BE49-F238E27FC236}">
                <a16:creationId xmlns:a16="http://schemas.microsoft.com/office/drawing/2014/main" id="{74F1D917-7DE9-5918-B50D-FB01A65E07E8}"/>
              </a:ext>
            </a:extLst>
          </p:cNvPr>
          <p:cNvSpPr/>
          <p:nvPr/>
        </p:nvSpPr>
        <p:spPr>
          <a:xfrm>
            <a:off x="457200" y="1309969"/>
            <a:ext cx="8255000" cy="3376331"/>
          </a:xfrm>
          <a:prstGeom prst="rect">
            <a:avLst/>
          </a:prstGeom>
          <a:noFill/>
          <a:ln/>
        </p:spPr>
        <p:txBody>
          <a:bodyPr wrap="square" rtlCol="0" anchor="ctr"/>
          <a:lstStyle/>
          <a:p>
            <a:pPr marL="0" indent="0">
              <a:buNone/>
            </a:pPr>
            <a:r>
              <a:rPr lang="en-US" b="1" dirty="0">
                <a:solidFill>
                  <a:srgbClr val="1C1917"/>
                </a:solidFill>
              </a:rPr>
              <a:t>Introduction</a:t>
            </a:r>
            <a:r>
              <a:rPr lang="zh-CN" altLang="en-US" b="1" dirty="0">
                <a:solidFill>
                  <a:srgbClr val="1C1917"/>
                </a:solidFill>
              </a:rPr>
              <a:t> </a:t>
            </a:r>
            <a:r>
              <a:rPr lang="en-US" altLang="zh-CN" b="1" dirty="0">
                <a:solidFill>
                  <a:srgbClr val="1C1917"/>
                </a:solidFill>
              </a:rPr>
              <a:t>of the topic</a:t>
            </a:r>
          </a:p>
          <a:p>
            <a:pPr marL="0" indent="0">
              <a:buNone/>
            </a:pPr>
            <a:endParaRPr lang="en-US" sz="1200" b="1" dirty="0">
              <a:solidFill>
                <a:srgbClr val="1C1917"/>
              </a:solidFill>
            </a:endParaRPr>
          </a:p>
          <a:p>
            <a:pPr marL="342900" indent="-342900">
              <a:buFont typeface="+mj-lt"/>
              <a:buAutoNum type="alphaLcPeriod"/>
            </a:pPr>
            <a:r>
              <a:rPr lang="en" altLang="zh-CN" dirty="0"/>
              <a:t>Explores training DRL agents to output trade positions directly, bypassing traditional explicit forecasting steps.</a:t>
            </a:r>
          </a:p>
          <a:p>
            <a:pPr marL="342900" indent="-342900">
              <a:buFont typeface="+mj-lt"/>
              <a:buAutoNum type="alphaLcPeriod"/>
            </a:pPr>
            <a:r>
              <a:rPr lang="en" altLang="zh-CN" dirty="0"/>
              <a:t>Optimizes the reward function by introducing a volatility scaling mechanism and compares the performance of automated trading strategies across 50 futures contracts in various asset classes—such as commodities, equity indices, and FX—using models including DQN, Policy Gradient (PG), and A2C.</a:t>
            </a:r>
          </a:p>
          <a:p>
            <a:pPr marL="342900" indent="-342900">
              <a:buFont typeface="+mj-lt"/>
              <a:buAutoNum type="alphaLcPeriod"/>
            </a:pPr>
            <a:r>
              <a:rPr lang="en" altLang="zh-CN" dirty="0"/>
              <a:t>The system operates dynamically, learning to navigate market frictions by directly incorporating transaction costs into its optimization.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431800" y="457200"/>
            <a:ext cx="8229600" cy="731520"/>
          </a:xfrm>
          <a:prstGeom prst="rect">
            <a:avLst/>
          </a:prstGeom>
          <a:noFill/>
          <a:ln/>
        </p:spPr>
        <p:txBody>
          <a:bodyPr wrap="square" rtlCol="0" anchor="ctr"/>
          <a:lstStyle/>
          <a:p>
            <a:pPr marL="0" indent="0">
              <a:buNone/>
            </a:pPr>
            <a:r>
              <a:rPr lang="en-US" sz="2400" b="1" dirty="0">
                <a:solidFill>
                  <a:srgbClr val="047857"/>
                </a:solidFill>
              </a:rPr>
              <a:t>Overview of Literature and Methods</a:t>
            </a:r>
            <a:endParaRPr lang="en-US" sz="2400" dirty="0"/>
          </a:p>
        </p:txBody>
      </p:sp>
      <p:sp>
        <p:nvSpPr>
          <p:cNvPr id="3" name="Text 1"/>
          <p:cNvSpPr/>
          <p:nvPr/>
        </p:nvSpPr>
        <p:spPr>
          <a:xfrm>
            <a:off x="533400" y="1417151"/>
            <a:ext cx="4114800" cy="731520"/>
          </a:xfrm>
          <a:prstGeom prst="rect">
            <a:avLst/>
          </a:prstGeom>
          <a:noFill/>
          <a:ln/>
        </p:spPr>
        <p:txBody>
          <a:bodyPr wrap="square" rtlCol="0" anchor="ctr"/>
          <a:lstStyle/>
          <a:p>
            <a:pPr marL="0" indent="0">
              <a:buNone/>
            </a:pPr>
            <a:r>
              <a:rPr lang="en-US" sz="1800" b="1" dirty="0">
                <a:solidFill>
                  <a:srgbClr val="1C1917"/>
                </a:solidFill>
              </a:rPr>
              <a:t>Traditional </a:t>
            </a:r>
            <a:r>
              <a:rPr lang="en-US" b="1" dirty="0">
                <a:solidFill>
                  <a:srgbClr val="1C1917"/>
                </a:solidFill>
              </a:rPr>
              <a:t>Methods</a:t>
            </a:r>
          </a:p>
          <a:p>
            <a:r>
              <a:rPr lang="en" altLang="zh-CN" sz="1200" dirty="0">
                <a:solidFill>
                  <a:schemeClr val="tx1">
                    <a:lumMod val="50000"/>
                    <a:lumOff val="50000"/>
                  </a:schemeClr>
                </a:solidFill>
              </a:rPr>
              <a:t>This perspective focuses on why traditional methods are insufficient and the specific difficulties of financial data.</a:t>
            </a:r>
            <a:endParaRPr lang="en-US" sz="1200" dirty="0">
              <a:solidFill>
                <a:schemeClr val="tx1">
                  <a:lumMod val="50000"/>
                  <a:lumOff val="50000"/>
                </a:schemeClr>
              </a:solidFill>
            </a:endParaRPr>
          </a:p>
        </p:txBody>
      </p:sp>
      <p:sp>
        <p:nvSpPr>
          <p:cNvPr id="4" name="Text 2"/>
          <p:cNvSpPr/>
          <p:nvPr/>
        </p:nvSpPr>
        <p:spPr>
          <a:xfrm>
            <a:off x="381000" y="1984248"/>
            <a:ext cx="4343400" cy="2615184"/>
          </a:xfrm>
          <a:prstGeom prst="rect">
            <a:avLst/>
          </a:prstGeom>
          <a:noFill/>
          <a:ln/>
        </p:spPr>
        <p:txBody>
          <a:bodyPr wrap="square" rtlCol="0" anchor="ctr"/>
          <a:lstStyle/>
          <a:p>
            <a:pPr marL="285750" indent="-285750">
              <a:buSzPct val="100000"/>
              <a:buFont typeface="Arial" panose="020B0604020202020204" pitchFamily="34" charset="0"/>
              <a:buChar char="•"/>
            </a:pPr>
            <a:r>
              <a:rPr lang="en" altLang="zh-CN" sz="1400" dirty="0"/>
              <a:t>Fundamental &amp; Technical Analysis: Often lack precise timing for entering and exiting trades, leading to potential drawdowns.</a:t>
            </a:r>
          </a:p>
          <a:p>
            <a:pPr marL="285750" indent="-285750">
              <a:buSzPct val="100000"/>
              <a:buFont typeface="Arial" panose="020B0604020202020204" pitchFamily="34" charset="0"/>
              <a:buChar char="•"/>
            </a:pPr>
            <a:r>
              <a:rPr lang="en" altLang="zh-CN" sz="1400" dirty="0"/>
              <a:t>Time-Series Momentum: Highly effective in trending markets, but severely vulnerable to sideways or mean-reverting markets (like FX).</a:t>
            </a:r>
          </a:p>
          <a:p>
            <a:pPr marL="285750" indent="-285750">
              <a:buSzPct val="100000"/>
              <a:buFont typeface="Arial" panose="020B0604020202020204" pitchFamily="34" charset="0"/>
              <a:buChar char="•"/>
            </a:pPr>
            <a:r>
              <a:rPr lang="en" altLang="zh-CN" sz="1400" dirty="0"/>
              <a:t>Classical RL (Q-Learning): Frequently relies on discrete action spaces (fully long/short), which is highly risky during volatile periods.</a:t>
            </a:r>
            <a:endParaRPr lang="en-US" sz="1400" dirty="0"/>
          </a:p>
        </p:txBody>
      </p:sp>
      <p:sp>
        <p:nvSpPr>
          <p:cNvPr id="5" name="Text 3"/>
          <p:cNvSpPr/>
          <p:nvPr/>
        </p:nvSpPr>
        <p:spPr>
          <a:xfrm>
            <a:off x="4800600" y="1454800"/>
            <a:ext cx="4089400" cy="731520"/>
          </a:xfrm>
          <a:prstGeom prst="rect">
            <a:avLst/>
          </a:prstGeom>
          <a:noFill/>
          <a:ln/>
        </p:spPr>
        <p:txBody>
          <a:bodyPr wrap="square" rtlCol="0" anchor="ctr"/>
          <a:lstStyle/>
          <a:p>
            <a:pPr marL="0" indent="0">
              <a:buNone/>
            </a:pPr>
            <a:r>
              <a:rPr lang="en-US" sz="1800" b="1" dirty="0">
                <a:solidFill>
                  <a:srgbClr val="1C1917"/>
                </a:solidFill>
              </a:rPr>
              <a:t>Proposed RL Methods</a:t>
            </a:r>
          </a:p>
          <a:p>
            <a:r>
              <a:rPr lang="en" altLang="zh-CN" sz="1200" dirty="0">
                <a:solidFill>
                  <a:schemeClr val="tx1">
                    <a:lumMod val="50000"/>
                    <a:lumOff val="50000"/>
                  </a:schemeClr>
                </a:solidFill>
              </a:rPr>
              <a:t>This perspective tracks the shift from "forecasting prices" to "making direct decisions."</a:t>
            </a:r>
            <a:endParaRPr lang="en-US" sz="1200" dirty="0">
              <a:solidFill>
                <a:schemeClr val="tx1">
                  <a:lumMod val="50000"/>
                  <a:lumOff val="50000"/>
                </a:schemeClr>
              </a:solidFill>
            </a:endParaRPr>
          </a:p>
        </p:txBody>
      </p:sp>
      <p:sp>
        <p:nvSpPr>
          <p:cNvPr id="6" name="Text 4"/>
          <p:cNvSpPr/>
          <p:nvPr/>
        </p:nvSpPr>
        <p:spPr>
          <a:xfrm>
            <a:off x="4724400" y="2167467"/>
            <a:ext cx="3886200" cy="1828800"/>
          </a:xfrm>
          <a:prstGeom prst="rect">
            <a:avLst/>
          </a:prstGeom>
          <a:noFill/>
          <a:ln/>
        </p:spPr>
        <p:txBody>
          <a:bodyPr wrap="square" rtlCol="0" anchor="ctr"/>
          <a:lstStyle/>
          <a:p>
            <a:pPr marL="285750" indent="-285750">
              <a:buSzPct val="100000"/>
              <a:buFont typeface="Arial" panose="020B0604020202020204" pitchFamily="34" charset="0"/>
              <a:buChar char="•"/>
            </a:pPr>
            <a:r>
              <a:rPr lang="en-US" sz="1400" dirty="0">
                <a:solidFill>
                  <a:srgbClr val="1C1917"/>
                </a:solidFill>
              </a:rPr>
              <a:t>Deep Q-Networks (DQN): </a:t>
            </a:r>
            <a:r>
              <a:rPr lang="en" altLang="zh-CN" sz="1400" dirty="0"/>
              <a:t>Evaluates the value of discrete actions in a given state.</a:t>
            </a:r>
          </a:p>
          <a:p>
            <a:pPr marL="285750" indent="-285750">
              <a:buSzPct val="100000"/>
              <a:buFont typeface="Arial" panose="020B0604020202020204" pitchFamily="34" charset="0"/>
              <a:buChar char="•"/>
            </a:pPr>
            <a:r>
              <a:rPr lang="en-US" sz="1400" dirty="0">
                <a:solidFill>
                  <a:srgbClr val="1C1917"/>
                </a:solidFill>
              </a:rPr>
              <a:t>Policy Gradients (PG): </a:t>
            </a:r>
            <a:r>
              <a:rPr lang="en" altLang="zh-CN" sz="1400" dirty="0"/>
              <a:t>Optimizes the policy directly, useful for continuous action spaces.</a:t>
            </a:r>
          </a:p>
          <a:p>
            <a:pPr marL="285750" indent="-285750">
              <a:buSzPct val="100000"/>
              <a:buFont typeface="Arial" panose="020B0604020202020204" pitchFamily="34" charset="0"/>
              <a:buChar char="•"/>
            </a:pPr>
            <a:r>
              <a:rPr lang="en-US" sz="1400" dirty="0">
                <a:solidFill>
                  <a:srgbClr val="1C1917"/>
                </a:solidFill>
              </a:rPr>
              <a:t>Advantage Actor-Critic (A2C): </a:t>
            </a:r>
            <a:r>
              <a:rPr lang="en" altLang="zh-CN" sz="1400" dirty="0"/>
              <a:t>Updates policies in real-time by combining an 'actor' network with a 'critic' network.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431800" y="457200"/>
            <a:ext cx="8229600" cy="731520"/>
          </a:xfrm>
          <a:prstGeom prst="rect">
            <a:avLst/>
          </a:prstGeom>
          <a:noFill/>
          <a:ln/>
        </p:spPr>
        <p:txBody>
          <a:bodyPr wrap="square" rtlCol="0" anchor="ctr"/>
          <a:lstStyle/>
          <a:p>
            <a:pPr marL="0" indent="0">
              <a:buNone/>
            </a:pPr>
            <a:r>
              <a:rPr lang="en-US" sz="2400" b="1" dirty="0">
                <a:solidFill>
                  <a:srgbClr val="047857"/>
                </a:solidFill>
              </a:rPr>
              <a:t>Strategy Overview</a:t>
            </a:r>
            <a:endParaRPr lang="en-US" sz="2400" dirty="0"/>
          </a:p>
        </p:txBody>
      </p:sp>
      <p:sp>
        <p:nvSpPr>
          <p:cNvPr id="3" name="Text 1"/>
          <p:cNvSpPr/>
          <p:nvPr/>
        </p:nvSpPr>
        <p:spPr>
          <a:xfrm>
            <a:off x="457200" y="1034426"/>
            <a:ext cx="2560320" cy="457200"/>
          </a:xfrm>
          <a:prstGeom prst="rect">
            <a:avLst/>
          </a:prstGeom>
          <a:noFill/>
          <a:ln/>
        </p:spPr>
        <p:txBody>
          <a:bodyPr wrap="square" rtlCol="0" anchor="ctr"/>
          <a:lstStyle/>
          <a:p>
            <a:pPr marL="0" indent="0">
              <a:buNone/>
            </a:pPr>
            <a:r>
              <a:rPr lang="en-US" sz="1600" b="1" dirty="0">
                <a:solidFill>
                  <a:srgbClr val="1C1917"/>
                </a:solidFill>
              </a:rPr>
              <a:t>1. Data</a:t>
            </a:r>
            <a:endParaRPr lang="en-US" sz="1600" dirty="0"/>
          </a:p>
        </p:txBody>
      </p:sp>
      <p:sp>
        <p:nvSpPr>
          <p:cNvPr id="4" name="Text 2"/>
          <p:cNvSpPr/>
          <p:nvPr/>
        </p:nvSpPr>
        <p:spPr>
          <a:xfrm>
            <a:off x="431800" y="1503971"/>
            <a:ext cx="2560320" cy="1828800"/>
          </a:xfrm>
          <a:prstGeom prst="rect">
            <a:avLst/>
          </a:prstGeom>
          <a:noFill/>
          <a:ln/>
        </p:spPr>
        <p:txBody>
          <a:bodyPr wrap="square" rtlCol="0" anchor="ctr"/>
          <a:lstStyle/>
          <a:p>
            <a:pPr marL="0" indent="0">
              <a:buNone/>
            </a:pPr>
            <a:r>
              <a:rPr lang="en-US" sz="1600" dirty="0">
                <a:solidFill>
                  <a:srgbClr val="1C1917"/>
                </a:solidFill>
              </a:rPr>
              <a:t>50 most liquid futures contracts (2011-2019).</a:t>
            </a:r>
            <a:endParaRPr lang="en-US" sz="1600" dirty="0"/>
          </a:p>
          <a:p>
            <a:pPr marL="285750" indent="-285750">
              <a:buFont typeface="Arial" panose="020B0604020202020204" pitchFamily="34" charset="0"/>
              <a:buChar char="•"/>
            </a:pPr>
            <a:r>
              <a:rPr lang="en-US" sz="1600" dirty="0">
                <a:solidFill>
                  <a:srgbClr val="1C1917"/>
                </a:solidFill>
              </a:rPr>
              <a:t>Commodities (25)</a:t>
            </a:r>
            <a:endParaRPr lang="en-US" sz="1600" dirty="0"/>
          </a:p>
          <a:p>
            <a:pPr marL="285750" indent="-285750">
              <a:buFont typeface="Arial" panose="020B0604020202020204" pitchFamily="34" charset="0"/>
              <a:buChar char="•"/>
            </a:pPr>
            <a:r>
              <a:rPr lang="en-US" sz="1600" dirty="0">
                <a:solidFill>
                  <a:srgbClr val="1C1917"/>
                </a:solidFill>
              </a:rPr>
              <a:t>Equity Indices (11)</a:t>
            </a:r>
            <a:endParaRPr lang="en-US" sz="1600" dirty="0"/>
          </a:p>
          <a:p>
            <a:pPr marL="285750" indent="-285750">
              <a:buFont typeface="Arial" panose="020B0604020202020204" pitchFamily="34" charset="0"/>
              <a:buChar char="•"/>
            </a:pPr>
            <a:r>
              <a:rPr lang="en-US" sz="1600" dirty="0">
                <a:solidFill>
                  <a:srgbClr val="1C1917"/>
                </a:solidFill>
              </a:rPr>
              <a:t>Fixed Income (5)</a:t>
            </a:r>
            <a:endParaRPr lang="en-US" sz="1600" dirty="0"/>
          </a:p>
          <a:p>
            <a:pPr marL="285750" indent="-285750">
              <a:buFont typeface="Arial" panose="020B0604020202020204" pitchFamily="34" charset="0"/>
              <a:buChar char="•"/>
            </a:pPr>
            <a:r>
              <a:rPr lang="en-US" sz="1600" dirty="0">
                <a:solidFill>
                  <a:srgbClr val="1C1917"/>
                </a:solidFill>
              </a:rPr>
              <a:t>Forex (9)</a:t>
            </a:r>
            <a:endParaRPr lang="en-US" sz="1600" dirty="0"/>
          </a:p>
        </p:txBody>
      </p:sp>
      <p:sp>
        <p:nvSpPr>
          <p:cNvPr id="5" name="Text 3"/>
          <p:cNvSpPr/>
          <p:nvPr/>
        </p:nvSpPr>
        <p:spPr>
          <a:xfrm>
            <a:off x="3042920" y="1034426"/>
            <a:ext cx="2560320" cy="457200"/>
          </a:xfrm>
          <a:prstGeom prst="rect">
            <a:avLst/>
          </a:prstGeom>
          <a:noFill/>
          <a:ln/>
        </p:spPr>
        <p:txBody>
          <a:bodyPr wrap="square" rtlCol="0" anchor="ctr"/>
          <a:lstStyle/>
          <a:p>
            <a:pPr marL="0" indent="0">
              <a:buNone/>
            </a:pPr>
            <a:r>
              <a:rPr lang="en-US" sz="1600" b="1" dirty="0">
                <a:solidFill>
                  <a:srgbClr val="1C1917"/>
                </a:solidFill>
              </a:rPr>
              <a:t>2. Methodology</a:t>
            </a:r>
            <a:endParaRPr lang="en-US" sz="1600" dirty="0"/>
          </a:p>
        </p:txBody>
      </p:sp>
      <p:sp>
        <p:nvSpPr>
          <p:cNvPr id="6" name="Text 4"/>
          <p:cNvSpPr/>
          <p:nvPr/>
        </p:nvSpPr>
        <p:spPr>
          <a:xfrm>
            <a:off x="3042920" y="1598089"/>
            <a:ext cx="2783840" cy="1828800"/>
          </a:xfrm>
          <a:prstGeom prst="rect">
            <a:avLst/>
          </a:prstGeom>
          <a:noFill/>
          <a:ln/>
        </p:spPr>
        <p:txBody>
          <a:bodyPr wrap="square" rtlCol="0" anchor="ctr"/>
          <a:lstStyle/>
          <a:p>
            <a:pPr marL="0" indent="0">
              <a:buNone/>
            </a:pPr>
            <a:r>
              <a:rPr lang="en-US" sz="1600" dirty="0">
                <a:solidFill>
                  <a:srgbClr val="1C1917"/>
                </a:solidFill>
              </a:rPr>
              <a:t>Markov Decision Process (MDP) formulation.</a:t>
            </a:r>
            <a:endParaRPr lang="en-US" sz="1600" dirty="0"/>
          </a:p>
          <a:p>
            <a:pPr marL="285750" indent="-285750">
              <a:buFont typeface="Arial" panose="020B0604020202020204" pitchFamily="34" charset="0"/>
              <a:buChar char="•"/>
            </a:pPr>
            <a:r>
              <a:rPr lang="en-US" sz="1600" dirty="0">
                <a:solidFill>
                  <a:srgbClr val="1C1917"/>
                </a:solidFill>
              </a:rPr>
              <a:t>State: 60-day lookback (Price, Returns, MACD, RSI).</a:t>
            </a:r>
            <a:endParaRPr lang="en-US" sz="1600" dirty="0"/>
          </a:p>
          <a:p>
            <a:pPr marL="285750" indent="-285750">
              <a:buFont typeface="Arial" panose="020B0604020202020204" pitchFamily="34" charset="0"/>
              <a:buChar char="•"/>
            </a:pPr>
            <a:r>
              <a:rPr lang="en-US" sz="1600" dirty="0">
                <a:solidFill>
                  <a:srgbClr val="1C1917"/>
                </a:solidFill>
              </a:rPr>
              <a:t>Action: Target orders [-1, 1].</a:t>
            </a:r>
            <a:endParaRPr lang="en-US" sz="1600" dirty="0"/>
          </a:p>
          <a:p>
            <a:pPr marL="285750" indent="-285750">
              <a:buFont typeface="Arial" panose="020B0604020202020204" pitchFamily="34" charset="0"/>
              <a:buChar char="•"/>
            </a:pPr>
            <a:r>
              <a:rPr lang="en-US" sz="1600" dirty="0">
                <a:solidFill>
                  <a:srgbClr val="1C1917"/>
                </a:solidFill>
              </a:rPr>
              <a:t>Reward: Volatility-scaled additive profits.</a:t>
            </a:r>
            <a:endParaRPr lang="en-US" sz="1600" dirty="0"/>
          </a:p>
        </p:txBody>
      </p:sp>
      <p:sp>
        <p:nvSpPr>
          <p:cNvPr id="7" name="Text 5"/>
          <p:cNvSpPr/>
          <p:nvPr/>
        </p:nvSpPr>
        <p:spPr>
          <a:xfrm>
            <a:off x="6101080" y="1034426"/>
            <a:ext cx="2560320" cy="457200"/>
          </a:xfrm>
          <a:prstGeom prst="rect">
            <a:avLst/>
          </a:prstGeom>
          <a:noFill/>
          <a:ln/>
        </p:spPr>
        <p:txBody>
          <a:bodyPr wrap="square" rtlCol="0" anchor="ctr"/>
          <a:lstStyle/>
          <a:p>
            <a:pPr marL="0" indent="0">
              <a:buNone/>
            </a:pPr>
            <a:r>
              <a:rPr lang="en-US" sz="1600" b="1" dirty="0">
                <a:solidFill>
                  <a:srgbClr val="1C1917"/>
                </a:solidFill>
              </a:rPr>
              <a:t>3. Evaluation Metrics</a:t>
            </a:r>
            <a:endParaRPr lang="en-US" sz="1600" dirty="0"/>
          </a:p>
        </p:txBody>
      </p:sp>
      <p:sp>
        <p:nvSpPr>
          <p:cNvPr id="8" name="Text 6"/>
          <p:cNvSpPr/>
          <p:nvPr/>
        </p:nvSpPr>
        <p:spPr>
          <a:xfrm>
            <a:off x="6126482" y="1393876"/>
            <a:ext cx="2929838" cy="1958157"/>
          </a:xfrm>
          <a:prstGeom prst="rect">
            <a:avLst/>
          </a:prstGeom>
          <a:noFill/>
          <a:ln/>
        </p:spPr>
        <p:txBody>
          <a:bodyPr wrap="square" rtlCol="0" anchor="ctr"/>
          <a:lstStyle/>
          <a:p>
            <a:pPr marL="0" indent="0">
              <a:buNone/>
            </a:pPr>
            <a:r>
              <a:rPr lang="en-US" sz="1600" dirty="0">
                <a:solidFill>
                  <a:srgbClr val="1C1917"/>
                </a:solidFill>
              </a:rPr>
              <a:t>Portfolio-level performance assessment.</a:t>
            </a:r>
            <a:endParaRPr lang="en-US" sz="1600" dirty="0"/>
          </a:p>
          <a:p>
            <a:pPr marL="285750" indent="-285750">
              <a:buFont typeface="Arial" panose="020B0604020202020204" pitchFamily="34" charset="0"/>
              <a:buChar char="•"/>
            </a:pPr>
            <a:r>
              <a:rPr lang="en-US" sz="1600" dirty="0" err="1">
                <a:solidFill>
                  <a:srgbClr val="1C1917"/>
                </a:solidFill>
              </a:rPr>
              <a:t>Annualised</a:t>
            </a:r>
            <a:r>
              <a:rPr lang="en-US" sz="1600" dirty="0">
                <a:solidFill>
                  <a:srgbClr val="1C1917"/>
                </a:solidFill>
              </a:rPr>
              <a:t> Expected Return</a:t>
            </a:r>
            <a:endParaRPr lang="en-US" sz="1600" dirty="0"/>
          </a:p>
          <a:p>
            <a:pPr marL="285750" indent="-285750">
              <a:buFont typeface="Arial" panose="020B0604020202020204" pitchFamily="34" charset="0"/>
              <a:buChar char="•"/>
            </a:pPr>
            <a:r>
              <a:rPr lang="en-US" sz="1600" dirty="0">
                <a:solidFill>
                  <a:srgbClr val="1C1917"/>
                </a:solidFill>
              </a:rPr>
              <a:t>Sharpe &amp; Sortino Ratios</a:t>
            </a:r>
            <a:endParaRPr lang="en-US" sz="1600" dirty="0"/>
          </a:p>
          <a:p>
            <a:pPr marL="285750" indent="-285750">
              <a:buFont typeface="Arial" panose="020B0604020202020204" pitchFamily="34" charset="0"/>
              <a:buChar char="•"/>
            </a:pPr>
            <a:r>
              <a:rPr lang="en-US" sz="1600" dirty="0">
                <a:solidFill>
                  <a:srgbClr val="1C1917"/>
                </a:solidFill>
              </a:rPr>
              <a:t>Maximum Drawdown (MDD)</a:t>
            </a:r>
            <a:endParaRPr lang="en-US" sz="1600" dirty="0"/>
          </a:p>
          <a:p>
            <a:pPr marL="285750" indent="-285750">
              <a:buFont typeface="Arial" panose="020B0604020202020204" pitchFamily="34" charset="0"/>
              <a:buChar char="•"/>
            </a:pPr>
            <a:r>
              <a:rPr lang="en-US" sz="1600" dirty="0">
                <a:solidFill>
                  <a:srgbClr val="1C1917"/>
                </a:solidFill>
              </a:rPr>
              <a:t>Calmar Ratio</a:t>
            </a:r>
            <a:endParaRPr lang="en-US" sz="1600" dirty="0"/>
          </a:p>
        </p:txBody>
      </p:sp>
      <p:sp>
        <p:nvSpPr>
          <p:cNvPr id="9" name="Text 3">
            <a:extLst>
              <a:ext uri="{FF2B5EF4-FFF2-40B4-BE49-F238E27FC236}">
                <a16:creationId xmlns:a16="http://schemas.microsoft.com/office/drawing/2014/main" id="{55852230-0B13-9F7D-E045-C3F325FB7876}"/>
              </a:ext>
            </a:extLst>
          </p:cNvPr>
          <p:cNvSpPr/>
          <p:nvPr/>
        </p:nvSpPr>
        <p:spPr>
          <a:xfrm>
            <a:off x="2134446" y="4457700"/>
            <a:ext cx="4570307" cy="457200"/>
          </a:xfrm>
          <a:prstGeom prst="rect">
            <a:avLst/>
          </a:prstGeom>
          <a:noFill/>
          <a:ln/>
        </p:spPr>
        <p:txBody>
          <a:bodyPr wrap="square" rtlCol="0" anchor="ctr"/>
          <a:lstStyle/>
          <a:p>
            <a:pPr marL="0" indent="0">
              <a:buNone/>
            </a:pPr>
            <a:r>
              <a:rPr lang="en-US" i="1" dirty="0">
                <a:solidFill>
                  <a:srgbClr val="047857"/>
                </a:solidFill>
              </a:rPr>
              <a:t>Reward = Portfolio P&amp;L – Transaction Costs</a:t>
            </a:r>
          </a:p>
        </p:txBody>
      </p:sp>
      <p:sp>
        <p:nvSpPr>
          <p:cNvPr id="10" name="圆角矩形 9">
            <a:extLst>
              <a:ext uri="{FF2B5EF4-FFF2-40B4-BE49-F238E27FC236}">
                <a16:creationId xmlns:a16="http://schemas.microsoft.com/office/drawing/2014/main" id="{7C815F2C-9B89-2898-1378-9B9FE05E37D4}"/>
              </a:ext>
            </a:extLst>
          </p:cNvPr>
          <p:cNvSpPr/>
          <p:nvPr/>
        </p:nvSpPr>
        <p:spPr>
          <a:xfrm>
            <a:off x="1107826" y="3651505"/>
            <a:ext cx="1759352" cy="5988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600" dirty="0"/>
              <a:t>Market State</a:t>
            </a:r>
          </a:p>
          <a:p>
            <a:pPr algn="ctr"/>
            <a:r>
              <a:rPr kumimoji="1" lang="en-US" altLang="zh-CN" sz="1600" dirty="0"/>
              <a:t>Price, Vol, MACD</a:t>
            </a:r>
            <a:endParaRPr kumimoji="1" lang="zh-CN" altLang="en-US" sz="1600" dirty="0"/>
          </a:p>
        </p:txBody>
      </p:sp>
      <p:sp>
        <p:nvSpPr>
          <p:cNvPr id="11" name="圆角矩形 10">
            <a:extLst>
              <a:ext uri="{FF2B5EF4-FFF2-40B4-BE49-F238E27FC236}">
                <a16:creationId xmlns:a16="http://schemas.microsoft.com/office/drawing/2014/main" id="{1A36A17B-5B49-DB9F-7EB9-5C9688923B8A}"/>
              </a:ext>
            </a:extLst>
          </p:cNvPr>
          <p:cNvSpPr/>
          <p:nvPr/>
        </p:nvSpPr>
        <p:spPr>
          <a:xfrm>
            <a:off x="3377557" y="3653698"/>
            <a:ext cx="1759352" cy="5988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600" dirty="0"/>
              <a:t>DRL Agent</a:t>
            </a:r>
          </a:p>
          <a:p>
            <a:pPr algn="ctr"/>
            <a:r>
              <a:rPr kumimoji="1" lang="en-US" altLang="zh-CN" sz="1600" dirty="0"/>
              <a:t>(Actor-Critic LSTM)</a:t>
            </a:r>
            <a:endParaRPr kumimoji="1" lang="zh-CN" altLang="en-US" sz="1600" dirty="0"/>
          </a:p>
        </p:txBody>
      </p:sp>
      <p:sp>
        <p:nvSpPr>
          <p:cNvPr id="12" name="圆角矩形 11">
            <a:extLst>
              <a:ext uri="{FF2B5EF4-FFF2-40B4-BE49-F238E27FC236}">
                <a16:creationId xmlns:a16="http://schemas.microsoft.com/office/drawing/2014/main" id="{E79F593C-9FE7-01C9-A210-17F623725E53}"/>
              </a:ext>
            </a:extLst>
          </p:cNvPr>
          <p:cNvSpPr/>
          <p:nvPr/>
        </p:nvSpPr>
        <p:spPr>
          <a:xfrm>
            <a:off x="5647288" y="3651456"/>
            <a:ext cx="1759352" cy="5988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sz="1600" dirty="0"/>
              <a:t>Action</a:t>
            </a:r>
          </a:p>
          <a:p>
            <a:pPr algn="ctr"/>
            <a:r>
              <a:rPr kumimoji="1" lang="en-US" altLang="zh-CN" sz="1600" dirty="0"/>
              <a:t>Portfolio Weights</a:t>
            </a:r>
            <a:endParaRPr kumimoji="1" lang="zh-CN" altLang="en-US" sz="1600" dirty="0"/>
          </a:p>
        </p:txBody>
      </p:sp>
      <p:cxnSp>
        <p:nvCxnSpPr>
          <p:cNvPr id="14" name="直线箭头连接符 13">
            <a:extLst>
              <a:ext uri="{FF2B5EF4-FFF2-40B4-BE49-F238E27FC236}">
                <a16:creationId xmlns:a16="http://schemas.microsoft.com/office/drawing/2014/main" id="{EFB365C9-0E5F-CC29-43E6-2A7DF2FF3FE2}"/>
              </a:ext>
            </a:extLst>
          </p:cNvPr>
          <p:cNvCxnSpPr>
            <a:stCxn id="10" idx="3"/>
            <a:endCxn id="11" idx="1"/>
          </p:cNvCxnSpPr>
          <p:nvPr/>
        </p:nvCxnSpPr>
        <p:spPr>
          <a:xfrm>
            <a:off x="2867178" y="3950928"/>
            <a:ext cx="510379" cy="2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B21463D4-608E-86FB-A959-F08667D8E08E}"/>
              </a:ext>
            </a:extLst>
          </p:cNvPr>
          <p:cNvCxnSpPr/>
          <p:nvPr/>
        </p:nvCxnSpPr>
        <p:spPr>
          <a:xfrm>
            <a:off x="5136909" y="3948686"/>
            <a:ext cx="510379" cy="2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9"/>
        </a:solidFill>
        <a:effectLst/>
      </p:bgPr>
    </p:bg>
    <p:spTree>
      <p:nvGrpSpPr>
        <p:cNvPr id="1" name=""/>
        <p:cNvGrpSpPr/>
        <p:nvPr/>
      </p:nvGrpSpPr>
      <p:grpSpPr>
        <a:xfrm>
          <a:off x="0" y="0"/>
          <a:ext cx="0" cy="0"/>
          <a:chOff x="0" y="0"/>
          <a:chExt cx="0" cy="0"/>
        </a:xfrm>
      </p:grpSpPr>
      <p:sp>
        <p:nvSpPr>
          <p:cNvPr id="2" name="Text 0"/>
          <p:cNvSpPr/>
          <p:nvPr/>
        </p:nvSpPr>
        <p:spPr>
          <a:xfrm>
            <a:off x="336430" y="0"/>
            <a:ext cx="8229600" cy="731520"/>
          </a:xfrm>
          <a:prstGeom prst="rect">
            <a:avLst/>
          </a:prstGeom>
          <a:noFill/>
          <a:ln/>
        </p:spPr>
        <p:txBody>
          <a:bodyPr wrap="square" rtlCol="0" anchor="ctr"/>
          <a:lstStyle/>
          <a:p>
            <a:pPr marL="0" indent="0">
              <a:buNone/>
            </a:pPr>
            <a:r>
              <a:rPr lang="en-US" sz="2400" b="1" dirty="0">
                <a:solidFill>
                  <a:srgbClr val="047857"/>
                </a:solidFill>
              </a:rPr>
              <a:t>Identified Weaknesses &amp; Tentative Timeline</a:t>
            </a:r>
            <a:endParaRPr lang="en-US" sz="2400" dirty="0"/>
          </a:p>
        </p:txBody>
      </p:sp>
      <p:sp>
        <p:nvSpPr>
          <p:cNvPr id="3" name="Text 1"/>
          <p:cNvSpPr/>
          <p:nvPr/>
        </p:nvSpPr>
        <p:spPr>
          <a:xfrm>
            <a:off x="336430" y="731520"/>
            <a:ext cx="3886200" cy="457200"/>
          </a:xfrm>
          <a:prstGeom prst="rect">
            <a:avLst/>
          </a:prstGeom>
          <a:noFill/>
          <a:ln/>
        </p:spPr>
        <p:txBody>
          <a:bodyPr wrap="square" rtlCol="0" anchor="ctr"/>
          <a:lstStyle/>
          <a:p>
            <a:pPr marL="0" indent="0">
              <a:buNone/>
            </a:pPr>
            <a:r>
              <a:rPr lang="en-US" sz="1800" b="1" dirty="0"/>
              <a:t>Identified Weaknesses</a:t>
            </a:r>
            <a:endParaRPr lang="en-US" sz="1800" dirty="0"/>
          </a:p>
        </p:txBody>
      </p:sp>
      <p:sp>
        <p:nvSpPr>
          <p:cNvPr id="4" name="Text 2"/>
          <p:cNvSpPr/>
          <p:nvPr/>
        </p:nvSpPr>
        <p:spPr>
          <a:xfrm>
            <a:off x="194762" y="1413886"/>
            <a:ext cx="3644325" cy="3071005"/>
          </a:xfrm>
          <a:prstGeom prst="rect">
            <a:avLst/>
          </a:prstGeom>
          <a:noFill/>
          <a:ln/>
        </p:spPr>
        <p:txBody>
          <a:bodyPr wrap="square" rtlCol="0" anchor="ctr"/>
          <a:lstStyle/>
          <a:p>
            <a:pPr marL="285750" indent="-285750">
              <a:buSzPct val="100000"/>
              <a:buFont typeface="Arial" panose="020B0604020202020204" pitchFamily="34" charset="0"/>
              <a:buChar char="•"/>
            </a:pPr>
            <a:r>
              <a:rPr lang="en" altLang="zh-CN" sz="1400" dirty="0"/>
              <a:t>The study relies primarily on price-driven indicators like returns, MACD, and RSI, which may lack predictive power in efficient markets. </a:t>
            </a:r>
            <a:endParaRPr lang="en-US" altLang="zh-CN" sz="1400" dirty="0"/>
          </a:p>
          <a:p>
            <a:pPr marL="285750" indent="-285750">
              <a:buSzPct val="100000"/>
              <a:buFont typeface="Arial" panose="020B0604020202020204" pitchFamily="34" charset="0"/>
              <a:buChar char="•"/>
            </a:pPr>
            <a:r>
              <a:rPr lang="en" altLang="zh-CN" sz="1400" dirty="0"/>
              <a:t>The model treats each of the 50 futures contracts as independent entities, failing to capture the cross-correlations and strong coupling between different asset classes.</a:t>
            </a:r>
          </a:p>
          <a:p>
            <a:pPr marL="285750" indent="-285750">
              <a:buSzPct val="100000"/>
              <a:buFont typeface="Arial" panose="020B0604020202020204" pitchFamily="34" charset="0"/>
              <a:buChar char="•"/>
            </a:pPr>
            <a:r>
              <a:rPr lang="en" altLang="zh-CN" sz="1400" dirty="0"/>
              <a:t>The reward function logic remains fixed throughout the training and back-testing periods, ignoring the fact that market regimes and risk appetites change over time.</a:t>
            </a:r>
          </a:p>
          <a:p>
            <a:pPr marL="285750" indent="-285750">
              <a:buSzPct val="100000"/>
              <a:buFont typeface="Arial" panose="020B0604020202020204" pitchFamily="34" charset="0"/>
              <a:buChar char="•"/>
            </a:pPr>
            <a:r>
              <a:rPr lang="en" altLang="zh-CN" sz="1400" dirty="0"/>
              <a:t>Baseline momentum algorithms suffer from deteriorating predictability and excess turnover during market consolidation.</a:t>
            </a:r>
            <a:endParaRPr lang="en-US" sz="1400" dirty="0"/>
          </a:p>
        </p:txBody>
      </p:sp>
      <p:sp>
        <p:nvSpPr>
          <p:cNvPr id="5" name="Text 3"/>
          <p:cNvSpPr/>
          <p:nvPr/>
        </p:nvSpPr>
        <p:spPr>
          <a:xfrm>
            <a:off x="3959857" y="550010"/>
            <a:ext cx="3886200" cy="457200"/>
          </a:xfrm>
          <a:prstGeom prst="rect">
            <a:avLst/>
          </a:prstGeom>
          <a:noFill/>
          <a:ln/>
        </p:spPr>
        <p:txBody>
          <a:bodyPr wrap="square" rtlCol="0" anchor="ctr"/>
          <a:lstStyle/>
          <a:p>
            <a:pPr marL="0" indent="0">
              <a:buNone/>
            </a:pPr>
            <a:r>
              <a:rPr lang="en-US" sz="1800" b="1" dirty="0"/>
              <a:t>Tentative Timeline</a:t>
            </a:r>
            <a:endParaRPr lang="en-US" sz="1800" dirty="0"/>
          </a:p>
        </p:txBody>
      </p:sp>
      <p:sp>
        <p:nvSpPr>
          <p:cNvPr id="6" name="Text 4"/>
          <p:cNvSpPr/>
          <p:nvPr/>
        </p:nvSpPr>
        <p:spPr>
          <a:xfrm>
            <a:off x="4009874" y="445661"/>
            <a:ext cx="4174021" cy="1828800"/>
          </a:xfrm>
          <a:prstGeom prst="rect">
            <a:avLst/>
          </a:prstGeom>
          <a:noFill/>
          <a:ln/>
        </p:spPr>
        <p:txBody>
          <a:bodyPr wrap="square" rtlCol="0" anchor="ctr"/>
          <a:lstStyle/>
          <a:p>
            <a:pPr marL="342900" indent="-342900">
              <a:buSzPct val="100000"/>
              <a:buChar char="•"/>
            </a:pPr>
            <a:r>
              <a:rPr lang="en-US" sz="1400" dirty="0">
                <a:solidFill>
                  <a:srgbClr val="1C1917"/>
                </a:solidFill>
              </a:rPr>
              <a:t>Months 1-2: Data ingestion &amp; Baseline models.</a:t>
            </a:r>
            <a:endParaRPr lang="en-US" sz="1400" dirty="0"/>
          </a:p>
          <a:p>
            <a:pPr marL="342900" indent="-342900">
              <a:buSzPct val="100000"/>
              <a:buChar char="•"/>
            </a:pPr>
            <a:r>
              <a:rPr lang="en-US" sz="1400" dirty="0">
                <a:solidFill>
                  <a:srgbClr val="1C1917"/>
                </a:solidFill>
              </a:rPr>
              <a:t>Months 3-4: RL Implementation (DQN, PG, A2C).</a:t>
            </a:r>
            <a:endParaRPr lang="en-US" sz="1400" dirty="0"/>
          </a:p>
          <a:p>
            <a:pPr marL="342900" indent="-342900">
              <a:buSzPct val="100000"/>
              <a:buChar char="•"/>
            </a:pPr>
            <a:r>
              <a:rPr lang="en-US" sz="1400" dirty="0">
                <a:solidFill>
                  <a:srgbClr val="1C1917"/>
                </a:solidFill>
              </a:rPr>
              <a:t>Months 5-</a:t>
            </a:r>
            <a:r>
              <a:rPr lang="en-US" altLang="zh-CN" sz="1400" dirty="0">
                <a:solidFill>
                  <a:srgbClr val="1C1917"/>
                </a:solidFill>
              </a:rPr>
              <a:t>7</a:t>
            </a:r>
            <a:r>
              <a:rPr lang="en-US" sz="1400" dirty="0">
                <a:solidFill>
                  <a:srgbClr val="1C1917"/>
                </a:solidFill>
              </a:rPr>
              <a:t>: Back test &amp; Execution &amp; </a:t>
            </a:r>
            <a:r>
              <a:rPr lang="en-US" sz="1400" dirty="0" err="1">
                <a:solidFill>
                  <a:srgbClr val="1C1917"/>
                </a:solidFill>
              </a:rPr>
              <a:t>Extention</a:t>
            </a:r>
            <a:endParaRPr lang="en-US" sz="1400" dirty="0">
              <a:solidFill>
                <a:srgbClr val="1C1917"/>
              </a:solidFill>
            </a:endParaRPr>
          </a:p>
          <a:p>
            <a:pPr marL="342900" indent="-342900">
              <a:buSzPct val="100000"/>
              <a:buChar char="•"/>
            </a:pPr>
            <a:r>
              <a:rPr lang="en-US" sz="1400" dirty="0">
                <a:solidFill>
                  <a:srgbClr val="1C1917"/>
                </a:solidFill>
              </a:rPr>
              <a:t>Months</a:t>
            </a:r>
            <a:r>
              <a:rPr lang="zh-CN" altLang="en-US" sz="1400" dirty="0">
                <a:solidFill>
                  <a:srgbClr val="1C1917"/>
                </a:solidFill>
              </a:rPr>
              <a:t> </a:t>
            </a:r>
            <a:r>
              <a:rPr lang="en-US" altLang="zh-CN" sz="1400" dirty="0">
                <a:solidFill>
                  <a:srgbClr val="1C1917"/>
                </a:solidFill>
              </a:rPr>
              <a:t>7-8:</a:t>
            </a:r>
            <a:r>
              <a:rPr lang="zh-CN" altLang="en-US" sz="1400" dirty="0">
                <a:solidFill>
                  <a:srgbClr val="1C1917"/>
                </a:solidFill>
              </a:rPr>
              <a:t> </a:t>
            </a:r>
            <a:r>
              <a:rPr lang="en-US" altLang="zh-CN" sz="1400" dirty="0">
                <a:solidFill>
                  <a:srgbClr val="1C1917"/>
                </a:solidFill>
              </a:rPr>
              <a:t>Evaluation &amp; Final Deck</a:t>
            </a:r>
            <a:endParaRPr lang="en-US" sz="1400" dirty="0"/>
          </a:p>
        </p:txBody>
      </p:sp>
      <p:sp>
        <p:nvSpPr>
          <p:cNvPr id="8" name="文本框 7">
            <a:extLst>
              <a:ext uri="{FF2B5EF4-FFF2-40B4-BE49-F238E27FC236}">
                <a16:creationId xmlns:a16="http://schemas.microsoft.com/office/drawing/2014/main" id="{81B34C44-E29C-70D8-1A12-C1D8EE190E9E}"/>
              </a:ext>
            </a:extLst>
          </p:cNvPr>
          <p:cNvSpPr txBox="1"/>
          <p:nvPr/>
        </p:nvSpPr>
        <p:spPr>
          <a:xfrm>
            <a:off x="3959857" y="1799960"/>
            <a:ext cx="4572000" cy="369332"/>
          </a:xfrm>
          <a:prstGeom prst="rect">
            <a:avLst/>
          </a:prstGeom>
          <a:noFill/>
        </p:spPr>
        <p:txBody>
          <a:bodyPr wrap="square">
            <a:spAutoFit/>
          </a:bodyPr>
          <a:lstStyle/>
          <a:p>
            <a:r>
              <a:rPr lang="en" altLang="zh-CN" b="1" dirty="0"/>
              <a:t>Planned Extension</a:t>
            </a:r>
            <a:endParaRPr lang="en-US" altLang="zh-CN" sz="1800" b="1" dirty="0"/>
          </a:p>
        </p:txBody>
      </p:sp>
      <p:sp>
        <p:nvSpPr>
          <p:cNvPr id="9" name="Text 4">
            <a:extLst>
              <a:ext uri="{FF2B5EF4-FFF2-40B4-BE49-F238E27FC236}">
                <a16:creationId xmlns:a16="http://schemas.microsoft.com/office/drawing/2014/main" id="{319982FA-EC2A-067D-DCD8-345A140C614A}"/>
              </a:ext>
            </a:extLst>
          </p:cNvPr>
          <p:cNvSpPr/>
          <p:nvPr/>
        </p:nvSpPr>
        <p:spPr>
          <a:xfrm>
            <a:off x="4009874" y="2433455"/>
            <a:ext cx="4975628" cy="2317580"/>
          </a:xfrm>
          <a:prstGeom prst="rect">
            <a:avLst/>
          </a:prstGeom>
          <a:noFill/>
          <a:ln/>
        </p:spPr>
        <p:txBody>
          <a:bodyPr wrap="square" rtlCol="0" anchor="ctr"/>
          <a:lstStyle/>
          <a:p>
            <a:r>
              <a:rPr lang="en" altLang="zh-CN" sz="1300" b="1" dirty="0"/>
              <a:t>From “Independent Assets” to “Portfolio Optimization”:</a:t>
            </a:r>
            <a:br>
              <a:rPr lang="en" altLang="zh-CN" sz="1300" dirty="0"/>
            </a:br>
            <a:r>
              <a:rPr lang="en" altLang="zh-CN" sz="1300" dirty="0"/>
              <a:t>Instead of treating each contract independently, we apply Hierarchical Risk Parity (HRP) or RL-based portfolio optimization for cross-asset hedging. This improves diversification and increases the portfolio Sharpe ratio.</a:t>
            </a:r>
          </a:p>
          <a:p>
            <a:r>
              <a:rPr lang="en" altLang="zh-CN" sz="1300" b="1" dirty="0"/>
              <a:t>Regime-aware Reward Function:</a:t>
            </a:r>
            <a:br>
              <a:rPr lang="en" altLang="zh-CN" sz="1300" dirty="0"/>
            </a:br>
            <a:r>
              <a:rPr lang="en" altLang="zh-CN" sz="1300" dirty="0"/>
              <a:t>We use a Hidden Markov Model (HMM) to detect market regimes (bull, bear, or sideways) and adjust the reward function dynamically. This balances return and risk across different market conditions.</a:t>
            </a:r>
          </a:p>
          <a:p>
            <a:r>
              <a:rPr lang="en" altLang="zh-CN" sz="1300" b="1" dirty="0"/>
              <a:t>Shift the utility function:</a:t>
            </a:r>
          </a:p>
          <a:p>
            <a:r>
              <a:rPr lang="en" altLang="zh-CN" sz="1300" dirty="0"/>
              <a:t>Using risk-adjusted metric like the Sharpe Ratio (concave utility for risk-averse behavior) as utility function instead of maximizing simple linear returns</a:t>
            </a:r>
          </a:p>
          <a:p>
            <a:pPr marL="342900" indent="-342900">
              <a:buSzPct val="100000"/>
              <a:buChar char="•"/>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643</Words>
  <Application>Microsoft Macintosh PowerPoint</Application>
  <PresentationFormat>全屏显示(16:9)</PresentationFormat>
  <Paragraphs>63</Paragraphs>
  <Slides>4</Slides>
  <Notes>4</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4</vt:i4>
      </vt:variant>
    </vt:vector>
  </HeadingPairs>
  <TitlesOfParts>
    <vt:vector size="6" baseType="lpstr">
      <vt:lpstr>Arial</vt:lpstr>
      <vt:lpstr>Office Theme</vt:lpstr>
      <vt:lpstr>PowerPoint 演示文稿</vt:lpstr>
      <vt:lpstr>PowerPoint 演示文稿</vt:lpstr>
      <vt:lpstr>PowerPoint 演示文稿</vt:lpstr>
      <vt:lpstr>PowerPoint 演示文稿</vt:lpstr>
    </vt:vector>
  </TitlesOfParts>
  <Company>Oxford-Man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Minimalist</dc:title>
  <dc:subject>Deep RL for Trading</dc:subject>
  <dc:creator>AI Assistant</dc:creator>
  <cp:lastModifiedBy>hahaha haha</cp:lastModifiedBy>
  <cp:revision>3</cp:revision>
  <dcterms:created xsi:type="dcterms:W3CDTF">2026-03-06T02:33:14Z</dcterms:created>
  <dcterms:modified xsi:type="dcterms:W3CDTF">2026-03-06T04:08:10Z</dcterms:modified>
</cp:coreProperties>
</file>