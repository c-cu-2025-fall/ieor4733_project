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Lst>
  <p:notesMasterIdLst>
    <p:notesMasterId r:id="rId13"/>
  </p:notesMasterIdLst>
  <p:sldIdLst>
    <p:sldId id="256" r:id="rId2"/>
    <p:sldId id="258" r:id="rId3"/>
    <p:sldId id="259" r:id="rId4"/>
    <p:sldId id="270" r:id="rId5"/>
    <p:sldId id="272" r:id="rId6"/>
    <p:sldId id="273" r:id="rId7"/>
    <p:sldId id="274" r:id="rId8"/>
    <p:sldId id="275" r:id="rId9"/>
    <p:sldId id="276" r:id="rId10"/>
    <p:sldId id="269" r:id="rId11"/>
    <p:sldId id="267" r:id="rId12"/>
  </p:sldIdLst>
  <p:sldSz cx="9144000" cy="6858000" type="screen4x3"/>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80F9FB2-728D-4799-AB61-7DBC326BF54D}" styleName="Table_0">
    <a:wholeTbl>
      <a:tcTxStyle>
        <a:font>
          <a:latin typeface="Arial"/>
          <a:ea typeface="Arial"/>
          <a:cs typeface="Arial"/>
        </a:font>
        <a:srgbClr val="000000"/>
      </a:tcTxStyle>
      <a:tcStyle>
        <a:tcBdr/>
      </a:tcStyle>
    </a:wholeTbl>
    <a:band1H>
      <a:tcStyle>
        <a:tcBdr/>
      </a:tcStyle>
    </a:band1H>
    <a:band2H>
      <a:tcStyle>
        <a:tcBdr/>
      </a:tcStyle>
    </a:band2H>
    <a:band1V>
      <a:tcStyle>
        <a:tcBdr/>
      </a:tcStyle>
    </a:band1V>
    <a:band2V>
      <a:tcStyle>
        <a:tcBdr/>
      </a:tcStyle>
    </a:band2V>
    <a:lastCol>
      <a:tcStyle>
        <a:tcBdr/>
      </a:tcStyle>
    </a:lastCol>
    <a:firstCol>
      <a:tcStyle>
        <a:tcBdr/>
      </a:tcStyle>
    </a:firstCol>
    <a:lastRow>
      <a:tcStyle>
        <a:tcBdr/>
      </a:tcStyle>
    </a:lastRow>
    <a:seCell>
      <a:tcStyle>
        <a:tcBdr/>
      </a:tcStyle>
    </a:seCell>
    <a:swCell>
      <a:tcStyle>
        <a:tcBdr/>
      </a:tcStyle>
    </a:swCell>
    <a:firstRow>
      <a:tcStyle>
        <a:tcBdr/>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350"/>
    <p:restoredTop sz="94604"/>
  </p:normalViewPr>
  <p:slideViewPr>
    <p:cSldViewPr snapToGrid="0" showGuides="1">
      <p:cViewPr>
        <p:scale>
          <a:sx n="102" d="100"/>
          <a:sy n="102" d="100"/>
        </p:scale>
        <p:origin x="816" y="43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5" name="Google Shape;5;n"/>
          <p:cNvSpPr>
            <a:spLocks noGrp="1" noRot="1" noChangeAspect="1"/>
          </p:cNvSpPr>
          <p:nvPr>
            <p:ph type="sldImg" idx="3"/>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panose="020F0502020204030204"/>
                <a:ea typeface="Calibri" panose="020F0502020204030204"/>
                <a:cs typeface="Calibri" panose="020F0502020204030204"/>
                <a:sym typeface="Calibri" panose="020F0502020204030204"/>
              </a:rPr>
              <a:t>‹#›</a:t>
            </a:fld>
            <a:endParaRPr sz="12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200"/>
              <a:buFont typeface="Calibri" panose="020F0502020204030204"/>
              <a:buNone/>
            </a:pPr>
            <a:endParaRPr sz="1200">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99" name="Google Shape;99;p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p:cNvGrpSpPr/>
        <p:nvPr/>
      </p:nvGrpSpPr>
      <p:grpSpPr>
        <a:xfrm>
          <a:off x="0" y="0"/>
          <a:ext cx="0" cy="0"/>
          <a:chOff x="0" y="0"/>
          <a:chExt cx="0" cy="0"/>
        </a:xfrm>
      </p:grpSpPr>
      <p:sp>
        <p:nvSpPr>
          <p:cNvPr id="109" name="Google Shape;109;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200"/>
              <a:buFont typeface="Calibri" panose="020F0502020204030204"/>
              <a:buNone/>
            </a:pPr>
            <a:endParaRPr sz="1200">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10" name="Google Shape;110;p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3" name="Google Shape;93;p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p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200"/>
              <a:buFont typeface="Calibri" panose="020F0502020204030204"/>
              <a:buNone/>
            </a:pPr>
            <a:endParaRPr sz="1200">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00" name="Google Shape;200;p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14"/>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14"/>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1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1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1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1"/>
        <p:cNvGrpSpPr/>
        <p:nvPr/>
      </p:nvGrpSpPr>
      <p:grpSpPr>
        <a:xfrm>
          <a:off x="0" y="0"/>
          <a:ext cx="0" cy="0"/>
          <a:chOff x="0" y="0"/>
          <a:chExt cx="0" cy="0"/>
        </a:xfrm>
      </p:grpSpPr>
      <p:sp>
        <p:nvSpPr>
          <p:cNvPr id="22" name="Google Shape;22;p15"/>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1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 name="Google Shape;24;p1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1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2"/>
        <p:cNvGrpSpPr/>
        <p:nvPr/>
      </p:nvGrpSpPr>
      <p:grpSpPr>
        <a:xfrm>
          <a:off x="0" y="0"/>
          <a:ext cx="0" cy="0"/>
          <a:chOff x="0" y="0"/>
          <a:chExt cx="0" cy="0"/>
        </a:xfrm>
      </p:grpSpPr>
      <p:sp>
        <p:nvSpPr>
          <p:cNvPr id="33" name="Google Shape;33;p17"/>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panose="020F0502020204030204"/>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 name="Google Shape;34;p17"/>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5" name="Google Shape;35;p1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 name="Google Shape;36;p1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7" name="Google Shape;37;p1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8"/>
        <p:cNvGrpSpPr/>
        <p:nvPr/>
      </p:nvGrpSpPr>
      <p:grpSpPr>
        <a:xfrm>
          <a:off x="0" y="0"/>
          <a:ext cx="0" cy="0"/>
          <a:chOff x="0" y="0"/>
          <a:chExt cx="0" cy="0"/>
        </a:xfrm>
      </p:grpSpPr>
      <p:sp>
        <p:nvSpPr>
          <p:cNvPr id="39" name="Google Shape;39;p1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0" name="Google Shape;40;p18"/>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41" name="Google Shape;41;p18"/>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42" name="Google Shape;42;p1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1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1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5"/>
        <p:cNvGrpSpPr/>
        <p:nvPr/>
      </p:nvGrpSpPr>
      <p:grpSpPr>
        <a:xfrm>
          <a:off x="0" y="0"/>
          <a:ext cx="0" cy="0"/>
          <a:chOff x="0" y="0"/>
          <a:chExt cx="0" cy="0"/>
        </a:xfrm>
      </p:grpSpPr>
      <p:sp>
        <p:nvSpPr>
          <p:cNvPr id="46" name="Google Shape;46;p19"/>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panose="020F0502020204030204"/>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19"/>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8" name="Google Shape;48;p19"/>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9" name="Google Shape;49;p19"/>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50" name="Google Shape;50;p19"/>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51" name="Google Shape;51;p1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1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1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2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2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2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21"/>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panose="020F0502020204030204"/>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21"/>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61" name="Google Shape;61;p21"/>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2" name="Google Shape;62;p2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2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2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22"/>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panose="020F0502020204030204"/>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22"/>
          <p:cNvSpPr>
            <a:spLocks noGrp="1"/>
          </p:cNvSpPr>
          <p:nvPr>
            <p:ph type="pic" idx="2"/>
          </p:nvPr>
        </p:nvSpPr>
        <p:spPr>
          <a:xfrm>
            <a:off x="1792288" y="612775"/>
            <a:ext cx="5486400" cy="4114800"/>
          </a:xfrm>
          <a:prstGeom prst="rect">
            <a:avLst/>
          </a:prstGeom>
          <a:noFill/>
          <a:ln>
            <a:noFill/>
          </a:ln>
        </p:spPr>
      </p:sp>
      <p:sp>
        <p:nvSpPr>
          <p:cNvPr id="68" name="Google Shape;68;p22"/>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9" name="Google Shape;69;p2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2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2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23"/>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23"/>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5" name="Google Shape;75;p2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2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2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24"/>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24"/>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81" name="Google Shape;81;p2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2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2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3"/>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panose="020F0502020204030204"/>
              <a:buNone/>
              <a:defRPr sz="4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3"/>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panose="020B0604020202090204"/>
              <a:buChar char="•"/>
              <a:defRPr sz="3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406400" algn="l" rtl="0">
              <a:spcBef>
                <a:spcPts val="560"/>
              </a:spcBef>
              <a:spcAft>
                <a:spcPts val="0"/>
              </a:spcAft>
              <a:buClr>
                <a:schemeClr val="dk1"/>
              </a:buClr>
              <a:buSzPts val="2800"/>
              <a:buFont typeface="Arial" panose="020B0604020202090204"/>
              <a:buChar char="–"/>
              <a:defRPr sz="2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381000" algn="l" rtl="0">
              <a:spcBef>
                <a:spcPts val="480"/>
              </a:spcBef>
              <a:spcAft>
                <a:spcPts val="0"/>
              </a:spcAft>
              <a:buClr>
                <a:schemeClr val="dk1"/>
              </a:buClr>
              <a:buSzPts val="2400"/>
              <a:buFont typeface="Arial" panose="020B0604020202090204"/>
              <a:buChar char="•"/>
              <a:defRPr sz="2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355600" algn="l" rtl="0">
              <a:spcBef>
                <a:spcPts val="400"/>
              </a:spcBef>
              <a:spcAft>
                <a:spcPts val="0"/>
              </a:spcAft>
              <a:buClr>
                <a:schemeClr val="dk1"/>
              </a:buClr>
              <a:buSzPts val="2000"/>
              <a:buFont typeface="Arial" panose="020B060402020209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355600" algn="l" rtl="0">
              <a:spcBef>
                <a:spcPts val="400"/>
              </a:spcBef>
              <a:spcAft>
                <a:spcPts val="0"/>
              </a:spcAft>
              <a:buClr>
                <a:schemeClr val="dk1"/>
              </a:buClr>
              <a:buSzPts val="2000"/>
              <a:buFont typeface="Arial" panose="020B060402020209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355600" algn="l" rtl="0">
              <a:spcBef>
                <a:spcPts val="400"/>
              </a:spcBef>
              <a:spcAft>
                <a:spcPts val="0"/>
              </a:spcAft>
              <a:buClr>
                <a:schemeClr val="dk1"/>
              </a:buClr>
              <a:buSzPts val="2000"/>
              <a:buFont typeface="Arial" panose="020B060402020209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55600" algn="l" rtl="0">
              <a:spcBef>
                <a:spcPts val="400"/>
              </a:spcBef>
              <a:spcAft>
                <a:spcPts val="0"/>
              </a:spcAft>
              <a:buClr>
                <a:schemeClr val="dk1"/>
              </a:buClr>
              <a:buSzPts val="2000"/>
              <a:buFont typeface="Arial" panose="020B060402020209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55600" algn="l" rtl="0">
              <a:spcBef>
                <a:spcPts val="400"/>
              </a:spcBef>
              <a:spcAft>
                <a:spcPts val="0"/>
              </a:spcAft>
              <a:buClr>
                <a:schemeClr val="dk1"/>
              </a:buClr>
              <a:buSzPts val="2000"/>
              <a:buFont typeface="Arial" panose="020B060402020209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55600" algn="l" rtl="0">
              <a:spcBef>
                <a:spcPts val="400"/>
              </a:spcBef>
              <a:spcAft>
                <a:spcPts val="0"/>
              </a:spcAft>
              <a:buClr>
                <a:schemeClr val="dk1"/>
              </a:buClr>
              <a:buSzPts val="2000"/>
              <a:buFont typeface="Arial" panose="020B060402020209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12" name="Google Shape;12;p1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13" name="Google Shape;13;p1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14" name="Google Shape;14;p1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t>‹#›</a:t>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Calibri" panose="020F0502020204030204"/>
              <a:buNone/>
            </a:pPr>
            <a:r>
              <a:rPr lang="en-US"/>
              <a:t>Deep Reinforcement Learning for Trading</a:t>
            </a:r>
          </a:p>
        </p:txBody>
      </p:sp>
      <p:sp>
        <p:nvSpPr>
          <p:cNvPr id="89" name="Google Shape;89;p1"/>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p>
            <a:pPr marL="0" lvl="0" indent="0" algn="ctr" rtl="0">
              <a:spcBef>
                <a:spcPts val="0"/>
              </a:spcBef>
              <a:spcAft>
                <a:spcPts val="0"/>
              </a:spcAft>
              <a:buClr>
                <a:schemeClr val="dk1"/>
              </a:buClr>
              <a:buSzPts val="3200"/>
              <a:buNone/>
            </a:pPr>
            <a:r>
              <a:rPr lang="en-US">
                <a:solidFill>
                  <a:schemeClr val="dk1"/>
                </a:solidFill>
              </a:rPr>
              <a:t>Hao Wang, Haolan Cheng, Yuting Lun</a:t>
            </a:r>
            <a:endParaRPr>
              <a:solidFill>
                <a:schemeClr val="dk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3"/>
          <p:cNvSpPr/>
          <p:nvPr/>
        </p:nvSpPr>
        <p:spPr>
          <a:xfrm>
            <a:off x="457200" y="151050"/>
            <a:ext cx="8229600" cy="7314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047857"/>
              </a:buClr>
              <a:buSzPts val="2400"/>
              <a:buFont typeface="Calibri" panose="020F0502020204030204"/>
              <a:buNone/>
            </a:pPr>
            <a:r>
              <a:rPr lang="en-US" sz="2400" b="1" dirty="0">
                <a:solidFill>
                  <a:srgbClr val="3D85C6"/>
                </a:solidFill>
                <a:highlight>
                  <a:schemeClr val="lt1"/>
                </a:highlight>
                <a:latin typeface="Calibri" panose="020F0502020204030204"/>
                <a:ea typeface="Calibri" panose="020F0502020204030204"/>
                <a:cs typeface="Calibri" panose="020F0502020204030204"/>
                <a:sym typeface="Calibri" panose="020F0502020204030204"/>
              </a:rPr>
              <a:t>Summary of Original Paper</a:t>
            </a:r>
            <a:endParaRPr sz="2400" b="0" i="0" u="none" strike="noStrike" cap="none" dirty="0">
              <a:solidFill>
                <a:srgbClr val="3D85C6"/>
              </a:solidFill>
              <a:highlight>
                <a:schemeClr val="lt1"/>
              </a:highlight>
              <a:latin typeface="Calibri" panose="020F0502020204030204"/>
              <a:ea typeface="Calibri" panose="020F0502020204030204"/>
              <a:cs typeface="Calibri" panose="020F0502020204030204"/>
              <a:sym typeface="Calibri" panose="020F0502020204030204"/>
            </a:endParaRPr>
          </a:p>
        </p:txBody>
      </p:sp>
      <p:sp>
        <p:nvSpPr>
          <p:cNvPr id="102" name="Google Shape;102;p3"/>
          <p:cNvSpPr/>
          <p:nvPr/>
        </p:nvSpPr>
        <p:spPr>
          <a:xfrm>
            <a:off x="529975" y="699626"/>
            <a:ext cx="4114800" cy="7314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1C1917"/>
              </a:buClr>
              <a:buSzPts val="1800"/>
              <a:buFont typeface="Calibri" panose="020F0502020204030204"/>
              <a:buNone/>
            </a:pPr>
            <a:r>
              <a:rPr lang="en-US" sz="1800" b="1" i="0" u="none" strike="noStrike" cap="none">
                <a:solidFill>
                  <a:srgbClr val="1C1917"/>
                </a:solidFill>
                <a:latin typeface="Calibri" panose="020F0502020204030204"/>
                <a:ea typeface="Calibri" panose="020F0502020204030204"/>
                <a:cs typeface="Calibri" panose="020F0502020204030204"/>
                <a:sym typeface="Calibri" panose="020F0502020204030204"/>
              </a:rPr>
              <a:t>Traditional Methods</a:t>
            </a:r>
            <a:endParaRPr sz="1200" b="0" i="0" u="none" strike="noStrike" cap="none">
              <a:solidFill>
                <a:srgbClr val="7F7F7F"/>
              </a:solidFill>
              <a:latin typeface="Calibri" panose="020F0502020204030204"/>
              <a:ea typeface="Calibri" panose="020F0502020204030204"/>
              <a:cs typeface="Calibri" panose="020F0502020204030204"/>
              <a:sym typeface="Calibri" panose="020F0502020204030204"/>
            </a:endParaRPr>
          </a:p>
        </p:txBody>
      </p:sp>
      <p:sp>
        <p:nvSpPr>
          <p:cNvPr id="103" name="Google Shape;103;p3"/>
          <p:cNvSpPr/>
          <p:nvPr/>
        </p:nvSpPr>
        <p:spPr>
          <a:xfrm>
            <a:off x="301375" y="1176650"/>
            <a:ext cx="4343400" cy="2188500"/>
          </a:xfrm>
          <a:prstGeom prst="rect">
            <a:avLst/>
          </a:prstGeom>
          <a:noFill/>
          <a:ln>
            <a:noFill/>
          </a:ln>
        </p:spPr>
        <p:txBody>
          <a:bodyPr spcFirstLastPara="1" wrap="square" lIns="91425" tIns="45700" rIns="91425" bIns="45700" anchor="ctr" anchorCtr="0">
            <a:noAutofit/>
          </a:bodyPr>
          <a:lstStyle/>
          <a:p>
            <a:pPr marL="285750" marR="0" lvl="0" indent="-285750" algn="l" rtl="0">
              <a:spcBef>
                <a:spcPts val="0"/>
              </a:spcBef>
              <a:spcAft>
                <a:spcPts val="0"/>
              </a:spcAft>
              <a:buClr>
                <a:srgbClr val="000000"/>
              </a:buClr>
              <a:buSzPts val="1400"/>
              <a:buFont typeface="Arial" panose="020B0604020202090204"/>
              <a:buChar char="•"/>
            </a:pPr>
            <a:r>
              <a:rPr lang="en-US" sz="1400" b="0"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Fundamental &amp; Technical Analysis: Often lack precise timing for entering and exiting trades, leading to potential drawdowns.</a:t>
            </a:r>
            <a:endParaRPr sz="1400" b="0" i="0" u="none" strike="noStrike" cap="none" dirty="0">
              <a:solidFill>
                <a:srgbClr val="000000"/>
              </a:solidFill>
              <a:latin typeface="Calibri" panose="020F0502020204030204"/>
              <a:ea typeface="Calibri" panose="020F0502020204030204"/>
              <a:cs typeface="Calibri" panose="020F0502020204030204"/>
              <a:sym typeface="Calibri" panose="020F0502020204030204"/>
            </a:endParaRPr>
          </a:p>
          <a:p>
            <a:pPr marL="285750" marR="0" lvl="0" indent="-285750" algn="l" rtl="0">
              <a:spcBef>
                <a:spcPts val="0"/>
              </a:spcBef>
              <a:spcAft>
                <a:spcPts val="0"/>
              </a:spcAft>
              <a:buClr>
                <a:srgbClr val="000000"/>
              </a:buClr>
              <a:buSzPts val="1400"/>
              <a:buFont typeface="Arial" panose="020B0604020202090204"/>
              <a:buChar char="•"/>
            </a:pPr>
            <a:r>
              <a:rPr lang="en-US" sz="1400" b="0"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Time-Series Momentum: Highly effective in trending markets, but severely vulnerable to sideways or mean-reverting markets (like FX).</a:t>
            </a:r>
            <a:endParaRPr sz="1400" b="0" i="0" u="none" strike="noStrike" cap="none" dirty="0">
              <a:solidFill>
                <a:srgbClr val="000000"/>
              </a:solidFill>
              <a:latin typeface="Calibri" panose="020F0502020204030204"/>
              <a:ea typeface="Calibri" panose="020F0502020204030204"/>
              <a:cs typeface="Calibri" panose="020F0502020204030204"/>
              <a:sym typeface="Calibri" panose="020F0502020204030204"/>
            </a:endParaRPr>
          </a:p>
          <a:p>
            <a:pPr marL="285750" marR="0" lvl="0" indent="-285750" algn="l" rtl="0">
              <a:spcBef>
                <a:spcPts val="0"/>
              </a:spcBef>
              <a:spcAft>
                <a:spcPts val="0"/>
              </a:spcAft>
              <a:buClr>
                <a:srgbClr val="000000"/>
              </a:buClr>
              <a:buSzPts val="1400"/>
              <a:buFont typeface="Arial" panose="020B0604020202090204"/>
              <a:buChar char="•"/>
            </a:pPr>
            <a:r>
              <a:rPr lang="en-US" sz="1400" b="0"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Classical RL (Q-Learning): Frequently relies on discrete action spaces (fully long/short), which is highly risky during volatile periods.</a:t>
            </a:r>
            <a:endParaRPr sz="1400" b="0" i="0" u="none" strike="noStrike" cap="none" dirty="0">
              <a:solidFill>
                <a:srgbClr val="000000"/>
              </a:solidFill>
              <a:latin typeface="Calibri" panose="020F0502020204030204"/>
              <a:ea typeface="Calibri" panose="020F0502020204030204"/>
              <a:cs typeface="Calibri" panose="020F0502020204030204"/>
              <a:sym typeface="Calibri" panose="020F0502020204030204"/>
            </a:endParaRPr>
          </a:p>
        </p:txBody>
      </p:sp>
      <p:sp>
        <p:nvSpPr>
          <p:cNvPr id="104" name="Google Shape;104;p3"/>
          <p:cNvSpPr/>
          <p:nvPr/>
        </p:nvSpPr>
        <p:spPr>
          <a:xfrm>
            <a:off x="4775200" y="818125"/>
            <a:ext cx="4089300" cy="4944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1C1917"/>
              </a:buClr>
              <a:buSzPts val="1800"/>
              <a:buFont typeface="Calibri" panose="020F0502020204030204"/>
              <a:buNone/>
            </a:pPr>
            <a:r>
              <a:rPr lang="en-US" sz="1800" b="1" i="0" u="none" strike="noStrike" cap="none">
                <a:solidFill>
                  <a:srgbClr val="1C1917"/>
                </a:solidFill>
                <a:latin typeface="Calibri" panose="020F0502020204030204"/>
                <a:ea typeface="Calibri" panose="020F0502020204030204"/>
                <a:cs typeface="Calibri" panose="020F0502020204030204"/>
                <a:sym typeface="Calibri" panose="020F0502020204030204"/>
              </a:rPr>
              <a:t>Proposed RL Methods</a:t>
            </a:r>
            <a:endParaRPr sz="1200" b="0" i="0" u="none" strike="noStrike" cap="none">
              <a:solidFill>
                <a:srgbClr val="7F7F7F"/>
              </a:solidFill>
              <a:latin typeface="Calibri" panose="020F0502020204030204"/>
              <a:ea typeface="Calibri" panose="020F0502020204030204"/>
              <a:cs typeface="Calibri" panose="020F0502020204030204"/>
              <a:sym typeface="Calibri" panose="020F0502020204030204"/>
            </a:endParaRPr>
          </a:p>
        </p:txBody>
      </p:sp>
      <p:sp>
        <p:nvSpPr>
          <p:cNvPr id="105" name="Google Shape;105;p3"/>
          <p:cNvSpPr/>
          <p:nvPr/>
        </p:nvSpPr>
        <p:spPr>
          <a:xfrm>
            <a:off x="4775200" y="1247324"/>
            <a:ext cx="3886200" cy="1650900"/>
          </a:xfrm>
          <a:prstGeom prst="rect">
            <a:avLst/>
          </a:prstGeom>
          <a:noFill/>
          <a:ln>
            <a:noFill/>
          </a:ln>
        </p:spPr>
        <p:txBody>
          <a:bodyPr spcFirstLastPara="1" wrap="square" lIns="91425" tIns="45700" rIns="91425" bIns="45700" anchor="ctr" anchorCtr="0">
            <a:noAutofit/>
          </a:bodyPr>
          <a:lstStyle/>
          <a:p>
            <a:pPr marL="285750" marR="0" lvl="0" indent="-285750" algn="l" rtl="0">
              <a:spcBef>
                <a:spcPts val="0"/>
              </a:spcBef>
              <a:spcAft>
                <a:spcPts val="0"/>
              </a:spcAft>
              <a:buClr>
                <a:srgbClr val="1C1917"/>
              </a:buClr>
              <a:buSzPts val="1400"/>
              <a:buFont typeface="Arial" panose="020B0604020202090204"/>
              <a:buChar char="•"/>
            </a:pPr>
            <a:r>
              <a:rPr lang="en-US" sz="1400" b="0" i="0" u="none" strike="noStrike" cap="none" dirty="0">
                <a:solidFill>
                  <a:srgbClr val="1C1917"/>
                </a:solidFill>
                <a:latin typeface="Calibri" panose="020F0502020204030204"/>
                <a:ea typeface="Calibri" panose="020F0502020204030204"/>
                <a:cs typeface="Calibri" panose="020F0502020204030204"/>
                <a:sym typeface="Calibri" panose="020F0502020204030204"/>
              </a:rPr>
              <a:t>Deep Q-Networks (DQN): </a:t>
            </a:r>
            <a:r>
              <a:rPr lang="en-US" sz="1400" b="0"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Evaluates the value of discrete actions in a given state.</a:t>
            </a:r>
            <a:endParaRPr sz="1400" b="0" i="0" u="none" strike="noStrike" cap="none" dirty="0">
              <a:solidFill>
                <a:srgbClr val="000000"/>
              </a:solidFill>
              <a:latin typeface="Calibri" panose="020F0502020204030204"/>
              <a:ea typeface="Calibri" panose="020F0502020204030204"/>
              <a:cs typeface="Calibri" panose="020F0502020204030204"/>
              <a:sym typeface="Calibri" panose="020F0502020204030204"/>
            </a:endParaRPr>
          </a:p>
          <a:p>
            <a:pPr marL="285750" marR="0" lvl="0" indent="-285750" algn="l" rtl="0">
              <a:spcBef>
                <a:spcPts val="0"/>
              </a:spcBef>
              <a:spcAft>
                <a:spcPts val="0"/>
              </a:spcAft>
              <a:buClr>
                <a:srgbClr val="1C1917"/>
              </a:buClr>
              <a:buSzPts val="1400"/>
              <a:buFont typeface="Arial" panose="020B0604020202090204"/>
              <a:buChar char="•"/>
            </a:pPr>
            <a:r>
              <a:rPr lang="en-US" sz="1400" b="0" i="0" u="none" strike="noStrike" cap="none" dirty="0">
                <a:solidFill>
                  <a:srgbClr val="1C1917"/>
                </a:solidFill>
                <a:latin typeface="Calibri" panose="020F0502020204030204"/>
                <a:ea typeface="Calibri" panose="020F0502020204030204"/>
                <a:cs typeface="Calibri" panose="020F0502020204030204"/>
                <a:sym typeface="Calibri" panose="020F0502020204030204"/>
              </a:rPr>
              <a:t>Policy Gradients (PG): </a:t>
            </a:r>
            <a:r>
              <a:rPr lang="en-US" sz="1400" b="0"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Optimizes the policy directly, useful for continuous action spaces.</a:t>
            </a:r>
            <a:endParaRPr sz="1400" b="0" i="0" u="none" strike="noStrike" cap="none" dirty="0">
              <a:solidFill>
                <a:srgbClr val="000000"/>
              </a:solidFill>
              <a:latin typeface="Calibri" panose="020F0502020204030204"/>
              <a:ea typeface="Calibri" panose="020F0502020204030204"/>
              <a:cs typeface="Calibri" panose="020F0502020204030204"/>
              <a:sym typeface="Calibri" panose="020F0502020204030204"/>
            </a:endParaRPr>
          </a:p>
          <a:p>
            <a:pPr marL="285750" marR="0" lvl="0" indent="-285750" algn="l" rtl="0">
              <a:spcBef>
                <a:spcPts val="0"/>
              </a:spcBef>
              <a:spcAft>
                <a:spcPts val="0"/>
              </a:spcAft>
              <a:buClr>
                <a:srgbClr val="1C1917"/>
              </a:buClr>
              <a:buSzPts val="1400"/>
              <a:buFont typeface="Arial" panose="020B0604020202090204"/>
              <a:buChar char="•"/>
            </a:pPr>
            <a:r>
              <a:rPr lang="en-US" sz="1400" b="0" i="0" u="none" strike="noStrike" cap="none" dirty="0">
                <a:solidFill>
                  <a:srgbClr val="1C1917"/>
                </a:solidFill>
                <a:latin typeface="Calibri" panose="020F0502020204030204"/>
                <a:ea typeface="Calibri" panose="020F0502020204030204"/>
                <a:cs typeface="Calibri" panose="020F0502020204030204"/>
                <a:sym typeface="Calibri" panose="020F0502020204030204"/>
              </a:rPr>
              <a:t>Advantage Actor-Critic (A2C): </a:t>
            </a:r>
            <a:r>
              <a:rPr lang="en-US" sz="1400" b="0"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Updates policies in real-time by combining an 'actor' network with a 'critic' network.</a:t>
            </a:r>
            <a:endParaRPr sz="1400" b="0" i="0" u="none" strike="noStrike" cap="none" dirty="0">
              <a:solidFill>
                <a:srgbClr val="000000"/>
              </a:solidFill>
              <a:latin typeface="Calibri" panose="020F0502020204030204"/>
              <a:ea typeface="Calibri" panose="020F0502020204030204"/>
              <a:cs typeface="Calibri" panose="020F0502020204030204"/>
              <a:sym typeface="Calibri" panose="020F0502020204030204"/>
            </a:endParaRPr>
          </a:p>
        </p:txBody>
      </p:sp>
      <p:pic>
        <p:nvPicPr>
          <p:cNvPr id="106" name="Google Shape;106;p3" title="Screenshot 2026-03-06 at 2.41.14 PM.png"/>
          <p:cNvPicPr preferRelativeResize="0"/>
          <p:nvPr/>
        </p:nvPicPr>
        <p:blipFill rotWithShape="1">
          <a:blip r:embed="rId3"/>
          <a:srcRect/>
          <a:stretch>
            <a:fillRect/>
          </a:stretch>
        </p:blipFill>
        <p:spPr>
          <a:xfrm>
            <a:off x="683075" y="3365150"/>
            <a:ext cx="6460675" cy="3399899"/>
          </a:xfrm>
          <a:prstGeom prst="rect">
            <a:avLst/>
          </a:prstGeom>
          <a:noFill/>
          <a:ln>
            <a:noFill/>
          </a:ln>
        </p:spPr>
      </p:pic>
      <p:sp>
        <p:nvSpPr>
          <p:cNvPr id="107" name="Google Shape;107;p3"/>
          <p:cNvSpPr txBox="1"/>
          <p:nvPr/>
        </p:nvSpPr>
        <p:spPr>
          <a:xfrm>
            <a:off x="5029200" y="5114150"/>
            <a:ext cx="3329050" cy="1580700"/>
          </a:xfrm>
          <a:prstGeom prst="rect">
            <a:avLst/>
          </a:prstGeom>
          <a:noFill/>
          <a:ln>
            <a:noFill/>
          </a:ln>
        </p:spPr>
        <p:txBody>
          <a:bodyPr spcFirstLastPara="1" wrap="square" lIns="91425" tIns="91425" rIns="91425" bIns="91425" anchor="t" anchorCtr="0">
            <a:noAutofit/>
          </a:bodyPr>
          <a:lstStyle/>
          <a:p>
            <a:pPr marL="285750" indent="-285750">
              <a:buSzPts val="1400"/>
              <a:buFont typeface="Arial" panose="020B0604020202090204"/>
              <a:buChar char="•"/>
            </a:pPr>
            <a:r>
              <a:rPr lang="en-US" dirty="0">
                <a:latin typeface="Calibri" panose="020F0502020204030204"/>
                <a:cs typeface="Calibri" panose="020F0502020204030204"/>
                <a:sym typeface="Calibri" panose="020F0502020204030204"/>
              </a:rPr>
              <a:t>Figure 1: Cumulative trade returns.</a:t>
            </a:r>
          </a:p>
          <a:p>
            <a:pPr marL="285750" indent="-285750">
              <a:buSzPts val="1400"/>
              <a:buFont typeface="Arial" panose="020B0604020202090204"/>
              <a:buChar char="•"/>
            </a:pPr>
            <a:r>
              <a:rPr lang="en-US" dirty="0">
                <a:latin typeface="Calibri" panose="020F0502020204030204"/>
                <a:cs typeface="Calibri" panose="020F0502020204030204"/>
                <a:sym typeface="Calibri" panose="020F0502020204030204"/>
              </a:rPr>
              <a:t>First row: commodity, equity index and fixed income; </a:t>
            </a:r>
          </a:p>
          <a:p>
            <a:pPr marL="285750" indent="-285750">
              <a:buSzPts val="1400"/>
              <a:buFont typeface="Arial" panose="020B0604020202090204"/>
              <a:buChar char="•"/>
            </a:pPr>
            <a:r>
              <a:rPr lang="en-US" dirty="0">
                <a:latin typeface="Calibri" panose="020F0502020204030204"/>
                <a:cs typeface="Calibri" panose="020F0502020204030204"/>
                <a:sym typeface="Calibri" panose="020F0502020204030204"/>
              </a:rPr>
              <a:t>Second row: FX and the portfolio of using all contracts.</a:t>
            </a:r>
            <a:endParaRPr dirty="0">
              <a:latin typeface="Calibri" panose="020F0502020204030204"/>
              <a:cs typeface="Calibri" panose="020F0502020204030204"/>
              <a:sym typeface="Calibri"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1"/>
        <p:cNvGrpSpPr/>
        <p:nvPr/>
      </p:nvGrpSpPr>
      <p:grpSpPr>
        <a:xfrm>
          <a:off x="0" y="0"/>
          <a:ext cx="0" cy="0"/>
          <a:chOff x="0" y="0"/>
          <a:chExt cx="0" cy="0"/>
        </a:xfrm>
      </p:grpSpPr>
      <p:sp>
        <p:nvSpPr>
          <p:cNvPr id="112" name="Google Shape;112;p4"/>
          <p:cNvSpPr txBox="1">
            <a:spLocks noGrp="1"/>
          </p:cNvSpPr>
          <p:nvPr>
            <p:ph type="title"/>
          </p:nvPr>
        </p:nvSpPr>
        <p:spPr>
          <a:xfrm>
            <a:off x="311700" y="225992"/>
            <a:ext cx="8520600" cy="763500"/>
          </a:xfrm>
          <a:prstGeom prst="rect">
            <a:avLst/>
          </a:prstGeom>
          <a:noFill/>
          <a:ln>
            <a:noFill/>
          </a:ln>
        </p:spPr>
        <p:txBody>
          <a:bodyPr spcFirstLastPara="1" wrap="square" lIns="91425" tIns="45700" rIns="91425" bIns="45700" anchor="ctr" anchorCtr="0">
            <a:normAutofit/>
          </a:bodyPr>
          <a:lstStyle/>
          <a:p>
            <a:pPr lvl="0" algn="l">
              <a:buClr>
                <a:srgbClr val="047857"/>
              </a:buClr>
              <a:buSzPts val="2400"/>
            </a:pPr>
            <a:r>
              <a:rPr lang="en-US" altLang="zh-CN" sz="2400" b="1" dirty="0">
                <a:solidFill>
                  <a:srgbClr val="3D85C6"/>
                </a:solidFill>
                <a:highlight>
                  <a:schemeClr val="lt1"/>
                </a:highlight>
              </a:rPr>
              <a:t>Summary of Original Paper</a:t>
            </a:r>
            <a:endParaRPr lang="en-US" altLang="zh-CN" sz="2400" dirty="0">
              <a:solidFill>
                <a:srgbClr val="3D85C6"/>
              </a:solidFill>
              <a:highlight>
                <a:schemeClr val="lt1"/>
              </a:highlight>
            </a:endParaRPr>
          </a:p>
        </p:txBody>
      </p:sp>
      <p:sp>
        <p:nvSpPr>
          <p:cNvPr id="113" name="Google Shape;113;p4"/>
          <p:cNvSpPr/>
          <p:nvPr/>
        </p:nvSpPr>
        <p:spPr>
          <a:xfrm>
            <a:off x="457200" y="712661"/>
            <a:ext cx="2560200" cy="4572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1C1917"/>
              </a:buClr>
              <a:buSzPts val="1600"/>
              <a:buFont typeface="Calibri" panose="020F0502020204030204"/>
              <a:buNone/>
            </a:pPr>
            <a:r>
              <a:rPr lang="en-US" sz="1600" b="1" i="0" u="none" strike="noStrike" cap="none">
                <a:solidFill>
                  <a:srgbClr val="1C1917"/>
                </a:solidFill>
                <a:latin typeface="Calibri" panose="020F0502020204030204"/>
                <a:ea typeface="Calibri" panose="020F0502020204030204"/>
                <a:cs typeface="Calibri" panose="020F0502020204030204"/>
                <a:sym typeface="Calibri" panose="020F0502020204030204"/>
              </a:rPr>
              <a:t>1. Data</a:t>
            </a:r>
            <a:endParaRPr sz="1600" b="0" i="0" u="none" strike="noStrike" cap="none">
              <a:solidFill>
                <a:srgbClr val="000000"/>
              </a:solidFill>
              <a:latin typeface="Calibri" panose="020F0502020204030204"/>
              <a:ea typeface="Calibri" panose="020F0502020204030204"/>
              <a:cs typeface="Calibri" panose="020F0502020204030204"/>
              <a:sym typeface="Calibri" panose="020F0502020204030204"/>
            </a:endParaRPr>
          </a:p>
        </p:txBody>
      </p:sp>
      <p:sp>
        <p:nvSpPr>
          <p:cNvPr id="114" name="Google Shape;114;p4"/>
          <p:cNvSpPr/>
          <p:nvPr/>
        </p:nvSpPr>
        <p:spPr>
          <a:xfrm>
            <a:off x="457200" y="1318395"/>
            <a:ext cx="2560200" cy="14490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1C1917"/>
              </a:buClr>
              <a:buSzPts val="1600"/>
              <a:buFont typeface="Calibri" panose="020F0502020204030204"/>
              <a:buNone/>
            </a:pPr>
            <a:r>
              <a:rPr lang="en-US" sz="1800" b="0" i="0" u="none" strike="noStrike" cap="none">
                <a:solidFill>
                  <a:srgbClr val="1C1917"/>
                </a:solidFill>
                <a:latin typeface="Calibri" panose="020F0502020204030204"/>
                <a:ea typeface="Calibri" panose="020F0502020204030204"/>
                <a:cs typeface="Calibri" panose="020F0502020204030204"/>
                <a:sym typeface="Calibri" panose="020F0502020204030204"/>
              </a:rPr>
              <a:t>50 most liquid futures contracts (2011-2019).</a:t>
            </a:r>
            <a:endParaRPr sz="1800" b="0" i="0" u="none" strike="noStrike" cap="none">
              <a:solidFill>
                <a:srgbClr val="000000"/>
              </a:solidFill>
              <a:latin typeface="Calibri" panose="020F0502020204030204"/>
              <a:ea typeface="Calibri" panose="020F0502020204030204"/>
              <a:cs typeface="Calibri" panose="020F0502020204030204"/>
              <a:sym typeface="Calibri" panose="020F0502020204030204"/>
            </a:endParaRPr>
          </a:p>
          <a:p>
            <a:pPr marL="285750" marR="0" lvl="0" indent="-273050" algn="l" rtl="0">
              <a:spcBef>
                <a:spcPts val="0"/>
              </a:spcBef>
              <a:spcAft>
                <a:spcPts val="0"/>
              </a:spcAft>
              <a:buClr>
                <a:srgbClr val="1C1917"/>
              </a:buClr>
              <a:buSzPts val="1400"/>
              <a:buFont typeface="Arial" panose="020B0604020202090204"/>
              <a:buChar char="•"/>
            </a:pPr>
            <a:r>
              <a:rPr lang="en-US" sz="1800" b="0" i="0" u="none" strike="noStrike" cap="none">
                <a:solidFill>
                  <a:srgbClr val="1C1917"/>
                </a:solidFill>
                <a:latin typeface="Calibri" panose="020F0502020204030204"/>
                <a:ea typeface="Calibri" panose="020F0502020204030204"/>
                <a:cs typeface="Calibri" panose="020F0502020204030204"/>
                <a:sym typeface="Calibri" panose="020F0502020204030204"/>
              </a:rPr>
              <a:t>Commodities (25)</a:t>
            </a:r>
            <a:endParaRPr sz="1800" b="0" i="0" u="none" strike="noStrike" cap="none">
              <a:solidFill>
                <a:srgbClr val="000000"/>
              </a:solidFill>
              <a:latin typeface="Calibri" panose="020F0502020204030204"/>
              <a:ea typeface="Calibri" panose="020F0502020204030204"/>
              <a:cs typeface="Calibri" panose="020F0502020204030204"/>
              <a:sym typeface="Calibri" panose="020F0502020204030204"/>
            </a:endParaRPr>
          </a:p>
          <a:p>
            <a:pPr marL="285750" marR="0" lvl="0" indent="-273050" algn="l" rtl="0">
              <a:spcBef>
                <a:spcPts val="0"/>
              </a:spcBef>
              <a:spcAft>
                <a:spcPts val="0"/>
              </a:spcAft>
              <a:buClr>
                <a:srgbClr val="1C1917"/>
              </a:buClr>
              <a:buSzPts val="1400"/>
              <a:buFont typeface="Arial" panose="020B0604020202090204"/>
              <a:buChar char="•"/>
            </a:pPr>
            <a:r>
              <a:rPr lang="en-US" sz="1800" b="0" i="0" u="none" strike="noStrike" cap="none">
                <a:solidFill>
                  <a:srgbClr val="1C1917"/>
                </a:solidFill>
                <a:latin typeface="Calibri" panose="020F0502020204030204"/>
                <a:ea typeface="Calibri" panose="020F0502020204030204"/>
                <a:cs typeface="Calibri" panose="020F0502020204030204"/>
                <a:sym typeface="Calibri" panose="020F0502020204030204"/>
              </a:rPr>
              <a:t>Equity Indices (11)</a:t>
            </a:r>
            <a:endParaRPr sz="1800" b="0" i="0" u="none" strike="noStrike" cap="none">
              <a:solidFill>
                <a:srgbClr val="000000"/>
              </a:solidFill>
              <a:latin typeface="Calibri" panose="020F0502020204030204"/>
              <a:ea typeface="Calibri" panose="020F0502020204030204"/>
              <a:cs typeface="Calibri" panose="020F0502020204030204"/>
              <a:sym typeface="Calibri" panose="020F0502020204030204"/>
            </a:endParaRPr>
          </a:p>
          <a:p>
            <a:pPr marL="285750" marR="0" lvl="0" indent="-273050" algn="l" rtl="0">
              <a:spcBef>
                <a:spcPts val="0"/>
              </a:spcBef>
              <a:spcAft>
                <a:spcPts val="0"/>
              </a:spcAft>
              <a:buClr>
                <a:srgbClr val="1C1917"/>
              </a:buClr>
              <a:buSzPts val="1400"/>
              <a:buFont typeface="Arial" panose="020B0604020202090204"/>
              <a:buChar char="•"/>
            </a:pPr>
            <a:r>
              <a:rPr lang="en-US" sz="1800" b="0" i="0" u="none" strike="noStrike" cap="none">
                <a:solidFill>
                  <a:srgbClr val="1C1917"/>
                </a:solidFill>
                <a:latin typeface="Calibri" panose="020F0502020204030204"/>
                <a:ea typeface="Calibri" panose="020F0502020204030204"/>
                <a:cs typeface="Calibri" panose="020F0502020204030204"/>
                <a:sym typeface="Calibri" panose="020F0502020204030204"/>
              </a:rPr>
              <a:t>Fixed Income (5)</a:t>
            </a:r>
            <a:endParaRPr sz="1800" b="0" i="0" u="none" strike="noStrike" cap="none">
              <a:solidFill>
                <a:srgbClr val="000000"/>
              </a:solidFill>
              <a:latin typeface="Calibri" panose="020F0502020204030204"/>
              <a:ea typeface="Calibri" panose="020F0502020204030204"/>
              <a:cs typeface="Calibri" panose="020F0502020204030204"/>
              <a:sym typeface="Calibri" panose="020F0502020204030204"/>
            </a:endParaRPr>
          </a:p>
          <a:p>
            <a:pPr marL="285750" marR="0" lvl="0" indent="-273050" algn="l" rtl="0">
              <a:spcBef>
                <a:spcPts val="0"/>
              </a:spcBef>
              <a:spcAft>
                <a:spcPts val="0"/>
              </a:spcAft>
              <a:buClr>
                <a:srgbClr val="1C1917"/>
              </a:buClr>
              <a:buSzPts val="1400"/>
              <a:buFont typeface="Arial" panose="020B0604020202090204"/>
              <a:buChar char="•"/>
            </a:pPr>
            <a:r>
              <a:rPr lang="en-US" sz="1800" b="0" i="0" u="none" strike="noStrike" cap="none">
                <a:solidFill>
                  <a:srgbClr val="1C1917"/>
                </a:solidFill>
                <a:latin typeface="Calibri" panose="020F0502020204030204"/>
                <a:ea typeface="Calibri" panose="020F0502020204030204"/>
                <a:cs typeface="Calibri" panose="020F0502020204030204"/>
                <a:sym typeface="Calibri" panose="020F0502020204030204"/>
              </a:rPr>
              <a:t>Forex (9)</a:t>
            </a:r>
            <a:endParaRPr sz="1800" b="0" i="0" u="none" strike="noStrike" cap="none">
              <a:solidFill>
                <a:srgbClr val="000000"/>
              </a:solidFill>
              <a:latin typeface="Calibri" panose="020F0502020204030204"/>
              <a:ea typeface="Calibri" panose="020F0502020204030204"/>
              <a:cs typeface="Calibri" panose="020F0502020204030204"/>
              <a:sym typeface="Calibri" panose="020F0502020204030204"/>
            </a:endParaRPr>
          </a:p>
        </p:txBody>
      </p:sp>
      <p:sp>
        <p:nvSpPr>
          <p:cNvPr id="115" name="Google Shape;115;p4"/>
          <p:cNvSpPr/>
          <p:nvPr/>
        </p:nvSpPr>
        <p:spPr>
          <a:xfrm>
            <a:off x="2959920" y="712649"/>
            <a:ext cx="2560200" cy="4572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1C1917"/>
              </a:buClr>
              <a:buSzPts val="1600"/>
              <a:buFont typeface="Calibri" panose="020F0502020204030204"/>
              <a:buNone/>
            </a:pPr>
            <a:r>
              <a:rPr lang="en-US" sz="1600" b="1" i="0" u="none" strike="noStrike" cap="none">
                <a:solidFill>
                  <a:srgbClr val="1C1917"/>
                </a:solidFill>
                <a:latin typeface="Calibri" panose="020F0502020204030204"/>
                <a:ea typeface="Calibri" panose="020F0502020204030204"/>
                <a:cs typeface="Calibri" panose="020F0502020204030204"/>
                <a:sym typeface="Calibri" panose="020F0502020204030204"/>
              </a:rPr>
              <a:t>2. Methodology</a:t>
            </a:r>
            <a:endParaRPr sz="1600" b="0" i="0" u="none" strike="noStrike" cap="none">
              <a:solidFill>
                <a:srgbClr val="000000"/>
              </a:solidFill>
              <a:latin typeface="Calibri" panose="020F0502020204030204"/>
              <a:ea typeface="Calibri" panose="020F0502020204030204"/>
              <a:cs typeface="Calibri" panose="020F0502020204030204"/>
              <a:sym typeface="Calibri" panose="020F0502020204030204"/>
            </a:endParaRPr>
          </a:p>
        </p:txBody>
      </p:sp>
      <p:sp>
        <p:nvSpPr>
          <p:cNvPr id="116" name="Google Shape;116;p4"/>
          <p:cNvSpPr/>
          <p:nvPr/>
        </p:nvSpPr>
        <p:spPr>
          <a:xfrm>
            <a:off x="2806700" y="1259205"/>
            <a:ext cx="3175635" cy="1585595"/>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1C1917"/>
              </a:buClr>
              <a:buSzPts val="1600"/>
              <a:buFont typeface="Calibri" panose="020F0502020204030204"/>
              <a:buNone/>
            </a:pPr>
            <a:r>
              <a:rPr lang="en-US" sz="1800" b="0" i="0" u="none" strike="noStrike" cap="none">
                <a:solidFill>
                  <a:srgbClr val="1C1917"/>
                </a:solidFill>
                <a:latin typeface="Calibri" panose="020F0502020204030204"/>
                <a:ea typeface="Calibri" panose="020F0502020204030204"/>
                <a:cs typeface="Calibri" panose="020F0502020204030204"/>
                <a:sym typeface="Calibri" panose="020F0502020204030204"/>
              </a:rPr>
              <a:t>Markov Decision Process (MDP) formulation.</a:t>
            </a:r>
            <a:endParaRPr sz="1800" b="0" i="0" u="none" strike="noStrike" cap="none">
              <a:solidFill>
                <a:srgbClr val="000000"/>
              </a:solidFill>
              <a:latin typeface="Calibri" panose="020F0502020204030204"/>
              <a:ea typeface="Calibri" panose="020F0502020204030204"/>
              <a:cs typeface="Calibri" panose="020F0502020204030204"/>
              <a:sym typeface="Calibri" panose="020F0502020204030204"/>
            </a:endParaRPr>
          </a:p>
          <a:p>
            <a:pPr marL="285750" marR="0" lvl="0" indent="-273050" algn="l" rtl="0">
              <a:spcBef>
                <a:spcPts val="0"/>
              </a:spcBef>
              <a:spcAft>
                <a:spcPts val="0"/>
              </a:spcAft>
              <a:buClr>
                <a:srgbClr val="1C1917"/>
              </a:buClr>
              <a:buSzPts val="1400"/>
              <a:buFont typeface="Arial" panose="020B0604020202090204"/>
              <a:buChar char="•"/>
            </a:pPr>
            <a:r>
              <a:rPr lang="en-US" sz="1800" b="0" i="0" u="none" strike="noStrike" cap="none">
                <a:solidFill>
                  <a:srgbClr val="1C1917"/>
                </a:solidFill>
                <a:latin typeface="Calibri" panose="020F0502020204030204"/>
                <a:ea typeface="Calibri" panose="020F0502020204030204"/>
                <a:cs typeface="Calibri" panose="020F0502020204030204"/>
                <a:sym typeface="Calibri" panose="020F0502020204030204"/>
              </a:rPr>
              <a:t>State: 60-day lookback (Price, Returns, MACD, RSI).</a:t>
            </a:r>
            <a:endParaRPr sz="1800" b="0" i="0" u="none" strike="noStrike" cap="none">
              <a:solidFill>
                <a:srgbClr val="000000"/>
              </a:solidFill>
              <a:latin typeface="Calibri" panose="020F0502020204030204"/>
              <a:ea typeface="Calibri" panose="020F0502020204030204"/>
              <a:cs typeface="Calibri" panose="020F0502020204030204"/>
              <a:sym typeface="Calibri" panose="020F0502020204030204"/>
            </a:endParaRPr>
          </a:p>
          <a:p>
            <a:pPr marL="285750" marR="0" lvl="0" indent="-273050" algn="l" rtl="0">
              <a:spcBef>
                <a:spcPts val="0"/>
              </a:spcBef>
              <a:spcAft>
                <a:spcPts val="0"/>
              </a:spcAft>
              <a:buClr>
                <a:srgbClr val="1C1917"/>
              </a:buClr>
              <a:buSzPts val="1400"/>
              <a:buFont typeface="Arial" panose="020B0604020202090204"/>
              <a:buChar char="•"/>
            </a:pPr>
            <a:r>
              <a:rPr lang="en-US" sz="1800" b="0" i="0" u="none" strike="noStrike" cap="none">
                <a:solidFill>
                  <a:srgbClr val="1C1917"/>
                </a:solidFill>
                <a:latin typeface="Calibri" panose="020F0502020204030204"/>
                <a:ea typeface="Calibri" panose="020F0502020204030204"/>
                <a:cs typeface="Calibri" panose="020F0502020204030204"/>
                <a:sym typeface="Calibri" panose="020F0502020204030204"/>
              </a:rPr>
              <a:t>Action: Target orders [-1, 1].</a:t>
            </a:r>
            <a:endParaRPr sz="1800" b="0" i="0" u="none" strike="noStrike" cap="none">
              <a:solidFill>
                <a:srgbClr val="000000"/>
              </a:solidFill>
              <a:latin typeface="Calibri" panose="020F0502020204030204"/>
              <a:ea typeface="Calibri" panose="020F0502020204030204"/>
              <a:cs typeface="Calibri" panose="020F0502020204030204"/>
              <a:sym typeface="Calibri" panose="020F0502020204030204"/>
            </a:endParaRPr>
          </a:p>
          <a:p>
            <a:pPr marL="285750" marR="0" lvl="0" indent="-273050" algn="l" rtl="0">
              <a:spcBef>
                <a:spcPts val="0"/>
              </a:spcBef>
              <a:spcAft>
                <a:spcPts val="0"/>
              </a:spcAft>
              <a:buClr>
                <a:srgbClr val="1C1917"/>
              </a:buClr>
              <a:buSzPts val="1400"/>
              <a:buFont typeface="Arial" panose="020B0604020202090204"/>
              <a:buChar char="•"/>
            </a:pPr>
            <a:r>
              <a:rPr lang="en-US" sz="1800" b="0" i="0" u="none" strike="noStrike" cap="none">
                <a:solidFill>
                  <a:srgbClr val="1C1917"/>
                </a:solidFill>
                <a:latin typeface="Calibri" panose="020F0502020204030204"/>
                <a:ea typeface="Calibri" panose="020F0502020204030204"/>
                <a:cs typeface="Calibri" panose="020F0502020204030204"/>
                <a:sym typeface="Calibri" panose="020F0502020204030204"/>
              </a:rPr>
              <a:t>Reward: Volatility-scaled additive profits.</a:t>
            </a:r>
            <a:endParaRPr sz="1800" b="0" i="0" u="none" strike="noStrike" cap="none">
              <a:solidFill>
                <a:srgbClr val="000000"/>
              </a:solidFill>
              <a:latin typeface="Calibri" panose="020F0502020204030204"/>
              <a:ea typeface="Calibri" panose="020F0502020204030204"/>
              <a:cs typeface="Calibri" panose="020F0502020204030204"/>
              <a:sym typeface="Calibri" panose="020F0502020204030204"/>
            </a:endParaRPr>
          </a:p>
        </p:txBody>
      </p:sp>
      <p:sp>
        <p:nvSpPr>
          <p:cNvPr id="117" name="Google Shape;117;p4"/>
          <p:cNvSpPr/>
          <p:nvPr/>
        </p:nvSpPr>
        <p:spPr>
          <a:xfrm>
            <a:off x="5982155" y="771081"/>
            <a:ext cx="2560200" cy="4572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1C1917"/>
              </a:buClr>
              <a:buSzPts val="1600"/>
              <a:buFont typeface="Calibri" panose="020F0502020204030204"/>
              <a:buNone/>
            </a:pPr>
            <a:r>
              <a:rPr lang="en-US" sz="1600" b="1" i="0" u="none" strike="noStrike" cap="none">
                <a:solidFill>
                  <a:srgbClr val="1C1917"/>
                </a:solidFill>
                <a:latin typeface="Calibri" panose="020F0502020204030204"/>
                <a:ea typeface="Calibri" panose="020F0502020204030204"/>
                <a:cs typeface="Calibri" panose="020F0502020204030204"/>
                <a:sym typeface="Calibri" panose="020F0502020204030204"/>
              </a:rPr>
              <a:t>3. Evaluation Metrics</a:t>
            </a:r>
            <a:endParaRPr sz="1600" b="0" i="0" u="none" strike="noStrike" cap="none">
              <a:solidFill>
                <a:srgbClr val="000000"/>
              </a:solidFill>
              <a:latin typeface="Calibri" panose="020F0502020204030204"/>
              <a:ea typeface="Calibri" panose="020F0502020204030204"/>
              <a:cs typeface="Calibri" panose="020F0502020204030204"/>
              <a:sym typeface="Calibri" panose="020F0502020204030204"/>
            </a:endParaRPr>
          </a:p>
        </p:txBody>
      </p:sp>
      <p:sp>
        <p:nvSpPr>
          <p:cNvPr id="118" name="Google Shape;118;p4"/>
          <p:cNvSpPr/>
          <p:nvPr/>
        </p:nvSpPr>
        <p:spPr>
          <a:xfrm>
            <a:off x="5982335" y="1228090"/>
            <a:ext cx="3489325" cy="144907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1C1917"/>
              </a:buClr>
              <a:buSzPts val="1600"/>
              <a:buFont typeface="Calibri" panose="020F0502020204030204"/>
              <a:buNone/>
            </a:pPr>
            <a:r>
              <a:rPr lang="en-US" sz="1800" b="0" i="0" u="none" strike="noStrike" cap="none">
                <a:solidFill>
                  <a:srgbClr val="1C1917"/>
                </a:solidFill>
                <a:latin typeface="Calibri" panose="020F0502020204030204"/>
                <a:ea typeface="Calibri" panose="020F0502020204030204"/>
                <a:cs typeface="Calibri" panose="020F0502020204030204"/>
                <a:sym typeface="Calibri" panose="020F0502020204030204"/>
              </a:rPr>
              <a:t>Portfolio-level performance assessment.</a:t>
            </a:r>
            <a:endParaRPr sz="1800" b="0" i="0" u="none" strike="noStrike" cap="none">
              <a:solidFill>
                <a:srgbClr val="000000"/>
              </a:solidFill>
              <a:latin typeface="Calibri" panose="020F0502020204030204"/>
              <a:ea typeface="Calibri" panose="020F0502020204030204"/>
              <a:cs typeface="Calibri" panose="020F0502020204030204"/>
              <a:sym typeface="Calibri" panose="020F0502020204030204"/>
            </a:endParaRPr>
          </a:p>
          <a:p>
            <a:pPr marL="285750" marR="0" lvl="0" indent="-273050" algn="l" rtl="0">
              <a:spcBef>
                <a:spcPts val="0"/>
              </a:spcBef>
              <a:spcAft>
                <a:spcPts val="0"/>
              </a:spcAft>
              <a:buClr>
                <a:srgbClr val="1C1917"/>
              </a:buClr>
              <a:buSzPts val="1400"/>
              <a:buFont typeface="Arial" panose="020B0604020202090204"/>
              <a:buChar char="•"/>
            </a:pPr>
            <a:r>
              <a:rPr lang="en-US" sz="1800" b="0" i="0" u="none" strike="noStrike" cap="none">
                <a:solidFill>
                  <a:srgbClr val="1C1917"/>
                </a:solidFill>
                <a:latin typeface="Calibri" panose="020F0502020204030204"/>
                <a:ea typeface="Calibri" panose="020F0502020204030204"/>
                <a:cs typeface="Calibri" panose="020F0502020204030204"/>
                <a:sym typeface="Calibri" panose="020F0502020204030204"/>
              </a:rPr>
              <a:t>Annualised Expected Return</a:t>
            </a:r>
            <a:endParaRPr sz="1800" b="0" i="0" u="none" strike="noStrike" cap="none">
              <a:solidFill>
                <a:srgbClr val="000000"/>
              </a:solidFill>
              <a:latin typeface="Calibri" panose="020F0502020204030204"/>
              <a:ea typeface="Calibri" panose="020F0502020204030204"/>
              <a:cs typeface="Calibri" panose="020F0502020204030204"/>
              <a:sym typeface="Calibri" panose="020F0502020204030204"/>
            </a:endParaRPr>
          </a:p>
          <a:p>
            <a:pPr marL="285750" marR="0" lvl="0" indent="-273050" algn="l" rtl="0">
              <a:spcBef>
                <a:spcPts val="0"/>
              </a:spcBef>
              <a:spcAft>
                <a:spcPts val="0"/>
              </a:spcAft>
              <a:buClr>
                <a:srgbClr val="1C1917"/>
              </a:buClr>
              <a:buSzPts val="1400"/>
              <a:buFont typeface="Arial" panose="020B0604020202090204"/>
              <a:buChar char="•"/>
            </a:pPr>
            <a:r>
              <a:rPr lang="en-US" sz="1800" b="0" i="0" u="none" strike="noStrike" cap="none">
                <a:solidFill>
                  <a:srgbClr val="1C1917"/>
                </a:solidFill>
                <a:latin typeface="Calibri" panose="020F0502020204030204"/>
                <a:ea typeface="Calibri" panose="020F0502020204030204"/>
                <a:cs typeface="Calibri" panose="020F0502020204030204"/>
                <a:sym typeface="Calibri" panose="020F0502020204030204"/>
              </a:rPr>
              <a:t>Sharpe &amp; Sortino Ratios</a:t>
            </a:r>
            <a:endParaRPr sz="1800" b="0" i="0" u="none" strike="noStrike" cap="none">
              <a:solidFill>
                <a:srgbClr val="000000"/>
              </a:solidFill>
              <a:latin typeface="Calibri" panose="020F0502020204030204"/>
              <a:ea typeface="Calibri" panose="020F0502020204030204"/>
              <a:cs typeface="Calibri" panose="020F0502020204030204"/>
              <a:sym typeface="Calibri" panose="020F0502020204030204"/>
            </a:endParaRPr>
          </a:p>
          <a:p>
            <a:pPr marL="285750" marR="0" lvl="0" indent="-273050" algn="l" rtl="0">
              <a:spcBef>
                <a:spcPts val="0"/>
              </a:spcBef>
              <a:spcAft>
                <a:spcPts val="0"/>
              </a:spcAft>
              <a:buClr>
                <a:srgbClr val="1C1917"/>
              </a:buClr>
              <a:buSzPts val="1400"/>
              <a:buFont typeface="Arial" panose="020B0604020202090204"/>
              <a:buChar char="•"/>
            </a:pPr>
            <a:r>
              <a:rPr lang="en-US" sz="1800" b="0" i="0" u="none" strike="noStrike" cap="none">
                <a:solidFill>
                  <a:srgbClr val="1C1917"/>
                </a:solidFill>
                <a:latin typeface="Calibri" panose="020F0502020204030204"/>
                <a:ea typeface="Calibri" panose="020F0502020204030204"/>
                <a:cs typeface="Calibri" panose="020F0502020204030204"/>
                <a:sym typeface="Calibri" panose="020F0502020204030204"/>
              </a:rPr>
              <a:t>Maximum Drawdown (MDD)</a:t>
            </a:r>
            <a:endParaRPr sz="1800" b="0" i="0" u="none" strike="noStrike" cap="none">
              <a:solidFill>
                <a:srgbClr val="000000"/>
              </a:solidFill>
              <a:latin typeface="Calibri" panose="020F0502020204030204"/>
              <a:ea typeface="Calibri" panose="020F0502020204030204"/>
              <a:cs typeface="Calibri" panose="020F0502020204030204"/>
              <a:sym typeface="Calibri" panose="020F0502020204030204"/>
            </a:endParaRPr>
          </a:p>
          <a:p>
            <a:pPr marL="285750" marR="0" lvl="0" indent="-273050" algn="l" rtl="0">
              <a:spcBef>
                <a:spcPts val="0"/>
              </a:spcBef>
              <a:spcAft>
                <a:spcPts val="0"/>
              </a:spcAft>
              <a:buClr>
                <a:srgbClr val="1C1917"/>
              </a:buClr>
              <a:buSzPts val="1400"/>
              <a:buFont typeface="Arial" panose="020B0604020202090204"/>
              <a:buChar char="•"/>
            </a:pPr>
            <a:r>
              <a:rPr lang="en-US" sz="1800" b="0" i="0" u="none" strike="noStrike" cap="none">
                <a:solidFill>
                  <a:srgbClr val="1C1917"/>
                </a:solidFill>
                <a:latin typeface="Calibri" panose="020F0502020204030204"/>
                <a:ea typeface="Calibri" panose="020F0502020204030204"/>
                <a:cs typeface="Calibri" panose="020F0502020204030204"/>
                <a:sym typeface="Calibri" panose="020F0502020204030204"/>
              </a:rPr>
              <a:t>Calmar Ratio</a:t>
            </a:r>
            <a:endParaRPr sz="1800" b="0" i="0" u="none" strike="noStrike" cap="none">
              <a:solidFill>
                <a:srgbClr val="000000"/>
              </a:solidFill>
              <a:latin typeface="Calibri" panose="020F0502020204030204"/>
              <a:ea typeface="Calibri" panose="020F0502020204030204"/>
              <a:cs typeface="Calibri" panose="020F0502020204030204"/>
              <a:sym typeface="Calibri" panose="020F0502020204030204"/>
            </a:endParaRPr>
          </a:p>
        </p:txBody>
      </p:sp>
      <p:sp>
        <p:nvSpPr>
          <p:cNvPr id="119" name="Google Shape;119;p4"/>
          <p:cNvSpPr/>
          <p:nvPr/>
        </p:nvSpPr>
        <p:spPr>
          <a:xfrm>
            <a:off x="536201" y="3029607"/>
            <a:ext cx="1759500" cy="598800"/>
          </a:xfrm>
          <a:prstGeom prst="roundRect">
            <a:avLst>
              <a:gd name="adj" fmla="val 16667"/>
            </a:avLst>
          </a:prstGeom>
          <a:solidFill>
            <a:srgbClr val="0B5394"/>
          </a:solidFill>
          <a:ln w="12700"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Clr>
                <a:schemeClr val="lt1"/>
              </a:buClr>
              <a:buSzPts val="1600"/>
              <a:buFont typeface="Calibri" panose="020F0502020204030204"/>
              <a:buNone/>
            </a:pPr>
            <a:r>
              <a:rPr lang="en-US" sz="1600" b="1" i="0" u="none" strike="noStrike" cap="none">
                <a:solidFill>
                  <a:schemeClr val="lt1"/>
                </a:solidFill>
                <a:latin typeface="Calibri" panose="020F0502020204030204"/>
                <a:ea typeface="Calibri" panose="020F0502020204030204"/>
                <a:cs typeface="Calibri" panose="020F0502020204030204"/>
                <a:sym typeface="Calibri" panose="020F0502020204030204"/>
              </a:rPr>
              <a:t>Market State</a:t>
            </a:r>
            <a:endParaRPr sz="1800" b="1"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a:p>
            <a:pPr marL="0" marR="0" lvl="0" indent="0" algn="ctr" rtl="0">
              <a:spcBef>
                <a:spcPts val="0"/>
              </a:spcBef>
              <a:spcAft>
                <a:spcPts val="0"/>
              </a:spcAft>
              <a:buClr>
                <a:schemeClr val="lt1"/>
              </a:buClr>
              <a:buSzPts val="1600"/>
              <a:buFont typeface="Calibri" panose="020F0502020204030204"/>
              <a:buNone/>
            </a:pPr>
            <a:r>
              <a:rPr lang="en-US" sz="1600" b="1" i="0" u="none" strike="noStrike" cap="none">
                <a:solidFill>
                  <a:schemeClr val="lt1"/>
                </a:solidFill>
                <a:latin typeface="Calibri" panose="020F0502020204030204"/>
                <a:ea typeface="Calibri" panose="020F0502020204030204"/>
                <a:cs typeface="Calibri" panose="020F0502020204030204"/>
                <a:sym typeface="Calibri" panose="020F0502020204030204"/>
              </a:rPr>
              <a:t>Price, Vol, MACD</a:t>
            </a:r>
            <a:endParaRPr sz="1600" b="1"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120" name="Google Shape;120;p4"/>
          <p:cNvSpPr/>
          <p:nvPr/>
        </p:nvSpPr>
        <p:spPr>
          <a:xfrm>
            <a:off x="3080075" y="3029615"/>
            <a:ext cx="2319900" cy="598800"/>
          </a:xfrm>
          <a:prstGeom prst="roundRect">
            <a:avLst>
              <a:gd name="adj" fmla="val 16667"/>
            </a:avLst>
          </a:prstGeom>
          <a:solidFill>
            <a:srgbClr val="0B5394"/>
          </a:solidFill>
          <a:ln w="12700"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Clr>
                <a:schemeClr val="lt1"/>
              </a:buClr>
              <a:buSzPts val="1600"/>
              <a:buFont typeface="Calibri" panose="020F0502020204030204"/>
              <a:buNone/>
            </a:pPr>
            <a:r>
              <a:rPr lang="en-US" sz="1600" b="1" i="0" u="none" strike="noStrike" cap="none">
                <a:solidFill>
                  <a:schemeClr val="lt1"/>
                </a:solidFill>
                <a:latin typeface="Calibri" panose="020F0502020204030204"/>
                <a:ea typeface="Calibri" panose="020F0502020204030204"/>
                <a:cs typeface="Calibri" panose="020F0502020204030204"/>
                <a:sym typeface="Calibri" panose="020F0502020204030204"/>
              </a:rPr>
              <a:t>DRL Agent</a:t>
            </a:r>
            <a:endParaRPr sz="1800" b="1"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a:p>
            <a:pPr marL="0" marR="0" lvl="0" indent="0" algn="ctr" rtl="0">
              <a:spcBef>
                <a:spcPts val="0"/>
              </a:spcBef>
              <a:spcAft>
                <a:spcPts val="0"/>
              </a:spcAft>
              <a:buClr>
                <a:schemeClr val="lt1"/>
              </a:buClr>
              <a:buSzPts val="1600"/>
              <a:buFont typeface="Calibri" panose="020F0502020204030204"/>
              <a:buNone/>
            </a:pPr>
            <a:r>
              <a:rPr lang="en-US" sz="1600" b="1" i="0" u="none" strike="noStrike" cap="none">
                <a:solidFill>
                  <a:schemeClr val="lt1"/>
                </a:solidFill>
                <a:latin typeface="Calibri" panose="020F0502020204030204"/>
                <a:ea typeface="Calibri" panose="020F0502020204030204"/>
                <a:cs typeface="Calibri" panose="020F0502020204030204"/>
                <a:sym typeface="Calibri" panose="020F0502020204030204"/>
              </a:rPr>
              <a:t>(Actor-Critic LSTM)</a:t>
            </a:r>
            <a:endParaRPr sz="1600" b="1"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121" name="Google Shape;121;p4"/>
          <p:cNvSpPr/>
          <p:nvPr/>
        </p:nvSpPr>
        <p:spPr>
          <a:xfrm>
            <a:off x="6184350" y="3010865"/>
            <a:ext cx="2653800" cy="636300"/>
          </a:xfrm>
          <a:prstGeom prst="roundRect">
            <a:avLst>
              <a:gd name="adj" fmla="val 16667"/>
            </a:avLst>
          </a:prstGeom>
          <a:solidFill>
            <a:srgbClr val="0B5394"/>
          </a:solidFill>
          <a:ln w="12700" cap="flat" cmpd="sng">
            <a:solidFill>
              <a:srgbClr val="1C1917"/>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Clr>
                <a:schemeClr val="lt1"/>
              </a:buClr>
              <a:buSzPts val="1600"/>
              <a:buFont typeface="Calibri" panose="020F0502020204030204"/>
              <a:buNone/>
            </a:pPr>
            <a:r>
              <a:rPr lang="en-US" sz="1600" b="1" i="0" u="none" strike="noStrike" cap="none">
                <a:solidFill>
                  <a:schemeClr val="lt1"/>
                </a:solidFill>
                <a:latin typeface="Calibri" panose="020F0502020204030204"/>
                <a:ea typeface="Calibri" panose="020F0502020204030204"/>
                <a:cs typeface="Calibri" panose="020F0502020204030204"/>
                <a:sym typeface="Calibri" panose="020F0502020204030204"/>
              </a:rPr>
              <a:t>Action</a:t>
            </a:r>
            <a:r>
              <a:rPr lang="en-US" sz="1800" b="1" i="0" u="none" strike="noStrike" cap="none">
                <a:solidFill>
                  <a:schemeClr val="lt1"/>
                </a:solidFill>
                <a:latin typeface="Calibri" panose="020F0502020204030204"/>
                <a:ea typeface="Calibri" panose="020F0502020204030204"/>
                <a:cs typeface="Calibri" panose="020F0502020204030204"/>
                <a:sym typeface="Calibri" panose="020F0502020204030204"/>
              </a:rPr>
              <a:t> </a:t>
            </a:r>
            <a:r>
              <a:rPr lang="en-US" sz="1600" b="1" i="0" u="none" strike="noStrike" cap="none">
                <a:solidFill>
                  <a:schemeClr val="lt1"/>
                </a:solidFill>
                <a:latin typeface="Calibri" panose="020F0502020204030204"/>
                <a:ea typeface="Calibri" panose="020F0502020204030204"/>
                <a:cs typeface="Calibri" panose="020F0502020204030204"/>
                <a:sym typeface="Calibri" panose="020F0502020204030204"/>
              </a:rPr>
              <a:t>Portfolio Weights</a:t>
            </a:r>
            <a:endParaRPr sz="1600" b="1"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cxnSp>
        <p:nvCxnSpPr>
          <p:cNvPr id="122" name="Google Shape;122;p4"/>
          <p:cNvCxnSpPr>
            <a:endCxn id="120" idx="1"/>
          </p:cNvCxnSpPr>
          <p:nvPr/>
        </p:nvCxnSpPr>
        <p:spPr>
          <a:xfrm>
            <a:off x="2295575" y="3323915"/>
            <a:ext cx="784500" cy="5100"/>
          </a:xfrm>
          <a:prstGeom prst="straightConnector1">
            <a:avLst/>
          </a:prstGeom>
          <a:noFill/>
          <a:ln w="9525" cap="flat" cmpd="sng">
            <a:solidFill>
              <a:schemeClr val="dk1"/>
            </a:solidFill>
            <a:prstDash val="solid"/>
            <a:miter lim="800000"/>
            <a:headEnd type="none" w="sm" len="sm"/>
            <a:tailEnd type="triangle" w="med" len="med"/>
          </a:ln>
        </p:spPr>
      </p:cxnSp>
      <p:pic>
        <p:nvPicPr>
          <p:cNvPr id="123" name="Google Shape;123;p4" title="Screenshot 2026-03-06 at 3.09.24 PM.png"/>
          <p:cNvPicPr preferRelativeResize="0"/>
          <p:nvPr/>
        </p:nvPicPr>
        <p:blipFill rotWithShape="1">
          <a:blip r:embed="rId3"/>
          <a:srcRect/>
          <a:stretch>
            <a:fillRect/>
          </a:stretch>
        </p:blipFill>
        <p:spPr>
          <a:xfrm>
            <a:off x="446100" y="4857300"/>
            <a:ext cx="7587832" cy="1644200"/>
          </a:xfrm>
          <a:prstGeom prst="rect">
            <a:avLst/>
          </a:prstGeom>
          <a:noFill/>
          <a:ln>
            <a:noFill/>
          </a:ln>
        </p:spPr>
      </p:pic>
      <p:cxnSp>
        <p:nvCxnSpPr>
          <p:cNvPr id="124" name="Google Shape;124;p4"/>
          <p:cNvCxnSpPr/>
          <p:nvPr/>
        </p:nvCxnSpPr>
        <p:spPr>
          <a:xfrm>
            <a:off x="5399975" y="3326465"/>
            <a:ext cx="784500" cy="5100"/>
          </a:xfrm>
          <a:prstGeom prst="straightConnector1">
            <a:avLst/>
          </a:prstGeom>
          <a:noFill/>
          <a:ln w="9525" cap="flat" cmpd="sng">
            <a:solidFill>
              <a:schemeClr val="dk1"/>
            </a:solidFill>
            <a:prstDash val="solid"/>
            <a:miter lim="800000"/>
            <a:headEnd type="none" w="sm" len="sm"/>
            <a:tailEnd type="triangle" w="med" len="med"/>
          </a:ln>
        </p:spPr>
      </p:cxnSp>
      <p:pic>
        <p:nvPicPr>
          <p:cNvPr id="125" name="Google Shape;125;p4"/>
          <p:cNvPicPr preferRelativeResize="0"/>
          <p:nvPr/>
        </p:nvPicPr>
        <p:blipFill>
          <a:blip r:embed="rId4"/>
          <a:stretch>
            <a:fillRect/>
          </a:stretch>
        </p:blipFill>
        <p:spPr>
          <a:xfrm>
            <a:off x="446100" y="3698650"/>
            <a:ext cx="3847875" cy="12832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Google Shape;112;p4">
            <a:extLst>
              <a:ext uri="{FF2B5EF4-FFF2-40B4-BE49-F238E27FC236}">
                <a16:creationId xmlns:a16="http://schemas.microsoft.com/office/drawing/2014/main" id="{EF18E48D-B9E4-97D1-FF39-041252C8440D}"/>
              </a:ext>
            </a:extLst>
          </p:cNvPr>
          <p:cNvSpPr txBox="1">
            <a:spLocks noGrp="1"/>
          </p:cNvSpPr>
          <p:nvPr>
            <p:ph type="title"/>
          </p:nvPr>
        </p:nvSpPr>
        <p:spPr>
          <a:xfrm>
            <a:off x="301351" y="225992"/>
            <a:ext cx="8530950" cy="763500"/>
          </a:xfrm>
          <a:prstGeom prst="rect">
            <a:avLst/>
          </a:prstGeom>
          <a:noFill/>
          <a:ln>
            <a:noFill/>
          </a:ln>
        </p:spPr>
        <p:txBody>
          <a:bodyPr spcFirstLastPara="1" wrap="square" lIns="91425" tIns="45700" rIns="91425" bIns="45700" anchor="ctr" anchorCtr="0">
            <a:normAutofit/>
          </a:bodyPr>
          <a:lstStyle/>
          <a:p>
            <a:pPr lvl="0" algn="l">
              <a:buClr>
                <a:srgbClr val="047857"/>
              </a:buClr>
              <a:buSzPts val="2400"/>
            </a:pPr>
            <a:r>
              <a:rPr lang="en-US" altLang="zh-CN" sz="2400" b="1" dirty="0">
                <a:solidFill>
                  <a:srgbClr val="3D85C6"/>
                </a:solidFill>
                <a:highlight>
                  <a:schemeClr val="lt1"/>
                </a:highlight>
              </a:rPr>
              <a:t>Summary of Original Paper</a:t>
            </a:r>
            <a:r>
              <a:rPr lang="zh-CN" altLang="en-US" sz="2400" b="1" dirty="0">
                <a:solidFill>
                  <a:srgbClr val="3D85C6"/>
                </a:solidFill>
                <a:highlight>
                  <a:schemeClr val="lt1"/>
                </a:highlight>
              </a:rPr>
              <a:t> </a:t>
            </a:r>
            <a:r>
              <a:rPr lang="en-US" altLang="zh-CN" sz="2400" b="1" dirty="0">
                <a:solidFill>
                  <a:srgbClr val="3D85C6"/>
                </a:solidFill>
                <a:highlight>
                  <a:schemeClr val="lt1"/>
                </a:highlight>
              </a:rPr>
              <a:t>–</a:t>
            </a:r>
            <a:r>
              <a:rPr lang="zh-CN" altLang="en-US" sz="2400" b="1" dirty="0">
                <a:solidFill>
                  <a:srgbClr val="3D85C6"/>
                </a:solidFill>
                <a:highlight>
                  <a:schemeClr val="lt1"/>
                </a:highlight>
              </a:rPr>
              <a:t> </a:t>
            </a:r>
            <a:r>
              <a:rPr lang="en-US" altLang="zh-CN" sz="2400" b="1" dirty="0">
                <a:solidFill>
                  <a:srgbClr val="3D85C6"/>
                </a:solidFill>
                <a:highlight>
                  <a:schemeClr val="lt1"/>
                </a:highlight>
              </a:rPr>
              <a:t>Table2</a:t>
            </a:r>
            <a:r>
              <a:rPr lang="zh-CN" altLang="en-US" sz="2400" b="1" dirty="0">
                <a:solidFill>
                  <a:srgbClr val="3D85C6"/>
                </a:solidFill>
                <a:highlight>
                  <a:schemeClr val="lt1"/>
                </a:highlight>
              </a:rPr>
              <a:t> </a:t>
            </a:r>
            <a:r>
              <a:rPr lang="en-US" altLang="zh-CN" sz="2400" b="1" dirty="0">
                <a:solidFill>
                  <a:srgbClr val="3D85C6"/>
                </a:solidFill>
                <a:highlight>
                  <a:schemeClr val="lt1"/>
                </a:highlight>
              </a:rPr>
              <a:t>&amp;</a:t>
            </a:r>
            <a:r>
              <a:rPr lang="zh-CN" altLang="en-US" sz="2400" b="1" dirty="0">
                <a:solidFill>
                  <a:srgbClr val="3D85C6"/>
                </a:solidFill>
                <a:highlight>
                  <a:schemeClr val="lt1"/>
                </a:highlight>
              </a:rPr>
              <a:t> </a:t>
            </a:r>
            <a:r>
              <a:rPr lang="en-US" altLang="zh-CN" sz="2400" b="1" dirty="0">
                <a:solidFill>
                  <a:srgbClr val="3D85C6"/>
                </a:solidFill>
                <a:highlight>
                  <a:schemeClr val="lt1"/>
                </a:highlight>
              </a:rPr>
              <a:t>Table3</a:t>
            </a:r>
            <a:endParaRPr lang="en-US" altLang="zh-CN" sz="2400" dirty="0">
              <a:solidFill>
                <a:srgbClr val="3D85C6"/>
              </a:solidFill>
              <a:highlight>
                <a:schemeClr val="lt1"/>
              </a:highlight>
            </a:endParaRPr>
          </a:p>
        </p:txBody>
      </p:sp>
      <p:pic>
        <p:nvPicPr>
          <p:cNvPr id="16" name="图片 15">
            <a:extLst>
              <a:ext uri="{FF2B5EF4-FFF2-40B4-BE49-F238E27FC236}">
                <a16:creationId xmlns:a16="http://schemas.microsoft.com/office/drawing/2014/main" id="{50F61B2E-0635-7C85-A6A9-6045224DC0E3}"/>
              </a:ext>
            </a:extLst>
          </p:cNvPr>
          <p:cNvPicPr>
            <a:picLocks noChangeAspect="1"/>
          </p:cNvPicPr>
          <p:nvPr/>
        </p:nvPicPr>
        <p:blipFill>
          <a:blip r:embed="rId2"/>
          <a:stretch>
            <a:fillRect/>
          </a:stretch>
        </p:blipFill>
        <p:spPr>
          <a:xfrm>
            <a:off x="153042" y="989492"/>
            <a:ext cx="4424134" cy="5254211"/>
          </a:xfrm>
          <a:prstGeom prst="rect">
            <a:avLst/>
          </a:prstGeom>
        </p:spPr>
      </p:pic>
      <p:pic>
        <p:nvPicPr>
          <p:cNvPr id="17" name="图片 16">
            <a:extLst>
              <a:ext uri="{FF2B5EF4-FFF2-40B4-BE49-F238E27FC236}">
                <a16:creationId xmlns:a16="http://schemas.microsoft.com/office/drawing/2014/main" id="{8482D7EE-050C-BAED-E494-7689DC780515}"/>
              </a:ext>
            </a:extLst>
          </p:cNvPr>
          <p:cNvPicPr>
            <a:picLocks noChangeAspect="1"/>
          </p:cNvPicPr>
          <p:nvPr/>
        </p:nvPicPr>
        <p:blipFill>
          <a:blip r:embed="rId3"/>
          <a:stretch>
            <a:fillRect/>
          </a:stretch>
        </p:blipFill>
        <p:spPr>
          <a:xfrm>
            <a:off x="4577176" y="989492"/>
            <a:ext cx="4419511" cy="525421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1097280"/>
            <a:ext cx="7982043" cy="4939814"/>
          </a:xfrm>
          <a:prstGeom prst="rect">
            <a:avLst/>
          </a:prstGeom>
          <a:noFill/>
        </p:spPr>
        <p:txBody>
          <a:bodyPr wrap="square">
            <a:spAutoFit/>
          </a:bodyPr>
          <a:lstStyle/>
          <a:p>
            <a:pPr marL="285750" indent="-285750">
              <a:lnSpc>
                <a:spcPct val="150000"/>
              </a:lnSpc>
              <a:buClr>
                <a:schemeClr val="bg2"/>
              </a:buClr>
              <a:buSzPct val="50000"/>
              <a:buFont typeface="Wingdings" pitchFamily="2" charset="2"/>
              <a:buChar char="n"/>
            </a:pPr>
            <a:r>
              <a:rPr lang="en" altLang="zh-CN" sz="1800" dirty="0">
                <a:latin typeface="Calibri" panose="020F0502020204030204"/>
                <a:cs typeface="Calibri" panose="020F0502020204030204"/>
              </a:rPr>
              <a:t>With portfolio-level volatility targeting (Table 2), DRL methods (DQN, A2C) achieve the best overall risk-adjusted performance across most asset classes.</a:t>
            </a:r>
          </a:p>
          <a:p>
            <a:pPr marL="285750" indent="-285750">
              <a:lnSpc>
                <a:spcPct val="150000"/>
              </a:lnSpc>
              <a:buClr>
                <a:schemeClr val="bg2"/>
              </a:buClr>
              <a:buSzPct val="50000"/>
              <a:buFont typeface="Wingdings" pitchFamily="2" charset="2"/>
              <a:buChar char="n"/>
            </a:pPr>
            <a:r>
              <a:rPr lang="en" altLang="zh-CN" sz="1800" dirty="0">
                <a:latin typeface="Calibri" panose="020F0502020204030204"/>
                <a:cs typeface="Calibri" panose="020F0502020204030204"/>
              </a:rPr>
              <a:t>﻿﻿DQN delivers the highest Sharpe and Sortino ratios in 4 out of 5 asset classes and overall, with</a:t>
            </a:r>
            <a:br>
              <a:rPr lang="en" altLang="zh-CN" sz="1800" dirty="0">
                <a:latin typeface="Calibri" panose="020F0502020204030204"/>
                <a:cs typeface="Calibri" panose="020F0502020204030204"/>
              </a:rPr>
            </a:br>
            <a:r>
              <a:rPr lang="en" altLang="zh-CN" sz="1800" dirty="0">
                <a:latin typeface="Calibri" panose="020F0502020204030204"/>
                <a:cs typeface="Calibri" panose="020F0502020204030204"/>
              </a:rPr>
              <a:t>Sharpe = 1.288 in the "All" portfolio.</a:t>
            </a:r>
          </a:p>
          <a:p>
            <a:pPr marL="285750" indent="-285750">
              <a:lnSpc>
                <a:spcPct val="150000"/>
              </a:lnSpc>
              <a:buClr>
                <a:schemeClr val="bg2"/>
              </a:buClr>
              <a:buSzPct val="50000"/>
              <a:buFont typeface="Wingdings" pitchFamily="2" charset="2"/>
              <a:buChar char="n"/>
            </a:pPr>
            <a:r>
              <a:rPr lang="en" altLang="zh-CN" sz="1800" dirty="0">
                <a:latin typeface="Calibri" panose="020F0502020204030204"/>
                <a:cs typeface="Calibri" panose="020F0502020204030204"/>
              </a:rPr>
              <a:t>﻿﻿A2C performs best among baselines in Equity Index and ranks second overall.</a:t>
            </a:r>
          </a:p>
          <a:p>
            <a:pPr marL="285750" indent="-285750">
              <a:lnSpc>
                <a:spcPct val="150000"/>
              </a:lnSpc>
              <a:buClr>
                <a:schemeClr val="bg2"/>
              </a:buClr>
              <a:buSzPct val="50000"/>
              <a:buFont typeface="Wingdings" pitchFamily="2" charset="2"/>
              <a:buChar char="n"/>
            </a:pPr>
            <a:r>
              <a:rPr lang="en" altLang="zh-CN" sz="1800" dirty="0">
                <a:latin typeface="Calibri" panose="020F0502020204030204"/>
                <a:cs typeface="Calibri" panose="020F0502020204030204"/>
              </a:rPr>
              <a:t>﻿﻿Without volatility scaling (raw signals, Table 3), returns are generally lower and risk-adjusted performance deteriorates, highlighting the importance of volatility targeting.</a:t>
            </a:r>
          </a:p>
          <a:p>
            <a:pPr marL="285750" indent="-285750">
              <a:lnSpc>
                <a:spcPct val="150000"/>
              </a:lnSpc>
              <a:buClr>
                <a:schemeClr val="bg2"/>
              </a:buClr>
              <a:buSzPct val="50000"/>
              <a:buFont typeface="Wingdings" pitchFamily="2" charset="2"/>
              <a:buChar char="n"/>
            </a:pPr>
            <a:r>
              <a:rPr lang="en" altLang="zh-CN" sz="1800" dirty="0">
                <a:latin typeface="Calibri" panose="020F0502020204030204"/>
                <a:cs typeface="Calibri" panose="020F0502020204030204"/>
              </a:rPr>
              <a:t>﻿﻿DRL models are able to capture large trends while scaling down or holding during consolidation periods, generating positive profits after transaction costs.</a:t>
            </a:r>
          </a:p>
          <a:p>
            <a:pPr>
              <a:defRPr sz="1800">
                <a:latin typeface="Calibri"/>
              </a:defRPr>
            </a:pPr>
            <a:endParaRPr dirty="0"/>
          </a:p>
        </p:txBody>
      </p:sp>
      <p:sp>
        <p:nvSpPr>
          <p:cNvPr id="7" name="Google Shape;112;p4">
            <a:extLst>
              <a:ext uri="{FF2B5EF4-FFF2-40B4-BE49-F238E27FC236}">
                <a16:creationId xmlns:a16="http://schemas.microsoft.com/office/drawing/2014/main" id="{6E32F447-6A5D-C56C-A490-5939DD9B6BFD}"/>
              </a:ext>
            </a:extLst>
          </p:cNvPr>
          <p:cNvSpPr txBox="1">
            <a:spLocks noGrp="1"/>
          </p:cNvSpPr>
          <p:nvPr>
            <p:ph type="title"/>
          </p:nvPr>
        </p:nvSpPr>
        <p:spPr>
          <a:xfrm>
            <a:off x="301351" y="225992"/>
            <a:ext cx="8530950" cy="763500"/>
          </a:xfrm>
          <a:prstGeom prst="rect">
            <a:avLst/>
          </a:prstGeom>
          <a:noFill/>
          <a:ln>
            <a:noFill/>
          </a:ln>
        </p:spPr>
        <p:txBody>
          <a:bodyPr spcFirstLastPara="1" wrap="square" lIns="91425" tIns="45700" rIns="91425" bIns="45700" anchor="ctr" anchorCtr="0">
            <a:normAutofit/>
          </a:bodyPr>
          <a:lstStyle/>
          <a:p>
            <a:pPr>
              <a:buClr>
                <a:srgbClr val="047857"/>
              </a:buClr>
              <a:buSzPts val="2400"/>
            </a:pPr>
            <a:r>
              <a:rPr lang="en-US" altLang="zh-CN" sz="2400" b="1" dirty="0">
                <a:solidFill>
                  <a:srgbClr val="3D85C6"/>
                </a:solidFill>
                <a:highlight>
                  <a:schemeClr val="lt1"/>
                </a:highlight>
              </a:rPr>
              <a:t>Summary of Original </a:t>
            </a:r>
            <a:r>
              <a:rPr lang="en-US" altLang="zh-CN" sz="2400" dirty="0">
                <a:solidFill>
                  <a:srgbClr val="3D85C6"/>
                </a:solidFill>
                <a:highlight>
                  <a:schemeClr val="lt1"/>
                </a:highlight>
              </a:rPr>
              <a:t>Paper</a:t>
            </a:r>
            <a:r>
              <a:rPr lang="zh-CN" altLang="en-US" sz="2400" dirty="0">
                <a:solidFill>
                  <a:srgbClr val="3D85C6"/>
                </a:solidFill>
                <a:highlight>
                  <a:schemeClr val="lt1"/>
                </a:highlight>
              </a:rPr>
              <a:t> </a:t>
            </a:r>
            <a:r>
              <a:rPr lang="en-US" altLang="zh-CN" sz="2400" dirty="0">
                <a:solidFill>
                  <a:srgbClr val="3D85C6"/>
                </a:solidFill>
                <a:highlight>
                  <a:schemeClr val="lt1"/>
                </a:highlight>
              </a:rPr>
              <a:t>–</a:t>
            </a:r>
            <a:r>
              <a:rPr lang="zh-CN" altLang="en-US" sz="2400" dirty="0">
                <a:solidFill>
                  <a:srgbClr val="3D85C6"/>
                </a:solidFill>
                <a:highlight>
                  <a:schemeClr val="lt1"/>
                </a:highlight>
              </a:rPr>
              <a:t> </a:t>
            </a:r>
            <a:r>
              <a:rPr lang="en" altLang="zh-CN" sz="2400" dirty="0">
                <a:solidFill>
                  <a:srgbClr val="3D85C6"/>
                </a:solidFill>
                <a:highlight>
                  <a:schemeClr val="lt1"/>
                </a:highlight>
              </a:rPr>
              <a:t>Table 2 &amp; Table 3</a:t>
            </a:r>
            <a:endParaRPr lang="en-US" altLang="zh-CN" sz="2400" dirty="0">
              <a:solidFill>
                <a:srgbClr val="3D85C6"/>
              </a:solidFill>
              <a:highlight>
                <a:schemeClr val="lt1"/>
              </a:highlight>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05991A-09DF-4966-A210-B1ECF6AB90FC}"/>
            </a:ext>
          </a:extLst>
        </p:cNvPr>
        <p:cNvGrpSpPr/>
        <p:nvPr/>
      </p:nvGrpSpPr>
      <p:grpSpPr>
        <a:xfrm>
          <a:off x="0" y="0"/>
          <a:ext cx="0" cy="0"/>
          <a:chOff x="0" y="0"/>
          <a:chExt cx="0" cy="0"/>
        </a:xfrm>
      </p:grpSpPr>
      <p:sp>
        <p:nvSpPr>
          <p:cNvPr id="7" name="Google Shape;112;p4">
            <a:extLst>
              <a:ext uri="{FF2B5EF4-FFF2-40B4-BE49-F238E27FC236}">
                <a16:creationId xmlns:a16="http://schemas.microsoft.com/office/drawing/2014/main" id="{A0EE6899-C465-8B53-9A8C-39CF0E9B65FC}"/>
              </a:ext>
            </a:extLst>
          </p:cNvPr>
          <p:cNvSpPr txBox="1">
            <a:spLocks noGrp="1"/>
          </p:cNvSpPr>
          <p:nvPr>
            <p:ph type="title"/>
          </p:nvPr>
        </p:nvSpPr>
        <p:spPr>
          <a:xfrm>
            <a:off x="301351" y="225992"/>
            <a:ext cx="8530950" cy="763500"/>
          </a:xfrm>
          <a:prstGeom prst="rect">
            <a:avLst/>
          </a:prstGeom>
          <a:noFill/>
          <a:ln>
            <a:noFill/>
          </a:ln>
        </p:spPr>
        <p:txBody>
          <a:bodyPr spcFirstLastPara="1" wrap="square" lIns="91425" tIns="45700" rIns="91425" bIns="45700" anchor="ctr" anchorCtr="0">
            <a:normAutofit/>
          </a:bodyPr>
          <a:lstStyle/>
          <a:p>
            <a:pPr>
              <a:buClr>
                <a:srgbClr val="047857"/>
              </a:buClr>
              <a:buSzPts val="2400"/>
            </a:pPr>
            <a:r>
              <a:rPr lang="en-US" altLang="zh-CN" sz="2400" dirty="0">
                <a:solidFill>
                  <a:srgbClr val="3D85C6"/>
                </a:solidFill>
                <a:highlight>
                  <a:schemeClr val="lt1"/>
                </a:highlight>
              </a:rPr>
              <a:t>Reproduction</a:t>
            </a:r>
            <a:r>
              <a:rPr lang="zh-CN" altLang="en-US" sz="2400" dirty="0">
                <a:solidFill>
                  <a:srgbClr val="3D85C6"/>
                </a:solidFill>
                <a:highlight>
                  <a:schemeClr val="lt1"/>
                </a:highlight>
              </a:rPr>
              <a:t> </a:t>
            </a:r>
            <a:r>
              <a:rPr lang="en-US" altLang="zh-CN" sz="2400" dirty="0">
                <a:solidFill>
                  <a:srgbClr val="3D85C6"/>
                </a:solidFill>
                <a:highlight>
                  <a:schemeClr val="lt1"/>
                </a:highlight>
              </a:rPr>
              <a:t>Results</a:t>
            </a:r>
          </a:p>
        </p:txBody>
      </p:sp>
      <p:pic>
        <p:nvPicPr>
          <p:cNvPr id="5" name="图片 4" descr="表格&#10;&#10;AI 生成的内容可能不正确。">
            <a:extLst>
              <a:ext uri="{FF2B5EF4-FFF2-40B4-BE49-F238E27FC236}">
                <a16:creationId xmlns:a16="http://schemas.microsoft.com/office/drawing/2014/main" id="{4E262EB5-7A49-2016-061A-E14DB2020566}"/>
              </a:ext>
            </a:extLst>
          </p:cNvPr>
          <p:cNvPicPr>
            <a:picLocks noChangeAspect="1"/>
          </p:cNvPicPr>
          <p:nvPr/>
        </p:nvPicPr>
        <p:blipFill>
          <a:blip r:embed="rId2"/>
          <a:stretch>
            <a:fillRect/>
          </a:stretch>
        </p:blipFill>
        <p:spPr>
          <a:xfrm>
            <a:off x="274314" y="790184"/>
            <a:ext cx="4245540" cy="5660720"/>
          </a:xfrm>
          <a:prstGeom prst="rect">
            <a:avLst/>
          </a:prstGeom>
        </p:spPr>
      </p:pic>
      <p:pic>
        <p:nvPicPr>
          <p:cNvPr id="6" name="图片 5" descr="表格&#10;&#10;AI 生成的内容可能不正确。">
            <a:extLst>
              <a:ext uri="{FF2B5EF4-FFF2-40B4-BE49-F238E27FC236}">
                <a16:creationId xmlns:a16="http://schemas.microsoft.com/office/drawing/2014/main" id="{07EF1BD7-D871-B3B2-BB4F-C4BF226360B4}"/>
              </a:ext>
            </a:extLst>
          </p:cNvPr>
          <p:cNvPicPr>
            <a:picLocks noChangeAspect="1"/>
          </p:cNvPicPr>
          <p:nvPr/>
        </p:nvPicPr>
        <p:blipFill>
          <a:blip r:embed="rId3"/>
          <a:stretch>
            <a:fillRect/>
          </a:stretch>
        </p:blipFill>
        <p:spPr>
          <a:xfrm>
            <a:off x="4624148" y="790185"/>
            <a:ext cx="4159834" cy="5546446"/>
          </a:xfrm>
          <a:prstGeom prst="rect">
            <a:avLst/>
          </a:prstGeom>
        </p:spPr>
      </p:pic>
    </p:spTree>
    <p:extLst>
      <p:ext uri="{BB962C8B-B14F-4D97-AF65-F5344CB8AC3E}">
        <p14:creationId xmlns:p14="http://schemas.microsoft.com/office/powerpoint/2010/main" val="34843422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C15777-0DDC-FFA7-799D-1B4C3BBBD46C}"/>
            </a:ext>
          </a:extLst>
        </p:cNvPr>
        <p:cNvGrpSpPr/>
        <p:nvPr/>
      </p:nvGrpSpPr>
      <p:grpSpPr>
        <a:xfrm>
          <a:off x="0" y="0"/>
          <a:ext cx="0" cy="0"/>
          <a:chOff x="0" y="0"/>
          <a:chExt cx="0" cy="0"/>
        </a:xfrm>
      </p:grpSpPr>
      <p:sp>
        <p:nvSpPr>
          <p:cNvPr id="7" name="Google Shape;112;p4">
            <a:extLst>
              <a:ext uri="{FF2B5EF4-FFF2-40B4-BE49-F238E27FC236}">
                <a16:creationId xmlns:a16="http://schemas.microsoft.com/office/drawing/2014/main" id="{5FF2B419-76D1-4639-01A7-2EE6520ABDCC}"/>
              </a:ext>
            </a:extLst>
          </p:cNvPr>
          <p:cNvSpPr txBox="1">
            <a:spLocks noGrp="1"/>
          </p:cNvSpPr>
          <p:nvPr>
            <p:ph type="title"/>
          </p:nvPr>
        </p:nvSpPr>
        <p:spPr>
          <a:xfrm>
            <a:off x="301351" y="225992"/>
            <a:ext cx="8530950" cy="763500"/>
          </a:xfrm>
          <a:prstGeom prst="rect">
            <a:avLst/>
          </a:prstGeom>
          <a:noFill/>
          <a:ln>
            <a:noFill/>
          </a:ln>
        </p:spPr>
        <p:txBody>
          <a:bodyPr spcFirstLastPara="1" wrap="square" lIns="91425" tIns="45700" rIns="91425" bIns="45700" anchor="ctr" anchorCtr="0">
            <a:normAutofit/>
          </a:bodyPr>
          <a:lstStyle/>
          <a:p>
            <a:pPr>
              <a:buClr>
                <a:srgbClr val="047857"/>
              </a:buClr>
              <a:buSzPts val="2400"/>
            </a:pPr>
            <a:r>
              <a:rPr lang="en-US" altLang="zh-CN" sz="2400" dirty="0">
                <a:solidFill>
                  <a:srgbClr val="3D85C6"/>
                </a:solidFill>
                <a:highlight>
                  <a:schemeClr val="lt1"/>
                </a:highlight>
              </a:rPr>
              <a:t>Differences vs Original</a:t>
            </a:r>
          </a:p>
        </p:txBody>
      </p:sp>
    </p:spTree>
    <p:extLst>
      <p:ext uri="{BB962C8B-B14F-4D97-AF65-F5344CB8AC3E}">
        <p14:creationId xmlns:p14="http://schemas.microsoft.com/office/powerpoint/2010/main" val="11589274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F13C26-7974-99EC-BA05-E3E92160AF9A}"/>
            </a:ext>
          </a:extLst>
        </p:cNvPr>
        <p:cNvGrpSpPr/>
        <p:nvPr/>
      </p:nvGrpSpPr>
      <p:grpSpPr>
        <a:xfrm>
          <a:off x="0" y="0"/>
          <a:ext cx="0" cy="0"/>
          <a:chOff x="0" y="0"/>
          <a:chExt cx="0" cy="0"/>
        </a:xfrm>
      </p:grpSpPr>
      <p:sp>
        <p:nvSpPr>
          <p:cNvPr id="7" name="Google Shape;112;p4">
            <a:extLst>
              <a:ext uri="{FF2B5EF4-FFF2-40B4-BE49-F238E27FC236}">
                <a16:creationId xmlns:a16="http://schemas.microsoft.com/office/drawing/2014/main" id="{CEFFED32-A934-631E-F582-218BEF242DFA}"/>
              </a:ext>
            </a:extLst>
          </p:cNvPr>
          <p:cNvSpPr txBox="1">
            <a:spLocks noGrp="1"/>
          </p:cNvSpPr>
          <p:nvPr>
            <p:ph type="title"/>
          </p:nvPr>
        </p:nvSpPr>
        <p:spPr>
          <a:xfrm>
            <a:off x="301351" y="225992"/>
            <a:ext cx="8530950" cy="763500"/>
          </a:xfrm>
          <a:prstGeom prst="rect">
            <a:avLst/>
          </a:prstGeom>
          <a:noFill/>
          <a:ln>
            <a:noFill/>
          </a:ln>
        </p:spPr>
        <p:txBody>
          <a:bodyPr spcFirstLastPara="1" wrap="square" lIns="91425" tIns="45700" rIns="91425" bIns="45700" anchor="ctr" anchorCtr="0">
            <a:normAutofit/>
          </a:bodyPr>
          <a:lstStyle/>
          <a:p>
            <a:pPr>
              <a:buClr>
                <a:srgbClr val="047857"/>
              </a:buClr>
              <a:buSzPts val="2400"/>
            </a:pPr>
            <a:r>
              <a:rPr lang="en-US" altLang="zh-CN" sz="2400" dirty="0">
                <a:solidFill>
                  <a:srgbClr val="3D85C6"/>
                </a:solidFill>
                <a:highlight>
                  <a:schemeClr val="lt1"/>
                </a:highlight>
              </a:rPr>
              <a:t>Robustness Checks</a:t>
            </a:r>
          </a:p>
        </p:txBody>
      </p:sp>
    </p:spTree>
    <p:extLst>
      <p:ext uri="{BB962C8B-B14F-4D97-AF65-F5344CB8AC3E}">
        <p14:creationId xmlns:p14="http://schemas.microsoft.com/office/powerpoint/2010/main" val="28284427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988786-07B9-8098-1974-3DDEF40D4D94}"/>
            </a:ext>
          </a:extLst>
        </p:cNvPr>
        <p:cNvGrpSpPr/>
        <p:nvPr/>
      </p:nvGrpSpPr>
      <p:grpSpPr>
        <a:xfrm>
          <a:off x="0" y="0"/>
          <a:ext cx="0" cy="0"/>
          <a:chOff x="0" y="0"/>
          <a:chExt cx="0" cy="0"/>
        </a:xfrm>
      </p:grpSpPr>
      <p:sp>
        <p:nvSpPr>
          <p:cNvPr id="7" name="Google Shape;112;p4">
            <a:extLst>
              <a:ext uri="{FF2B5EF4-FFF2-40B4-BE49-F238E27FC236}">
                <a16:creationId xmlns:a16="http://schemas.microsoft.com/office/drawing/2014/main" id="{1367394F-98A3-F75F-39DD-B125B66DCCF5}"/>
              </a:ext>
            </a:extLst>
          </p:cNvPr>
          <p:cNvSpPr txBox="1">
            <a:spLocks noGrp="1"/>
          </p:cNvSpPr>
          <p:nvPr>
            <p:ph type="title"/>
          </p:nvPr>
        </p:nvSpPr>
        <p:spPr>
          <a:xfrm>
            <a:off x="301351" y="225992"/>
            <a:ext cx="8530950" cy="763500"/>
          </a:xfrm>
          <a:prstGeom prst="rect">
            <a:avLst/>
          </a:prstGeom>
          <a:noFill/>
          <a:ln>
            <a:noFill/>
          </a:ln>
        </p:spPr>
        <p:txBody>
          <a:bodyPr spcFirstLastPara="1" wrap="square" lIns="91425" tIns="45700" rIns="91425" bIns="45700" anchor="ctr" anchorCtr="0">
            <a:normAutofit/>
          </a:bodyPr>
          <a:lstStyle/>
          <a:p>
            <a:pPr>
              <a:buClr>
                <a:srgbClr val="047857"/>
              </a:buClr>
              <a:buSzPts val="2400"/>
            </a:pPr>
            <a:r>
              <a:rPr lang="en-US" altLang="zh-CN" sz="2400" dirty="0">
                <a:solidFill>
                  <a:srgbClr val="3D85C6"/>
                </a:solidFill>
                <a:highlight>
                  <a:schemeClr val="lt1"/>
                </a:highlight>
              </a:rPr>
              <a:t>Risk diagnostics</a:t>
            </a:r>
          </a:p>
        </p:txBody>
      </p:sp>
      <p:pic>
        <p:nvPicPr>
          <p:cNvPr id="3" name="图片 2" descr="表格&#10;&#10;AI 生成的内容可能不正确。">
            <a:extLst>
              <a:ext uri="{FF2B5EF4-FFF2-40B4-BE49-F238E27FC236}">
                <a16:creationId xmlns:a16="http://schemas.microsoft.com/office/drawing/2014/main" id="{57E3C1D3-3FE9-B878-6051-8B16E7E5F5B8}"/>
              </a:ext>
            </a:extLst>
          </p:cNvPr>
          <p:cNvPicPr>
            <a:picLocks noChangeAspect="1"/>
          </p:cNvPicPr>
          <p:nvPr/>
        </p:nvPicPr>
        <p:blipFill rotWithShape="1">
          <a:blip r:embed="rId2"/>
          <a:srcRect l="12077" t="7943" r="11210"/>
          <a:stretch>
            <a:fillRect/>
          </a:stretch>
        </p:blipFill>
        <p:spPr>
          <a:xfrm>
            <a:off x="1027253" y="789075"/>
            <a:ext cx="7079145" cy="4776000"/>
          </a:xfrm>
          <a:prstGeom prst="rect">
            <a:avLst/>
          </a:prstGeom>
        </p:spPr>
      </p:pic>
      <p:sp>
        <p:nvSpPr>
          <p:cNvPr id="5" name="文本框 4">
            <a:extLst>
              <a:ext uri="{FF2B5EF4-FFF2-40B4-BE49-F238E27FC236}">
                <a16:creationId xmlns:a16="http://schemas.microsoft.com/office/drawing/2014/main" id="{9588A535-6669-83E1-0E33-4241DF553489}"/>
              </a:ext>
            </a:extLst>
          </p:cNvPr>
          <p:cNvSpPr txBox="1"/>
          <p:nvPr/>
        </p:nvSpPr>
        <p:spPr>
          <a:xfrm>
            <a:off x="755781" y="5484149"/>
            <a:ext cx="7622087" cy="1169551"/>
          </a:xfrm>
          <a:prstGeom prst="rect">
            <a:avLst/>
          </a:prstGeom>
          <a:noFill/>
        </p:spPr>
        <p:txBody>
          <a:bodyPr wrap="square">
            <a:spAutoFit/>
          </a:bodyPr>
          <a:lstStyle/>
          <a:p>
            <a:pPr algn="just"/>
            <a:r>
              <a:rPr lang="en" altLang="zh-CN" dirty="0">
                <a:latin typeface="Calibri" panose="020F0502020204030204" pitchFamily="34" charset="0"/>
                <a:cs typeface="Calibri" panose="020F0502020204030204" pitchFamily="34" charset="0"/>
              </a:rPr>
              <a:t>The diagnostic table shows that Sharpe performance is mainly driven by E(R), since volatility is fixed around the portfolio target. Positive Sharpe only appears when the strategy generates positive expected returns, mainly in Equity Index and Fixed Income. In contrast, Commodity, FX, and the All portfolio show mostly negative E(R) and Sharpe, suggesting weak return generation rather than excessive volatility as the main source of underperformance.</a:t>
            </a:r>
            <a:endParaRPr lang="zh-CN" altLang="en-US"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57984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p4"/>
          <p:cNvSpPr txBox="1">
            <a:spLocks noGrp="1"/>
          </p:cNvSpPr>
          <p:nvPr>
            <p:ph type="title"/>
          </p:nvPr>
        </p:nvSpPr>
        <p:spPr>
          <a:xfrm>
            <a:off x="311700" y="-55433"/>
            <a:ext cx="8520600" cy="763500"/>
          </a:xfrm>
          <a:prstGeom prst="rect">
            <a:avLst/>
          </a:prstGeom>
          <a:noFill/>
          <a:ln>
            <a:noFill/>
          </a:ln>
        </p:spPr>
        <p:txBody>
          <a:bodyPr spcFirstLastPara="1" wrap="square" lIns="91425" tIns="45700" rIns="91425" bIns="45700" anchor="ctr" anchorCtr="0">
            <a:normAutofit/>
          </a:bodyPr>
          <a:lstStyle/>
          <a:p>
            <a:pPr marL="0" lvl="0" indent="0" algn="l" rtl="0">
              <a:spcBef>
                <a:spcPts val="0"/>
              </a:spcBef>
              <a:spcAft>
                <a:spcPts val="0"/>
              </a:spcAft>
              <a:buClr>
                <a:srgbClr val="047857"/>
              </a:buClr>
              <a:buSzPts val="2400"/>
              <a:buFont typeface="Calibri" panose="020F0502020204030204"/>
              <a:buNone/>
            </a:pPr>
            <a:r>
              <a:rPr lang="en-US" sz="2400" b="1" dirty="0">
                <a:solidFill>
                  <a:srgbClr val="3D85C6"/>
                </a:solidFill>
                <a:latin typeface="Calibri" panose="020F0502020204030204"/>
                <a:ea typeface="Calibri" panose="020F0502020204030204"/>
                <a:cs typeface="Calibri" panose="020F0502020204030204"/>
                <a:sym typeface="Calibri" panose="020F0502020204030204"/>
              </a:rPr>
              <a:t>Extension</a:t>
            </a:r>
            <a:r>
              <a:rPr lang="zh-CN" altLang="en-US" sz="2400" b="1" dirty="0">
                <a:solidFill>
                  <a:srgbClr val="3D85C6"/>
                </a:solidFill>
              </a:rPr>
              <a:t> </a:t>
            </a:r>
            <a:r>
              <a:rPr lang="en-US" altLang="zh-CN" sz="2400" b="1" dirty="0">
                <a:solidFill>
                  <a:srgbClr val="3D85C6"/>
                </a:solidFill>
              </a:rPr>
              <a:t>-</a:t>
            </a:r>
            <a:r>
              <a:rPr lang="zh-CN" altLang="en-US" sz="2400" b="1" dirty="0">
                <a:solidFill>
                  <a:srgbClr val="3D85C6"/>
                </a:solidFill>
              </a:rPr>
              <a:t> </a:t>
            </a:r>
            <a:r>
              <a:rPr lang="en-US" sz="2400" b="1" dirty="0">
                <a:solidFill>
                  <a:srgbClr val="3D85C6"/>
                </a:solidFill>
                <a:latin typeface="Calibri" panose="020F0502020204030204"/>
                <a:ea typeface="Calibri" panose="020F0502020204030204"/>
                <a:cs typeface="Calibri" panose="020F0502020204030204"/>
                <a:sym typeface="Calibri" panose="020F0502020204030204"/>
              </a:rPr>
              <a:t>Regime Detection:</a:t>
            </a:r>
            <a:endParaRPr lang="en-US" sz="2400" dirty="0">
              <a:solidFill>
                <a:srgbClr val="3D85C6"/>
              </a:solidFill>
              <a:latin typeface="Calibri" panose="020F0502020204030204"/>
              <a:ea typeface="Calibri" panose="020F0502020204030204"/>
              <a:cs typeface="Calibri" panose="020F0502020204030204"/>
              <a:sym typeface="Calibri" panose="020F0502020204030204"/>
            </a:endParaRPr>
          </a:p>
        </p:txBody>
      </p:sp>
      <p:sp>
        <p:nvSpPr>
          <p:cNvPr id="9" name="Google Shape;84;p3"/>
          <p:cNvSpPr/>
          <p:nvPr/>
        </p:nvSpPr>
        <p:spPr>
          <a:xfrm>
            <a:off x="440288" y="1441292"/>
            <a:ext cx="1759500" cy="598800"/>
          </a:xfrm>
          <a:prstGeom prst="roundRect">
            <a:avLst>
              <a:gd name="adj" fmla="val 16667"/>
            </a:avLst>
          </a:prstGeom>
          <a:solidFill>
            <a:srgbClr val="0B5394"/>
          </a:solidFill>
          <a:ln w="12700"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b="1" dirty="0">
                <a:solidFill>
                  <a:schemeClr val="lt1"/>
                </a:solidFill>
                <a:latin typeface="Calibri" panose="020F0502020204030204"/>
                <a:cs typeface="Calibri" panose="020F0502020204030204"/>
                <a:sym typeface="Calibri" panose="020F0502020204030204"/>
              </a:rPr>
              <a:t>Load Data of 50 Contracts</a:t>
            </a:r>
            <a:endParaRPr b="1" dirty="0">
              <a:solidFill>
                <a:schemeClr val="lt1"/>
              </a:solidFill>
            </a:endParaRPr>
          </a:p>
        </p:txBody>
      </p:sp>
      <p:cxnSp>
        <p:nvCxnSpPr>
          <p:cNvPr id="10" name="Google Shape;87;p3"/>
          <p:cNvCxnSpPr>
            <a:stCxn id="9" idx="3"/>
            <a:endCxn id="11" idx="1"/>
          </p:cNvCxnSpPr>
          <p:nvPr/>
        </p:nvCxnSpPr>
        <p:spPr>
          <a:xfrm>
            <a:off x="2199788" y="1740692"/>
            <a:ext cx="539539" cy="1319"/>
          </a:xfrm>
          <a:prstGeom prst="straightConnector1">
            <a:avLst/>
          </a:prstGeom>
          <a:noFill/>
          <a:ln w="9525" cap="flat" cmpd="sng">
            <a:solidFill>
              <a:schemeClr val="dk1"/>
            </a:solidFill>
            <a:prstDash val="solid"/>
            <a:miter lim="800000"/>
            <a:headEnd type="none" w="sm" len="sm"/>
            <a:tailEnd type="triangle" w="med" len="med"/>
          </a:ln>
        </p:spPr>
      </p:cxnSp>
      <p:sp>
        <p:nvSpPr>
          <p:cNvPr id="11" name="Google Shape;84;p3"/>
          <p:cNvSpPr/>
          <p:nvPr/>
        </p:nvSpPr>
        <p:spPr>
          <a:xfrm>
            <a:off x="2739327" y="1075742"/>
            <a:ext cx="2430801" cy="1332538"/>
          </a:xfrm>
          <a:prstGeom prst="roundRect">
            <a:avLst>
              <a:gd name="adj" fmla="val 16667"/>
            </a:avLst>
          </a:prstGeom>
          <a:solidFill>
            <a:srgbClr val="0B5394"/>
          </a:solidFill>
          <a:ln w="12700"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algn="ctr"/>
            <a:r>
              <a:rPr lang="en-GB" altLang="zh-CN" b="1" dirty="0">
                <a:solidFill>
                  <a:schemeClr val="lt1"/>
                </a:solidFill>
                <a:latin typeface="Calibri" panose="020F0502020204030204"/>
                <a:cs typeface="Calibri" panose="020F0502020204030204"/>
              </a:rPr>
              <a:t>Build State Matrices</a:t>
            </a:r>
          </a:p>
          <a:p>
            <a:pPr algn="ctr"/>
            <a:r>
              <a:rPr lang="en-GB" altLang="zh-CN" b="1" dirty="0">
                <a:solidFill>
                  <a:schemeClr val="lt1"/>
                </a:solidFill>
                <a:latin typeface="Calibri" panose="020F0502020204030204"/>
                <a:cs typeface="Calibri" panose="020F0502020204030204"/>
              </a:rPr>
              <a:t>For each asset at each time point</a:t>
            </a:r>
          </a:p>
          <a:p>
            <a:pPr algn="ctr"/>
            <a:r>
              <a:rPr lang="en-GB" altLang="zh-CN" b="1" dirty="0">
                <a:solidFill>
                  <a:schemeClr val="lt1"/>
                </a:solidFill>
                <a:latin typeface="Calibri" panose="020F0502020204030204"/>
                <a:cs typeface="Calibri" panose="020F0502020204030204"/>
              </a:rPr>
              <a:t>Construct 60x9 matrix</a:t>
            </a:r>
          </a:p>
        </p:txBody>
      </p:sp>
      <p:sp>
        <p:nvSpPr>
          <p:cNvPr id="16" name="Google Shape;84;p3"/>
          <p:cNvSpPr/>
          <p:nvPr/>
        </p:nvSpPr>
        <p:spPr>
          <a:xfrm>
            <a:off x="5709668" y="1051046"/>
            <a:ext cx="2994044" cy="1368788"/>
          </a:xfrm>
          <a:prstGeom prst="roundRect">
            <a:avLst>
              <a:gd name="adj" fmla="val 16667"/>
            </a:avLst>
          </a:prstGeom>
          <a:solidFill>
            <a:srgbClr val="0B5394"/>
          </a:solidFill>
          <a:ln w="12700"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algn="ctr"/>
            <a:r>
              <a:rPr lang="en-GB" altLang="zh-CN" sz="1400" b="1" dirty="0">
                <a:solidFill>
                  <a:schemeClr val="lt1"/>
                </a:solidFill>
                <a:latin typeface="Calibri" panose="020F0502020204030204"/>
                <a:cs typeface="Calibri" panose="020F0502020204030204"/>
              </a:rPr>
              <a:t>Extract FFT Features</a:t>
            </a:r>
          </a:p>
          <a:p>
            <a:pPr algn="ctr"/>
            <a:r>
              <a:rPr lang="en-GB" altLang="zh-CN" sz="1400" b="1" dirty="0">
                <a:solidFill>
                  <a:schemeClr val="lt1"/>
                </a:solidFill>
                <a:latin typeface="Calibri" panose="020F0502020204030204"/>
                <a:cs typeface="Calibri" panose="020F0502020204030204"/>
              </a:rPr>
              <a:t>9 columns independent FFT → 10</a:t>
            </a:r>
          </a:p>
          <a:p>
            <a:pPr algn="ctr"/>
            <a:r>
              <a:rPr lang="en-GB" altLang="zh-CN" sz="1400" b="1" dirty="0">
                <a:solidFill>
                  <a:schemeClr val="lt1"/>
                </a:solidFill>
                <a:latin typeface="Calibri" panose="020F0502020204030204"/>
                <a:cs typeface="Calibri" panose="020F0502020204030204"/>
              </a:rPr>
              <a:t>Real + 10 Imaginary</a:t>
            </a:r>
          </a:p>
          <a:p>
            <a:pPr algn="ctr"/>
            <a:r>
              <a:rPr lang="en-GB" altLang="zh-CN" sz="1400" b="1" dirty="0">
                <a:solidFill>
                  <a:schemeClr val="lt1"/>
                </a:solidFill>
                <a:latin typeface="Calibri" panose="020F0502020204030204"/>
                <a:cs typeface="Calibri" panose="020F0502020204030204"/>
              </a:rPr>
              <a:t>= 180-dimensional vector</a:t>
            </a:r>
          </a:p>
        </p:txBody>
      </p:sp>
      <p:sp>
        <p:nvSpPr>
          <p:cNvPr id="17" name="Google Shape;84;p3"/>
          <p:cNvSpPr/>
          <p:nvPr/>
        </p:nvSpPr>
        <p:spPr>
          <a:xfrm>
            <a:off x="3300408" y="2915560"/>
            <a:ext cx="2540023" cy="1332538"/>
          </a:xfrm>
          <a:prstGeom prst="roundRect">
            <a:avLst>
              <a:gd name="adj" fmla="val 16667"/>
            </a:avLst>
          </a:prstGeom>
          <a:solidFill>
            <a:srgbClr val="0B5394"/>
          </a:solidFill>
          <a:ln w="12700"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algn="ctr"/>
            <a:r>
              <a:rPr lang="en-GB" altLang="zh-CN" b="1" dirty="0">
                <a:solidFill>
                  <a:schemeClr val="lt1"/>
                </a:solidFill>
                <a:latin typeface="Calibri" panose="020F0502020204030204"/>
                <a:cs typeface="Calibri" panose="020F0502020204030204"/>
              </a:rPr>
              <a:t>GMM Clustering</a:t>
            </a:r>
          </a:p>
          <a:p>
            <a:pPr algn="ctr"/>
            <a:r>
              <a:rPr lang="en-GB" altLang="zh-CN" b="1" dirty="0" err="1">
                <a:solidFill>
                  <a:schemeClr val="lt1"/>
                </a:solidFill>
                <a:latin typeface="Calibri" panose="020F0502020204030204"/>
                <a:cs typeface="Calibri" panose="020F0502020204030204"/>
              </a:rPr>
              <a:t>n_components</a:t>
            </a:r>
            <a:r>
              <a:rPr lang="en-GB" altLang="zh-CN" b="1" dirty="0">
                <a:solidFill>
                  <a:schemeClr val="lt1"/>
                </a:solidFill>
                <a:latin typeface="Calibri" panose="020F0502020204030204"/>
                <a:cs typeface="Calibri" panose="020F0502020204030204"/>
              </a:rPr>
              <a:t> = 3</a:t>
            </a:r>
          </a:p>
          <a:p>
            <a:pPr algn="ctr"/>
            <a:r>
              <a:rPr lang="en-GB" altLang="zh-CN" b="1" dirty="0">
                <a:solidFill>
                  <a:schemeClr val="lt1"/>
                </a:solidFill>
                <a:latin typeface="Calibri" panose="020F0502020204030204"/>
                <a:cs typeface="Calibri" panose="020F0502020204030204"/>
              </a:rPr>
              <a:t>Fit Gaussian Mixture Model</a:t>
            </a:r>
          </a:p>
        </p:txBody>
      </p:sp>
      <p:sp>
        <p:nvSpPr>
          <p:cNvPr id="18" name="Google Shape;84;p3"/>
          <p:cNvSpPr/>
          <p:nvPr/>
        </p:nvSpPr>
        <p:spPr>
          <a:xfrm>
            <a:off x="3802039" y="4606014"/>
            <a:ext cx="1536764" cy="685957"/>
          </a:xfrm>
          <a:prstGeom prst="roundRect">
            <a:avLst>
              <a:gd name="adj" fmla="val 16667"/>
            </a:avLst>
          </a:prstGeom>
          <a:solidFill>
            <a:srgbClr val="0B5394"/>
          </a:solidFill>
          <a:ln w="12700"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algn="ctr"/>
            <a:r>
              <a:rPr lang="en-GB" altLang="zh-CN" b="1" dirty="0">
                <a:solidFill>
                  <a:schemeClr val="lt1"/>
                </a:solidFill>
                <a:latin typeface="Calibri" panose="020F0502020204030204"/>
                <a:cs typeface="Calibri" panose="020F0502020204030204"/>
              </a:rPr>
              <a:t>Output Regime</a:t>
            </a:r>
          </a:p>
        </p:txBody>
      </p:sp>
      <p:sp>
        <p:nvSpPr>
          <p:cNvPr id="19" name="Google Shape;84;p3"/>
          <p:cNvSpPr/>
          <p:nvPr/>
        </p:nvSpPr>
        <p:spPr>
          <a:xfrm>
            <a:off x="1217013" y="5523576"/>
            <a:ext cx="2292671" cy="937764"/>
          </a:xfrm>
          <a:prstGeom prst="roundRect">
            <a:avLst>
              <a:gd name="adj" fmla="val 16667"/>
            </a:avLst>
          </a:prstGeom>
          <a:solidFill>
            <a:srgbClr val="0B5394"/>
          </a:solidFill>
          <a:ln w="12700"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algn="ctr"/>
            <a:r>
              <a:rPr lang="en-GB" altLang="zh-CN" b="1" dirty="0">
                <a:solidFill>
                  <a:schemeClr val="lt1"/>
                </a:solidFill>
                <a:latin typeface="Calibri" panose="020F0502020204030204"/>
                <a:cs typeface="Calibri" panose="020F0502020204030204"/>
              </a:rPr>
              <a:t>Hard Labels: predict() Each time point → 0/1/2</a:t>
            </a:r>
          </a:p>
        </p:txBody>
      </p:sp>
      <p:sp>
        <p:nvSpPr>
          <p:cNvPr id="20" name="Google Shape;84;p3"/>
          <p:cNvSpPr/>
          <p:nvPr/>
        </p:nvSpPr>
        <p:spPr>
          <a:xfrm>
            <a:off x="5725101" y="5424883"/>
            <a:ext cx="2413062" cy="1135151"/>
          </a:xfrm>
          <a:prstGeom prst="roundRect">
            <a:avLst>
              <a:gd name="adj" fmla="val 16667"/>
            </a:avLst>
          </a:prstGeom>
          <a:solidFill>
            <a:srgbClr val="0B5394"/>
          </a:solidFill>
          <a:ln w="12700"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algn="ctr"/>
            <a:r>
              <a:rPr lang="en-GB" altLang="zh-CN" b="1" dirty="0">
                <a:solidFill>
                  <a:schemeClr val="lt1"/>
                </a:solidFill>
                <a:latin typeface="Calibri" panose="020F0502020204030204"/>
                <a:cs typeface="Calibri" panose="020F0502020204030204"/>
              </a:rPr>
              <a:t>Soft</a:t>
            </a:r>
            <a:r>
              <a:rPr lang="zh-CN" altLang="en-US" b="1" dirty="0">
                <a:solidFill>
                  <a:schemeClr val="lt1"/>
                </a:solidFill>
                <a:latin typeface="Calibri" panose="020F0502020204030204"/>
                <a:cs typeface="Calibri" panose="020F0502020204030204"/>
              </a:rPr>
              <a:t> </a:t>
            </a:r>
            <a:r>
              <a:rPr lang="en-GB" altLang="zh-CN" b="1" dirty="0">
                <a:solidFill>
                  <a:schemeClr val="lt1"/>
                </a:solidFill>
                <a:latin typeface="Calibri" panose="020F0502020204030204"/>
                <a:cs typeface="Calibri" panose="020F0502020204030204"/>
              </a:rPr>
              <a:t>Prob: </a:t>
            </a:r>
            <a:r>
              <a:rPr lang="en-GB" altLang="zh-CN" b="1" dirty="0" err="1">
                <a:solidFill>
                  <a:schemeClr val="lt1"/>
                </a:solidFill>
                <a:latin typeface="Calibri" panose="020F0502020204030204"/>
                <a:cs typeface="Calibri" panose="020F0502020204030204"/>
              </a:rPr>
              <a:t>predict_proba</a:t>
            </a:r>
            <a:r>
              <a:rPr lang="en-GB" altLang="zh-CN" b="1" dirty="0">
                <a:solidFill>
                  <a:schemeClr val="lt1"/>
                </a:solidFill>
                <a:latin typeface="Calibri" panose="020F0502020204030204"/>
                <a:cs typeface="Calibri" panose="020F0502020204030204"/>
              </a:rPr>
              <a:t>() Each time point → P = [p0, p1, p2]</a:t>
            </a:r>
          </a:p>
        </p:txBody>
      </p:sp>
      <p:cxnSp>
        <p:nvCxnSpPr>
          <p:cNvPr id="21" name="Google Shape;87;p3"/>
          <p:cNvCxnSpPr>
            <a:cxnSpLocks/>
            <a:stCxn id="11" idx="3"/>
            <a:endCxn id="16" idx="1"/>
          </p:cNvCxnSpPr>
          <p:nvPr/>
        </p:nvCxnSpPr>
        <p:spPr>
          <a:xfrm flipV="1">
            <a:off x="5170128" y="1735440"/>
            <a:ext cx="539540" cy="6571"/>
          </a:xfrm>
          <a:prstGeom prst="straightConnector1">
            <a:avLst/>
          </a:prstGeom>
          <a:noFill/>
          <a:ln w="9525" cap="flat" cmpd="sng">
            <a:solidFill>
              <a:schemeClr val="dk1"/>
            </a:solidFill>
            <a:prstDash val="solid"/>
            <a:miter lim="800000"/>
            <a:headEnd type="none" w="sm" len="sm"/>
            <a:tailEnd type="triangle" w="med" len="med"/>
          </a:ln>
        </p:spPr>
      </p:cxnSp>
      <p:cxnSp>
        <p:nvCxnSpPr>
          <p:cNvPr id="30" name="曲线连接符 29"/>
          <p:cNvCxnSpPr>
            <a:stCxn id="18" idx="1"/>
            <a:endCxn id="19" idx="0"/>
          </p:cNvCxnSpPr>
          <p:nvPr/>
        </p:nvCxnSpPr>
        <p:spPr>
          <a:xfrm rot="10800000" flipV="1">
            <a:off x="2363349" y="4948992"/>
            <a:ext cx="1438690" cy="574583"/>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曲线连接符 30"/>
          <p:cNvCxnSpPr>
            <a:stCxn id="18" idx="3"/>
            <a:endCxn id="20" idx="0"/>
          </p:cNvCxnSpPr>
          <p:nvPr/>
        </p:nvCxnSpPr>
        <p:spPr>
          <a:xfrm>
            <a:off x="5338803" y="4948993"/>
            <a:ext cx="1592829" cy="475890"/>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0" name="Google Shape;87;p3"/>
          <p:cNvCxnSpPr>
            <a:cxnSpLocks/>
            <a:stCxn id="69" idx="2"/>
            <a:endCxn id="17" idx="0"/>
          </p:cNvCxnSpPr>
          <p:nvPr/>
        </p:nvCxnSpPr>
        <p:spPr>
          <a:xfrm flipH="1">
            <a:off x="4570420" y="2609903"/>
            <a:ext cx="1" cy="305657"/>
          </a:xfrm>
          <a:prstGeom prst="straightConnector1">
            <a:avLst/>
          </a:prstGeom>
          <a:noFill/>
          <a:ln w="9525" cap="flat" cmpd="sng">
            <a:solidFill>
              <a:schemeClr val="dk1"/>
            </a:solidFill>
            <a:prstDash val="solid"/>
            <a:miter lim="800000"/>
            <a:headEnd type="none" w="sm" len="sm"/>
            <a:tailEnd type="triangle" w="med" len="med"/>
          </a:ln>
        </p:spPr>
      </p:cxnSp>
      <p:cxnSp>
        <p:nvCxnSpPr>
          <p:cNvPr id="63" name="Google Shape;87;p3"/>
          <p:cNvCxnSpPr>
            <a:cxnSpLocks/>
            <a:stCxn id="17" idx="2"/>
            <a:endCxn id="18" idx="0"/>
          </p:cNvCxnSpPr>
          <p:nvPr/>
        </p:nvCxnSpPr>
        <p:spPr>
          <a:xfrm>
            <a:off x="4570420" y="4248098"/>
            <a:ext cx="1" cy="357916"/>
          </a:xfrm>
          <a:prstGeom prst="straightConnector1">
            <a:avLst/>
          </a:prstGeom>
          <a:noFill/>
          <a:ln w="9525" cap="flat" cmpd="sng">
            <a:solidFill>
              <a:schemeClr val="dk1"/>
            </a:solidFill>
            <a:prstDash val="solid"/>
            <a:miter lim="800000"/>
            <a:headEnd type="none" w="sm" len="sm"/>
            <a:tailEnd type="triangle" w="med" len="med"/>
          </a:ln>
        </p:spPr>
      </p:cxnSp>
      <p:sp>
        <p:nvSpPr>
          <p:cNvPr id="69" name="圆角矩形 68"/>
          <p:cNvSpPr/>
          <p:nvPr/>
        </p:nvSpPr>
        <p:spPr>
          <a:xfrm>
            <a:off x="247139" y="909690"/>
            <a:ext cx="8646563" cy="1700213"/>
          </a:xfrm>
          <a:prstGeom prst="roundRect">
            <a:avLst/>
          </a:prstGeom>
          <a:noFill/>
          <a:ln>
            <a:solidFill>
              <a:srgbClr val="00206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3" name="Google Shape;203;p11"/>
          <p:cNvSpPr/>
          <p:nvPr/>
        </p:nvSpPr>
        <p:spPr>
          <a:xfrm>
            <a:off x="666995" y="1709390"/>
            <a:ext cx="1310975" cy="1029867"/>
          </a:xfrm>
          <a:prstGeom prst="roundRect">
            <a:avLst>
              <a:gd name="adj" fmla="val 16667"/>
            </a:avLst>
          </a:prstGeom>
          <a:solidFill>
            <a:srgbClr val="0B5394"/>
          </a:solidFill>
          <a:ln w="12700"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Clr>
                <a:schemeClr val="lt1"/>
              </a:buClr>
              <a:buSzPts val="1100"/>
              <a:buFont typeface="Calibri" panose="020F0502020204030204"/>
              <a:buNone/>
            </a:pPr>
            <a:r>
              <a:rPr lang="en-US" sz="1100" b="1" i="0" u="none" strike="noStrike" cap="none">
                <a:solidFill>
                  <a:schemeClr val="lt1"/>
                </a:solidFill>
                <a:latin typeface="Calibri" panose="020F0502020204030204"/>
                <a:ea typeface="Calibri" panose="020F0502020204030204"/>
                <a:cs typeface="Calibri" panose="020F0502020204030204"/>
                <a:sym typeface="Calibri" panose="020F0502020204030204"/>
              </a:rPr>
              <a:t>Get Regime Soft Probabilities predict_proab</a:t>
            </a:r>
            <a:endParaRPr sz="1100" b="1"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a:p>
            <a:pPr marL="0" marR="0" lvl="0" indent="0" algn="ctr" rtl="0">
              <a:spcBef>
                <a:spcPts val="0"/>
              </a:spcBef>
              <a:spcAft>
                <a:spcPts val="0"/>
              </a:spcAft>
              <a:buClr>
                <a:schemeClr val="lt1"/>
              </a:buClr>
              <a:buSzPts val="1100"/>
              <a:buFont typeface="Calibri" panose="020F0502020204030204"/>
              <a:buNone/>
            </a:pPr>
            <a:r>
              <a:rPr lang="en-US" sz="1100" b="1" i="0" u="none" strike="noStrike" cap="none">
                <a:solidFill>
                  <a:schemeClr val="lt1"/>
                </a:solidFill>
                <a:latin typeface="Calibri" panose="020F0502020204030204"/>
                <a:ea typeface="Calibri" panose="020F0502020204030204"/>
                <a:cs typeface="Calibri" panose="020F0502020204030204"/>
                <a:sym typeface="Calibri" panose="020F0502020204030204"/>
              </a:rPr>
              <a:t>[p0,p1,p2] </a:t>
            </a:r>
            <a:endParaRPr sz="1100" b="1"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204" name="Google Shape;204;p11"/>
          <p:cNvSpPr/>
          <p:nvPr/>
        </p:nvSpPr>
        <p:spPr>
          <a:xfrm>
            <a:off x="2303803" y="1613809"/>
            <a:ext cx="1906477" cy="525842"/>
          </a:xfrm>
          <a:prstGeom prst="roundRect">
            <a:avLst>
              <a:gd name="adj" fmla="val 16667"/>
            </a:avLst>
          </a:prstGeom>
          <a:solidFill>
            <a:srgbClr val="0B5394"/>
          </a:solidFill>
          <a:ln w="12700"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100" b="1" i="0" u="none" strike="noStrike" cap="none">
                <a:solidFill>
                  <a:schemeClr val="lt1"/>
                </a:solidFill>
                <a:latin typeface="Calibri" panose="020F0502020204030204"/>
                <a:ea typeface="Calibri" panose="020F0502020204030204"/>
                <a:cs typeface="Calibri" panose="020F0502020204030204"/>
                <a:sym typeface="Calibri" panose="020F0502020204030204"/>
              </a:rPr>
              <a:t>Original State Features</a:t>
            </a:r>
            <a:endParaRPr sz="1100" b="1"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a:p>
            <a:pPr marL="0" marR="0" lvl="0" indent="0" algn="ctr" rtl="0">
              <a:spcBef>
                <a:spcPts val="0"/>
              </a:spcBef>
              <a:spcAft>
                <a:spcPts val="0"/>
              </a:spcAft>
              <a:buNone/>
            </a:pPr>
            <a:r>
              <a:rPr lang="en-US" sz="1100" b="1" i="0" u="none" strike="noStrike" cap="none">
                <a:solidFill>
                  <a:schemeClr val="lt1"/>
                </a:solidFill>
                <a:latin typeface="Calibri" panose="020F0502020204030204"/>
                <a:ea typeface="Calibri" panose="020F0502020204030204"/>
                <a:cs typeface="Calibri" panose="020F0502020204030204"/>
                <a:sym typeface="Calibri" panose="020F0502020204030204"/>
              </a:rPr>
              <a:t>9-dim: price, MACD, RSI, etc.</a:t>
            </a:r>
            <a:endParaRPr sz="1100" b="1"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205" name="Google Shape;205;p11"/>
          <p:cNvSpPr/>
          <p:nvPr/>
        </p:nvSpPr>
        <p:spPr>
          <a:xfrm>
            <a:off x="2601553" y="2369272"/>
            <a:ext cx="1310975" cy="486557"/>
          </a:xfrm>
          <a:prstGeom prst="roundRect">
            <a:avLst>
              <a:gd name="adj" fmla="val 16667"/>
            </a:avLst>
          </a:prstGeom>
          <a:solidFill>
            <a:srgbClr val="0B5394"/>
          </a:solidFill>
          <a:ln w="12700"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100" b="1" i="0" u="none" strike="noStrike" cap="none">
                <a:solidFill>
                  <a:schemeClr val="lt1"/>
                </a:solidFill>
                <a:latin typeface="Calibri" panose="020F0502020204030204"/>
                <a:ea typeface="Calibri" panose="020F0502020204030204"/>
                <a:cs typeface="Calibri" panose="020F0502020204030204"/>
                <a:sym typeface="Calibri" panose="020F0502020204030204"/>
              </a:rPr>
              <a:t>Regime Features</a:t>
            </a:r>
            <a:endParaRPr sz="1100" b="1"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a:p>
            <a:pPr marL="0" marR="0" lvl="0" indent="0" algn="ctr" rtl="0">
              <a:spcBef>
                <a:spcPts val="0"/>
              </a:spcBef>
              <a:spcAft>
                <a:spcPts val="0"/>
              </a:spcAft>
              <a:buNone/>
            </a:pPr>
            <a:r>
              <a:rPr lang="en-US" sz="1100" b="1" i="0" u="none" strike="noStrike" cap="none">
                <a:solidFill>
                  <a:schemeClr val="lt1"/>
                </a:solidFill>
                <a:latin typeface="Calibri" panose="020F0502020204030204"/>
                <a:ea typeface="Calibri" panose="020F0502020204030204"/>
                <a:cs typeface="Calibri" panose="020F0502020204030204"/>
                <a:sym typeface="Calibri" panose="020F0502020204030204"/>
              </a:rPr>
              <a:t>3-dim: P0, P1, P2</a:t>
            </a:r>
            <a:endParaRPr sz="1100" b="1"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206" name="Google Shape;206;p11"/>
          <p:cNvSpPr/>
          <p:nvPr/>
        </p:nvSpPr>
        <p:spPr>
          <a:xfrm>
            <a:off x="4671217" y="1975033"/>
            <a:ext cx="1699428" cy="594752"/>
          </a:xfrm>
          <a:prstGeom prst="roundRect">
            <a:avLst>
              <a:gd name="adj" fmla="val 16667"/>
            </a:avLst>
          </a:prstGeom>
          <a:solidFill>
            <a:srgbClr val="0B5394"/>
          </a:solidFill>
          <a:ln w="12700"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100" b="1" i="0" u="none" strike="noStrike" cap="none">
                <a:solidFill>
                  <a:schemeClr val="lt1"/>
                </a:solidFill>
                <a:latin typeface="Calibri" panose="020F0502020204030204"/>
                <a:ea typeface="Calibri" panose="020F0502020204030204"/>
                <a:cs typeface="Calibri" panose="020F0502020204030204"/>
                <a:sym typeface="Calibri" panose="020F0502020204030204"/>
              </a:rPr>
              <a:t>Concatenate Augmented State 12-dim</a:t>
            </a:r>
            <a:endParaRPr sz="1100" b="1"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cxnSp>
        <p:nvCxnSpPr>
          <p:cNvPr id="207" name="Google Shape;207;p11"/>
          <p:cNvCxnSpPr>
            <a:stCxn id="203" idx="0"/>
            <a:endCxn id="204" idx="0"/>
          </p:cNvCxnSpPr>
          <p:nvPr/>
        </p:nvCxnSpPr>
        <p:spPr>
          <a:xfrm rot="-5400000">
            <a:off x="2241983" y="694190"/>
            <a:ext cx="95700" cy="1934700"/>
          </a:xfrm>
          <a:prstGeom prst="curvedConnector3">
            <a:avLst>
              <a:gd name="adj1" fmla="val 338746"/>
            </a:avLst>
          </a:prstGeom>
          <a:noFill/>
          <a:ln w="9525" cap="flat" cmpd="sng">
            <a:solidFill>
              <a:srgbClr val="4A7DBA"/>
            </a:solidFill>
            <a:prstDash val="solid"/>
            <a:round/>
            <a:headEnd type="none" w="sm" len="sm"/>
            <a:tailEnd type="triangle" w="med" len="med"/>
          </a:ln>
        </p:spPr>
      </p:cxnSp>
      <p:sp>
        <p:nvSpPr>
          <p:cNvPr id="208" name="Google Shape;208;p11"/>
          <p:cNvSpPr/>
          <p:nvPr/>
        </p:nvSpPr>
        <p:spPr>
          <a:xfrm>
            <a:off x="211765" y="1110467"/>
            <a:ext cx="8720470" cy="2153279"/>
          </a:xfrm>
          <a:prstGeom prst="roundRect">
            <a:avLst>
              <a:gd name="adj" fmla="val 16667"/>
            </a:avLst>
          </a:prstGeom>
          <a:noFill/>
          <a:ln w="25400" cap="flat" cmpd="sng">
            <a:solidFill>
              <a:srgbClr val="00206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09" name="Google Shape;209;p11"/>
          <p:cNvSpPr txBox="1"/>
          <p:nvPr/>
        </p:nvSpPr>
        <p:spPr>
          <a:xfrm>
            <a:off x="3919611" y="1169949"/>
            <a:ext cx="1359960" cy="36929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0" i="0" u="none" strike="noStrike" cap="none">
                <a:solidFill>
                  <a:schemeClr val="dk1"/>
                </a:solidFill>
                <a:latin typeface="Calibri" panose="020F0502020204030204"/>
                <a:ea typeface="Calibri" panose="020F0502020204030204"/>
                <a:cs typeface="Calibri" panose="020F0502020204030204"/>
                <a:sym typeface="Calibri" panose="020F0502020204030204"/>
              </a:rPr>
              <a:t>TRAINING</a:t>
            </a:r>
            <a:endParaRPr sz="1800">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10" name="Google Shape;210;p11"/>
          <p:cNvSpPr/>
          <p:nvPr/>
        </p:nvSpPr>
        <p:spPr>
          <a:xfrm>
            <a:off x="6831583" y="1975033"/>
            <a:ext cx="1699428" cy="594752"/>
          </a:xfrm>
          <a:prstGeom prst="roundRect">
            <a:avLst>
              <a:gd name="adj" fmla="val 16667"/>
            </a:avLst>
          </a:prstGeom>
          <a:solidFill>
            <a:srgbClr val="0B5394"/>
          </a:solidFill>
          <a:ln w="12700"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100" b="1">
                <a:solidFill>
                  <a:schemeClr val="lt1"/>
                </a:solidFill>
                <a:latin typeface="Calibri" panose="020F0502020204030204"/>
                <a:ea typeface="Calibri" panose="020F0502020204030204"/>
                <a:cs typeface="Calibri" panose="020F0502020204030204"/>
                <a:sym typeface="Calibri" panose="020F0502020204030204"/>
              </a:rPr>
              <a:t>Train Single A2C with full training data</a:t>
            </a:r>
            <a:endParaRPr sz="1100" b="1">
              <a:solidFill>
                <a:schemeClr val="lt1"/>
              </a:solidFill>
              <a:latin typeface="Calibri" panose="020F0502020204030204"/>
              <a:ea typeface="Calibri" panose="020F0502020204030204"/>
              <a:cs typeface="Calibri" panose="020F0502020204030204"/>
              <a:sym typeface="Calibri" panose="020F0502020204030204"/>
            </a:endParaRPr>
          </a:p>
        </p:txBody>
      </p:sp>
      <p:cxnSp>
        <p:nvCxnSpPr>
          <p:cNvPr id="211" name="Google Shape;211;p11"/>
          <p:cNvCxnSpPr>
            <a:stCxn id="203" idx="2"/>
            <a:endCxn id="205" idx="2"/>
          </p:cNvCxnSpPr>
          <p:nvPr/>
        </p:nvCxnSpPr>
        <p:spPr>
          <a:xfrm rot="-5400000" flipH="1">
            <a:off x="2231483" y="1830257"/>
            <a:ext cx="116700" cy="1934700"/>
          </a:xfrm>
          <a:prstGeom prst="curvedConnector3">
            <a:avLst>
              <a:gd name="adj1" fmla="val 295777"/>
            </a:avLst>
          </a:prstGeom>
          <a:noFill/>
          <a:ln w="9525" cap="flat" cmpd="sng">
            <a:solidFill>
              <a:srgbClr val="4A7DBA"/>
            </a:solidFill>
            <a:prstDash val="solid"/>
            <a:round/>
            <a:headEnd type="none" w="sm" len="sm"/>
            <a:tailEnd type="triangle" w="med" len="med"/>
          </a:ln>
        </p:spPr>
      </p:cxnSp>
      <p:cxnSp>
        <p:nvCxnSpPr>
          <p:cNvPr id="212" name="Google Shape;212;p11"/>
          <p:cNvCxnSpPr>
            <a:stCxn id="205" idx="3"/>
          </p:cNvCxnSpPr>
          <p:nvPr/>
        </p:nvCxnSpPr>
        <p:spPr>
          <a:xfrm rot="10800000" flipH="1">
            <a:off x="3912528" y="2534551"/>
            <a:ext cx="758700" cy="78000"/>
          </a:xfrm>
          <a:prstGeom prst="straightConnector1">
            <a:avLst/>
          </a:prstGeom>
          <a:noFill/>
          <a:ln w="9525" cap="flat" cmpd="sng">
            <a:solidFill>
              <a:srgbClr val="4A7DBA"/>
            </a:solidFill>
            <a:prstDash val="solid"/>
            <a:round/>
            <a:headEnd type="none" w="sm" len="sm"/>
            <a:tailEnd type="triangle" w="med" len="med"/>
          </a:ln>
        </p:spPr>
      </p:cxnSp>
      <p:cxnSp>
        <p:nvCxnSpPr>
          <p:cNvPr id="213" name="Google Shape;213;p11"/>
          <p:cNvCxnSpPr>
            <a:stCxn id="204" idx="3"/>
          </p:cNvCxnSpPr>
          <p:nvPr/>
        </p:nvCxnSpPr>
        <p:spPr>
          <a:xfrm>
            <a:off x="4210280" y="1876730"/>
            <a:ext cx="460800" cy="131400"/>
          </a:xfrm>
          <a:prstGeom prst="straightConnector1">
            <a:avLst/>
          </a:prstGeom>
          <a:noFill/>
          <a:ln w="9525" cap="flat" cmpd="sng">
            <a:solidFill>
              <a:srgbClr val="4A7DBA"/>
            </a:solidFill>
            <a:prstDash val="solid"/>
            <a:round/>
            <a:headEnd type="none" w="sm" len="sm"/>
            <a:tailEnd type="triangle" w="med" len="med"/>
          </a:ln>
        </p:spPr>
      </p:cxnSp>
      <p:cxnSp>
        <p:nvCxnSpPr>
          <p:cNvPr id="214" name="Google Shape;214;p11"/>
          <p:cNvCxnSpPr>
            <a:stCxn id="206" idx="3"/>
            <a:endCxn id="210" idx="1"/>
          </p:cNvCxnSpPr>
          <p:nvPr/>
        </p:nvCxnSpPr>
        <p:spPr>
          <a:xfrm>
            <a:off x="6370645" y="2272409"/>
            <a:ext cx="460800" cy="0"/>
          </a:xfrm>
          <a:prstGeom prst="straightConnector1">
            <a:avLst/>
          </a:prstGeom>
          <a:noFill/>
          <a:ln w="9525" cap="flat" cmpd="sng">
            <a:solidFill>
              <a:srgbClr val="4A7DBA"/>
            </a:solidFill>
            <a:prstDash val="solid"/>
            <a:round/>
            <a:headEnd type="none" w="sm" len="sm"/>
            <a:tailEnd type="triangle" w="med" len="med"/>
          </a:ln>
        </p:spPr>
      </p:cxnSp>
      <p:sp>
        <p:nvSpPr>
          <p:cNvPr id="215" name="Google Shape;215;p11"/>
          <p:cNvSpPr/>
          <p:nvPr/>
        </p:nvSpPr>
        <p:spPr>
          <a:xfrm>
            <a:off x="403913" y="4546614"/>
            <a:ext cx="946652" cy="594753"/>
          </a:xfrm>
          <a:prstGeom prst="roundRect">
            <a:avLst>
              <a:gd name="adj" fmla="val 16667"/>
            </a:avLst>
          </a:prstGeom>
          <a:solidFill>
            <a:srgbClr val="0B5394"/>
          </a:solidFill>
          <a:ln w="12700"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Clr>
                <a:schemeClr val="lt1"/>
              </a:buClr>
              <a:buSzPts val="1100"/>
              <a:buFont typeface="Calibri" panose="020F0502020204030204"/>
              <a:buNone/>
            </a:pPr>
            <a:r>
              <a:rPr lang="en-US" sz="1100" b="1">
                <a:solidFill>
                  <a:schemeClr val="lt1"/>
                </a:solidFill>
                <a:latin typeface="Calibri" panose="020F0502020204030204"/>
                <a:ea typeface="Calibri" panose="020F0502020204030204"/>
                <a:cs typeface="Calibri" panose="020F0502020204030204"/>
                <a:sym typeface="Calibri" panose="020F0502020204030204"/>
              </a:rPr>
              <a:t>Load test data</a:t>
            </a:r>
            <a:endParaRPr sz="1100" b="1">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216" name="Google Shape;216;p11"/>
          <p:cNvSpPr/>
          <p:nvPr/>
        </p:nvSpPr>
        <p:spPr>
          <a:xfrm>
            <a:off x="1678427" y="4371684"/>
            <a:ext cx="2212221" cy="932016"/>
          </a:xfrm>
          <a:prstGeom prst="roundRect">
            <a:avLst>
              <a:gd name="adj" fmla="val 16667"/>
            </a:avLst>
          </a:prstGeom>
          <a:solidFill>
            <a:srgbClr val="0B5394"/>
          </a:solidFill>
          <a:ln w="12700"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100" b="1">
                <a:solidFill>
                  <a:schemeClr val="lt1"/>
                </a:solidFill>
                <a:latin typeface="Calibri" panose="020F0502020204030204"/>
                <a:ea typeface="Calibri" panose="020F0502020204030204"/>
                <a:cs typeface="Calibri" panose="020F0502020204030204"/>
                <a:sym typeface="Calibri" panose="020F0502020204030204"/>
              </a:rPr>
              <a:t>Get Augmented State</a:t>
            </a:r>
            <a:br>
              <a:rPr lang="en-US" sz="1100" b="1">
                <a:solidFill>
                  <a:schemeClr val="lt1"/>
                </a:solidFill>
                <a:latin typeface="Calibri" panose="020F0502020204030204"/>
                <a:ea typeface="Calibri" panose="020F0502020204030204"/>
                <a:cs typeface="Calibri" panose="020F0502020204030204"/>
                <a:sym typeface="Calibri" panose="020F0502020204030204"/>
              </a:rPr>
            </a:br>
            <a:r>
              <a:rPr lang="en-US" sz="1100" b="1">
                <a:solidFill>
                  <a:schemeClr val="lt1"/>
                </a:solidFill>
                <a:latin typeface="Calibri" panose="020F0502020204030204"/>
                <a:ea typeface="Calibri" panose="020F0502020204030204"/>
                <a:cs typeface="Calibri" panose="020F0502020204030204"/>
                <a:sym typeface="Calibri" panose="020F0502020204030204"/>
              </a:rPr>
              <a:t>[Original 9-dim + Soft prob 3-dim] = 12 dim input</a:t>
            </a:r>
            <a:endParaRPr sz="1100" b="1">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217" name="Google Shape;217;p11"/>
          <p:cNvSpPr/>
          <p:nvPr/>
        </p:nvSpPr>
        <p:spPr>
          <a:xfrm>
            <a:off x="4291872" y="4317585"/>
            <a:ext cx="1877501" cy="1040213"/>
          </a:xfrm>
          <a:prstGeom prst="roundRect">
            <a:avLst>
              <a:gd name="adj" fmla="val 16667"/>
            </a:avLst>
          </a:prstGeom>
          <a:solidFill>
            <a:srgbClr val="0B5394"/>
          </a:solidFill>
          <a:ln w="12700"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100" b="1">
                <a:solidFill>
                  <a:schemeClr val="lt1"/>
                </a:solidFill>
                <a:latin typeface="Calibri" panose="020F0502020204030204"/>
                <a:ea typeface="Calibri" panose="020F0502020204030204"/>
                <a:cs typeface="Calibri" panose="020F0502020204030204"/>
                <a:sym typeface="Calibri" panose="020F0502020204030204"/>
              </a:rPr>
              <a:t>Single A2C inference LSTM automatically handles regime conditioning</a:t>
            </a:r>
            <a:endParaRPr sz="1100" b="1">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218" name="Google Shape;218;p11"/>
          <p:cNvSpPr/>
          <p:nvPr/>
        </p:nvSpPr>
        <p:spPr>
          <a:xfrm>
            <a:off x="211765" y="3761053"/>
            <a:ext cx="8720470" cy="2153279"/>
          </a:xfrm>
          <a:prstGeom prst="roundRect">
            <a:avLst>
              <a:gd name="adj" fmla="val 16667"/>
            </a:avLst>
          </a:prstGeom>
          <a:noFill/>
          <a:ln w="25400" cap="flat" cmpd="sng">
            <a:solidFill>
              <a:srgbClr val="00206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19" name="Google Shape;219;p11"/>
          <p:cNvSpPr txBox="1"/>
          <p:nvPr/>
        </p:nvSpPr>
        <p:spPr>
          <a:xfrm>
            <a:off x="3919611" y="3820535"/>
            <a:ext cx="643125"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panose="020F0502020204030204"/>
                <a:ea typeface="Calibri" panose="020F0502020204030204"/>
                <a:cs typeface="Calibri" panose="020F0502020204030204"/>
                <a:sym typeface="Calibri" panose="020F0502020204030204"/>
              </a:rPr>
              <a:t>TEST</a:t>
            </a:r>
            <a:endParaRPr sz="1800">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20" name="Google Shape;220;p11"/>
          <p:cNvSpPr/>
          <p:nvPr/>
        </p:nvSpPr>
        <p:spPr>
          <a:xfrm>
            <a:off x="6831583" y="4546614"/>
            <a:ext cx="1699428" cy="594752"/>
          </a:xfrm>
          <a:prstGeom prst="roundRect">
            <a:avLst>
              <a:gd name="adj" fmla="val 16667"/>
            </a:avLst>
          </a:prstGeom>
          <a:solidFill>
            <a:srgbClr val="0B5394"/>
          </a:solidFill>
          <a:ln w="12700"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100" b="1">
                <a:solidFill>
                  <a:schemeClr val="lt1"/>
                </a:solidFill>
                <a:latin typeface="Calibri" panose="020F0502020204030204"/>
                <a:ea typeface="Calibri" panose="020F0502020204030204"/>
                <a:cs typeface="Calibri" panose="020F0502020204030204"/>
                <a:sym typeface="Calibri" panose="020F0502020204030204"/>
              </a:rPr>
              <a:t>Output action directly</a:t>
            </a:r>
            <a:endParaRPr sz="1100" b="1">
              <a:solidFill>
                <a:schemeClr val="lt1"/>
              </a:solidFill>
              <a:latin typeface="Calibri" panose="020F0502020204030204"/>
              <a:ea typeface="Calibri" panose="020F0502020204030204"/>
              <a:cs typeface="Calibri" panose="020F0502020204030204"/>
              <a:sym typeface="Calibri" panose="020F0502020204030204"/>
            </a:endParaRPr>
          </a:p>
        </p:txBody>
      </p:sp>
      <p:cxnSp>
        <p:nvCxnSpPr>
          <p:cNvPr id="221" name="Google Shape;221;p11"/>
          <p:cNvCxnSpPr>
            <a:stCxn id="216" idx="3"/>
            <a:endCxn id="217" idx="1"/>
          </p:cNvCxnSpPr>
          <p:nvPr/>
        </p:nvCxnSpPr>
        <p:spPr>
          <a:xfrm>
            <a:off x="3890648" y="4837692"/>
            <a:ext cx="401100" cy="0"/>
          </a:xfrm>
          <a:prstGeom prst="straightConnector1">
            <a:avLst/>
          </a:prstGeom>
          <a:noFill/>
          <a:ln w="9525" cap="flat" cmpd="sng">
            <a:solidFill>
              <a:srgbClr val="4A7DBA"/>
            </a:solidFill>
            <a:prstDash val="solid"/>
            <a:round/>
            <a:headEnd type="none" w="sm" len="sm"/>
            <a:tailEnd type="triangle" w="med" len="med"/>
          </a:ln>
        </p:spPr>
      </p:cxnSp>
      <p:cxnSp>
        <p:nvCxnSpPr>
          <p:cNvPr id="222" name="Google Shape;222;p11"/>
          <p:cNvCxnSpPr>
            <a:stCxn id="217" idx="3"/>
            <a:endCxn id="220" idx="1"/>
          </p:cNvCxnSpPr>
          <p:nvPr/>
        </p:nvCxnSpPr>
        <p:spPr>
          <a:xfrm>
            <a:off x="6169373" y="4837692"/>
            <a:ext cx="662100" cy="6300"/>
          </a:xfrm>
          <a:prstGeom prst="straightConnector1">
            <a:avLst/>
          </a:prstGeom>
          <a:noFill/>
          <a:ln w="9525" cap="flat" cmpd="sng">
            <a:solidFill>
              <a:srgbClr val="4A7DBA"/>
            </a:solidFill>
            <a:prstDash val="solid"/>
            <a:round/>
            <a:headEnd type="none" w="sm" len="sm"/>
            <a:tailEnd type="triangle" w="med" len="med"/>
          </a:ln>
        </p:spPr>
      </p:cxnSp>
      <p:cxnSp>
        <p:nvCxnSpPr>
          <p:cNvPr id="223" name="Google Shape;223;p11"/>
          <p:cNvCxnSpPr>
            <a:stCxn id="215" idx="3"/>
            <a:endCxn id="216" idx="1"/>
          </p:cNvCxnSpPr>
          <p:nvPr/>
        </p:nvCxnSpPr>
        <p:spPr>
          <a:xfrm rot="10800000" flipH="1">
            <a:off x="1350565" y="4837691"/>
            <a:ext cx="327900" cy="6300"/>
          </a:xfrm>
          <a:prstGeom prst="straightConnector1">
            <a:avLst/>
          </a:prstGeom>
          <a:noFill/>
          <a:ln w="9525" cap="flat" cmpd="sng">
            <a:solidFill>
              <a:srgbClr val="4A7DBA"/>
            </a:solidFill>
            <a:prstDash val="solid"/>
            <a:round/>
            <a:headEnd type="none" w="sm" len="sm"/>
            <a:tailEnd type="triangle" w="med" len="med"/>
          </a:ln>
        </p:spPr>
      </p:cxnSp>
      <p:sp>
        <p:nvSpPr>
          <p:cNvPr id="4" name="Google Shape;95;p4">
            <a:extLst>
              <a:ext uri="{FF2B5EF4-FFF2-40B4-BE49-F238E27FC236}">
                <a16:creationId xmlns:a16="http://schemas.microsoft.com/office/drawing/2014/main" id="{D1EAE893-4906-37B3-BBA9-565C729B47AE}"/>
              </a:ext>
            </a:extLst>
          </p:cNvPr>
          <p:cNvSpPr txBox="1">
            <a:spLocks/>
          </p:cNvSpPr>
          <p:nvPr/>
        </p:nvSpPr>
        <p:spPr>
          <a:xfrm>
            <a:off x="311700" y="-55433"/>
            <a:ext cx="8520600" cy="763500"/>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panose="020F0502020204030204"/>
              <a:buNone/>
              <a:defRPr sz="4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90204"/>
              <a:buNone/>
              <a:defRPr sz="18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SzPts val="1400"/>
              <a:buFont typeface="Arial" panose="020B0604020202090204"/>
              <a:buNone/>
              <a:defRPr sz="18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SzPts val="1400"/>
              <a:buFont typeface="Arial" panose="020B0604020202090204"/>
              <a:buNone/>
              <a:defRPr sz="18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SzPts val="1400"/>
              <a:buFont typeface="Arial" panose="020B0604020202090204"/>
              <a:buNone/>
              <a:defRPr sz="18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SzPts val="1400"/>
              <a:buFont typeface="Arial" panose="020B0604020202090204"/>
              <a:buNone/>
              <a:defRPr sz="18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SzPts val="1400"/>
              <a:buFont typeface="Arial" panose="020B0604020202090204"/>
              <a:buNone/>
              <a:defRPr sz="18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SzPts val="1400"/>
              <a:buFont typeface="Arial" panose="020B0604020202090204"/>
              <a:buNone/>
              <a:defRPr sz="18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SzPts val="1400"/>
              <a:buFont typeface="Arial" panose="020B0604020202090204"/>
              <a:buNone/>
              <a:defRPr sz="18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a:lstStyle>
          <a:p>
            <a:pPr algn="l">
              <a:buClr>
                <a:srgbClr val="047857"/>
              </a:buClr>
              <a:buSzPts val="2400"/>
            </a:pPr>
            <a:r>
              <a:rPr lang="en-US" sz="2400" b="1">
                <a:solidFill>
                  <a:srgbClr val="3D85C6"/>
                </a:solidFill>
              </a:rPr>
              <a:t>Extension</a:t>
            </a:r>
            <a:r>
              <a:rPr lang="zh-CN" altLang="en-US" sz="2400" b="1">
                <a:solidFill>
                  <a:srgbClr val="3D85C6"/>
                </a:solidFill>
              </a:rPr>
              <a:t> </a:t>
            </a:r>
            <a:r>
              <a:rPr lang="en-US" altLang="zh-CN" sz="2400" b="1">
                <a:solidFill>
                  <a:srgbClr val="3D85C6"/>
                </a:solidFill>
              </a:rPr>
              <a:t>-</a:t>
            </a:r>
            <a:r>
              <a:rPr lang="zh-CN" altLang="en-US" sz="2400" b="1">
                <a:solidFill>
                  <a:srgbClr val="3D85C6"/>
                </a:solidFill>
              </a:rPr>
              <a:t> </a:t>
            </a:r>
            <a:r>
              <a:rPr lang="en-US" sz="2400" b="1">
                <a:solidFill>
                  <a:srgbClr val="3D85C6"/>
                </a:solidFill>
              </a:rPr>
              <a:t>Regime Detection:</a:t>
            </a:r>
            <a:endParaRPr lang="en-US" sz="2400" dirty="0">
              <a:solidFill>
                <a:srgbClr val="3D85C6"/>
              </a:solidFill>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1200</TotalTime>
  <Words>677</Words>
  <Application>Microsoft Macintosh PowerPoint</Application>
  <PresentationFormat>全屏显示(4:3)</PresentationFormat>
  <Paragraphs>79</Paragraphs>
  <Slides>11</Slides>
  <Notes>5</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11</vt:i4>
      </vt:variant>
    </vt:vector>
  </HeadingPairs>
  <TitlesOfParts>
    <vt:vector size="15" baseType="lpstr">
      <vt:lpstr>Arial</vt:lpstr>
      <vt:lpstr>Calibri</vt:lpstr>
      <vt:lpstr>Wingdings</vt:lpstr>
      <vt:lpstr>Office Theme</vt:lpstr>
      <vt:lpstr>Deep Reinforcement Learning for Trading</vt:lpstr>
      <vt:lpstr>PowerPoint 演示文稿</vt:lpstr>
      <vt:lpstr>Summary of Original Paper</vt:lpstr>
      <vt:lpstr>Summary of Original Paper – Table2 &amp; Table3</vt:lpstr>
      <vt:lpstr>Summary of Original Paper – Table 2 &amp; Table 3</vt:lpstr>
      <vt:lpstr>Reproduction Results</vt:lpstr>
      <vt:lpstr>Differences vs Original</vt:lpstr>
      <vt:lpstr>Robustness Checks</vt:lpstr>
      <vt:lpstr>Risk diagnostics</vt:lpstr>
      <vt:lpstr>Extension - Regime Detection:</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Deep Reinforcement Learning for Trading</dc:title>
  <dc:creator/>
  <cp:lastModifiedBy>hahaha haha</cp:lastModifiedBy>
  <cp:revision>11</cp:revision>
  <dcterms:created xsi:type="dcterms:W3CDTF">2026-04-28T01:18:14Z</dcterms:created>
  <dcterms:modified xsi:type="dcterms:W3CDTF">2026-05-07T19:17:12Z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1033-12.1.24031.24031</vt:lpwstr>
  </property>
  <property fmtid="{D5CDD505-2E9C-101B-9397-08002B2CF9AE}" pid="3" name="ICV">
    <vt:lpwstr>07F572F11AF24193D60AF069A7866AB1_43</vt:lpwstr>
  </property>
</Properties>
</file>