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8" r:id="rId3"/>
    <p:sldId id="259" r:id="rId4"/>
    <p:sldId id="270" r:id="rId5"/>
    <p:sldId id="272" r:id="rId6"/>
    <p:sldId id="273" r:id="rId7"/>
    <p:sldId id="277" r:id="rId8"/>
    <p:sldId id="274" r:id="rId9"/>
    <p:sldId id="278" r:id="rId10"/>
    <p:sldId id="275" r:id="rId11"/>
    <p:sldId id="276" r:id="rId12"/>
    <p:sldId id="269" r:id="rId13"/>
    <p:sldId id="267" r:id="rId14"/>
    <p:sldId id="279"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80F9FB2-728D-4799-AB61-7DBC326BF54D}"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50"/>
    <p:restoredTop sz="94622"/>
  </p:normalViewPr>
  <p:slideViewPr>
    <p:cSldViewPr snapToGrid="0" showGuides="1">
      <p:cViewPr>
        <p:scale>
          <a:sx n="102" d="100"/>
          <a:sy n="102" d="100"/>
        </p:scale>
        <p:origin x="144" y="4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9" name="Google Shape;9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F0200279-D9B5-AB55-58E7-0FF406708446}"/>
            </a:ext>
          </a:extLst>
        </p:cNvPr>
        <p:cNvGrpSpPr/>
        <p:nvPr/>
      </p:nvGrpSpPr>
      <p:grpSpPr>
        <a:xfrm>
          <a:off x="0" y="0"/>
          <a:ext cx="0" cy="0"/>
          <a:chOff x="0" y="0"/>
          <a:chExt cx="0" cy="0"/>
        </a:xfrm>
      </p:grpSpPr>
      <p:sp>
        <p:nvSpPr>
          <p:cNvPr id="199" name="Google Shape;199;p11:notes">
            <a:extLst>
              <a:ext uri="{FF2B5EF4-FFF2-40B4-BE49-F238E27FC236}">
                <a16:creationId xmlns:a16="http://schemas.microsoft.com/office/drawing/2014/main" id="{042F209C-2C93-8E5D-9CE2-96F3DA3A63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11:notes">
            <a:extLst>
              <a:ext uri="{FF2B5EF4-FFF2-40B4-BE49-F238E27FC236}">
                <a16:creationId xmlns:a16="http://schemas.microsoft.com/office/drawing/2014/main" id="{48E5DD88-E2B4-9577-A075-2CD6DD1A45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497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1792288" y="612775"/>
            <a:ext cx="5486400" cy="4114800"/>
          </a:xfrm>
          <a:prstGeom prst="rect">
            <a:avLst/>
          </a:prstGeom>
          <a:noFill/>
          <a:ln>
            <a:noFill/>
          </a:ln>
        </p:spPr>
      </p:sp>
      <p:sp>
        <p:nvSpPr>
          <p:cNvPr id="68" name="Google Shape;68;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Deep Reinforcement Learning for Trading</a:t>
            </a:r>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r>
              <a:rPr lang="en-US">
                <a:solidFill>
                  <a:schemeClr val="dk1"/>
                </a:solidFill>
              </a:rPr>
              <a:t>Hao Wang, Haolan Cheng, Yuting Lun</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p:nvPr/>
        </p:nvSpPr>
        <p:spPr>
          <a:xfrm>
            <a:off x="457200" y="151050"/>
            <a:ext cx="8229600" cy="731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47857"/>
              </a:buClr>
              <a:buSzPts val="2400"/>
              <a:buFont typeface="Calibri" panose="020F0502020204030204"/>
              <a:buNone/>
            </a:pPr>
            <a:r>
              <a:rPr lang="en-US" sz="2400" b="1" dirty="0">
                <a:solidFill>
                  <a:srgbClr val="3D85C6"/>
                </a:solidFill>
                <a:highlight>
                  <a:schemeClr val="lt1"/>
                </a:highlight>
                <a:latin typeface="Calibri" panose="020F0502020204030204"/>
                <a:ea typeface="Calibri" panose="020F0502020204030204"/>
                <a:cs typeface="Calibri" panose="020F0502020204030204"/>
                <a:sym typeface="Calibri" panose="020F0502020204030204"/>
              </a:rPr>
              <a:t>Summary of Original Paper</a:t>
            </a:r>
            <a:endParaRPr sz="2400" b="0" i="0" u="none" strike="noStrike" cap="none" dirty="0">
              <a:solidFill>
                <a:srgbClr val="3D85C6"/>
              </a:solidFill>
              <a:highlight>
                <a:schemeClr val="lt1"/>
              </a:highlight>
              <a:latin typeface="Calibri" panose="020F0502020204030204"/>
              <a:ea typeface="Calibri" panose="020F0502020204030204"/>
              <a:cs typeface="Calibri" panose="020F0502020204030204"/>
              <a:sym typeface="Calibri" panose="020F0502020204030204"/>
            </a:endParaRPr>
          </a:p>
        </p:txBody>
      </p:sp>
      <p:sp>
        <p:nvSpPr>
          <p:cNvPr id="102" name="Google Shape;102;p3"/>
          <p:cNvSpPr/>
          <p:nvPr/>
        </p:nvSpPr>
        <p:spPr>
          <a:xfrm>
            <a:off x="529975" y="699626"/>
            <a:ext cx="4114800" cy="731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800"/>
              <a:buFont typeface="Calibri" panose="020F0502020204030204"/>
              <a:buNone/>
            </a:pPr>
            <a:r>
              <a:rPr lang="en-US" sz="1800" b="1" i="0" u="none" strike="noStrike" cap="none">
                <a:solidFill>
                  <a:srgbClr val="1C1917"/>
                </a:solidFill>
                <a:latin typeface="Calibri" panose="020F0502020204030204"/>
                <a:ea typeface="Calibri" panose="020F0502020204030204"/>
                <a:cs typeface="Calibri" panose="020F0502020204030204"/>
                <a:sym typeface="Calibri" panose="020F0502020204030204"/>
              </a:rPr>
              <a:t>Traditional Methods</a:t>
            </a:r>
            <a:endParaRPr sz="1200" b="0" i="0" u="none" strike="noStrike" cap="none">
              <a:solidFill>
                <a:srgbClr val="7F7F7F"/>
              </a:solidFill>
              <a:latin typeface="Calibri" panose="020F0502020204030204"/>
              <a:ea typeface="Calibri" panose="020F0502020204030204"/>
              <a:cs typeface="Calibri" panose="020F0502020204030204"/>
              <a:sym typeface="Calibri" panose="020F0502020204030204"/>
            </a:endParaRPr>
          </a:p>
        </p:txBody>
      </p:sp>
      <p:sp>
        <p:nvSpPr>
          <p:cNvPr id="103" name="Google Shape;103;p3"/>
          <p:cNvSpPr/>
          <p:nvPr/>
        </p:nvSpPr>
        <p:spPr>
          <a:xfrm>
            <a:off x="301375" y="1176650"/>
            <a:ext cx="4343400" cy="2188500"/>
          </a:xfrm>
          <a:prstGeom prst="rect">
            <a:avLst/>
          </a:prstGeom>
          <a:noFill/>
          <a:ln>
            <a:noFill/>
          </a:ln>
        </p:spPr>
        <p:txBody>
          <a:bodyPr spcFirstLastPara="1" wrap="square" lIns="91425" tIns="45700" rIns="91425" bIns="45700" anchor="ctr" anchorCtr="0">
            <a:noAutofit/>
          </a:bodyPr>
          <a:lstStyle/>
          <a:p>
            <a:pPr marL="285750" marR="0" lvl="0" indent="-285750" algn="l" rtl="0">
              <a:spcBef>
                <a:spcPts val="0"/>
              </a:spcBef>
              <a:spcAft>
                <a:spcPts val="0"/>
              </a:spcAft>
              <a:buClr>
                <a:srgbClr val="000000"/>
              </a:buClr>
              <a:buSzPts val="1400"/>
              <a:buFont typeface="Arial" panose="020B0604020202090204"/>
              <a:buChar char="•"/>
            </a:pP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Fundamental &amp; Technical Analysis: Often lack precise timing for entering and exiting trades, leading to potential drawdowns.</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rgbClr val="000000"/>
              </a:buClr>
              <a:buSzPts val="1400"/>
              <a:buFont typeface="Arial" panose="020B0604020202090204"/>
              <a:buChar char="•"/>
            </a:pP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Time-Series Momentum: Highly effective in trending markets, but severely vulnerable to sideways or mean-reverting markets (like FX).</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rgbClr val="000000"/>
              </a:buClr>
              <a:buSzPts val="1400"/>
              <a:buFont typeface="Arial" panose="020B0604020202090204"/>
              <a:buChar char="•"/>
            </a:pP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Classical RL (Q-Learning): Frequently relies on discrete action spaces (fully long/short), which is highly risky during volatile periods.</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4" name="Google Shape;104;p3"/>
          <p:cNvSpPr/>
          <p:nvPr/>
        </p:nvSpPr>
        <p:spPr>
          <a:xfrm>
            <a:off x="4775200" y="818125"/>
            <a:ext cx="4089300" cy="49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800"/>
              <a:buFont typeface="Calibri" panose="020F0502020204030204"/>
              <a:buNone/>
            </a:pPr>
            <a:r>
              <a:rPr lang="en-US" sz="1800" b="1" i="0" u="none" strike="noStrike" cap="none">
                <a:solidFill>
                  <a:srgbClr val="1C1917"/>
                </a:solidFill>
                <a:latin typeface="Calibri" panose="020F0502020204030204"/>
                <a:ea typeface="Calibri" panose="020F0502020204030204"/>
                <a:cs typeface="Calibri" panose="020F0502020204030204"/>
                <a:sym typeface="Calibri" panose="020F0502020204030204"/>
              </a:rPr>
              <a:t>Proposed RL Methods</a:t>
            </a:r>
            <a:endParaRPr sz="1200" b="0" i="0" u="none" strike="noStrike" cap="none">
              <a:solidFill>
                <a:srgbClr val="7F7F7F"/>
              </a:solidFill>
              <a:latin typeface="Calibri" panose="020F0502020204030204"/>
              <a:ea typeface="Calibri" panose="020F0502020204030204"/>
              <a:cs typeface="Calibri" panose="020F0502020204030204"/>
              <a:sym typeface="Calibri" panose="020F0502020204030204"/>
            </a:endParaRPr>
          </a:p>
        </p:txBody>
      </p:sp>
      <p:sp>
        <p:nvSpPr>
          <p:cNvPr id="105" name="Google Shape;105;p3"/>
          <p:cNvSpPr/>
          <p:nvPr/>
        </p:nvSpPr>
        <p:spPr>
          <a:xfrm>
            <a:off x="4775200" y="1247324"/>
            <a:ext cx="3886200" cy="1650900"/>
          </a:xfrm>
          <a:prstGeom prst="rect">
            <a:avLst/>
          </a:prstGeom>
          <a:noFill/>
          <a:ln>
            <a:noFill/>
          </a:ln>
        </p:spPr>
        <p:txBody>
          <a:bodyPr spcFirstLastPara="1" wrap="square" lIns="91425" tIns="45700" rIns="91425" bIns="45700" anchor="ctr" anchorCtr="0">
            <a:noAutofit/>
          </a:bodyPr>
          <a:lstStyle/>
          <a:p>
            <a:pPr marL="285750" marR="0" lvl="0" indent="-285750" algn="l" rtl="0">
              <a:spcBef>
                <a:spcPts val="0"/>
              </a:spcBef>
              <a:spcAft>
                <a:spcPts val="0"/>
              </a:spcAft>
              <a:buClr>
                <a:srgbClr val="1C1917"/>
              </a:buClr>
              <a:buSzPts val="1400"/>
              <a:buFont typeface="Arial" panose="020B0604020202090204"/>
              <a:buChar char="•"/>
            </a:pPr>
            <a:r>
              <a:rPr lang="en-US" sz="1400" b="0" i="0" u="none" strike="noStrike" cap="none" dirty="0">
                <a:solidFill>
                  <a:srgbClr val="1C1917"/>
                </a:solidFill>
                <a:latin typeface="Calibri" panose="020F0502020204030204"/>
                <a:ea typeface="Calibri" panose="020F0502020204030204"/>
                <a:cs typeface="Calibri" panose="020F0502020204030204"/>
                <a:sym typeface="Calibri" panose="020F0502020204030204"/>
              </a:rPr>
              <a:t>Deep Q-Networks (DQN): </a:t>
            </a: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Evaluates the value of discrete actions in a given state.</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rgbClr val="1C1917"/>
              </a:buClr>
              <a:buSzPts val="1400"/>
              <a:buFont typeface="Arial" panose="020B0604020202090204"/>
              <a:buChar char="•"/>
            </a:pPr>
            <a:r>
              <a:rPr lang="en-US" sz="1400" b="0" i="0" u="none" strike="noStrike" cap="none" dirty="0">
                <a:solidFill>
                  <a:srgbClr val="1C1917"/>
                </a:solidFill>
                <a:latin typeface="Calibri" panose="020F0502020204030204"/>
                <a:ea typeface="Calibri" panose="020F0502020204030204"/>
                <a:cs typeface="Calibri" panose="020F0502020204030204"/>
                <a:sym typeface="Calibri" panose="020F0502020204030204"/>
              </a:rPr>
              <a:t>Policy Gradients (PG): </a:t>
            </a: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Optimizes the policy directly, useful for continuous action spaces.</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rgbClr val="1C1917"/>
              </a:buClr>
              <a:buSzPts val="1400"/>
              <a:buFont typeface="Arial" panose="020B0604020202090204"/>
              <a:buChar char="•"/>
            </a:pPr>
            <a:r>
              <a:rPr lang="en-US" sz="1400" b="0" i="0" u="none" strike="noStrike" cap="none" dirty="0">
                <a:solidFill>
                  <a:srgbClr val="1C1917"/>
                </a:solidFill>
                <a:latin typeface="Calibri" panose="020F0502020204030204"/>
                <a:ea typeface="Calibri" panose="020F0502020204030204"/>
                <a:cs typeface="Calibri" panose="020F0502020204030204"/>
                <a:sym typeface="Calibri" panose="020F0502020204030204"/>
              </a:rPr>
              <a:t>Advantage Actor-Critic (A2C): </a:t>
            </a:r>
            <a:r>
              <a:rPr lang="en-US"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Updates policies in real-time by combining an 'actor' network with a 'critic' network.</a:t>
            </a: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106" name="Google Shape;106;p3" title="Screenshot 2026-03-06 at 2.41.14 PM.png"/>
          <p:cNvPicPr preferRelativeResize="0"/>
          <p:nvPr/>
        </p:nvPicPr>
        <p:blipFill rotWithShape="1">
          <a:blip r:embed="rId3"/>
          <a:srcRect/>
          <a:stretch>
            <a:fillRect/>
          </a:stretch>
        </p:blipFill>
        <p:spPr>
          <a:xfrm>
            <a:off x="683075" y="3365150"/>
            <a:ext cx="6460675" cy="3399899"/>
          </a:xfrm>
          <a:prstGeom prst="rect">
            <a:avLst/>
          </a:prstGeom>
          <a:noFill/>
          <a:ln>
            <a:noFill/>
          </a:ln>
        </p:spPr>
      </p:pic>
      <p:sp>
        <p:nvSpPr>
          <p:cNvPr id="107" name="Google Shape;107;p3"/>
          <p:cNvSpPr txBox="1"/>
          <p:nvPr/>
        </p:nvSpPr>
        <p:spPr>
          <a:xfrm>
            <a:off x="5029200" y="5114150"/>
            <a:ext cx="3329050" cy="1580700"/>
          </a:xfrm>
          <a:prstGeom prst="rect">
            <a:avLst/>
          </a:prstGeom>
          <a:noFill/>
          <a:ln>
            <a:noFill/>
          </a:ln>
        </p:spPr>
        <p:txBody>
          <a:bodyPr spcFirstLastPara="1" wrap="square" lIns="91425" tIns="91425" rIns="91425" bIns="91425" anchor="t" anchorCtr="0">
            <a:noAutofit/>
          </a:bodyPr>
          <a:lstStyle/>
          <a:p>
            <a:pPr marL="285750" indent="-285750">
              <a:buSzPts val="1400"/>
              <a:buFont typeface="Arial" panose="020B0604020202090204"/>
              <a:buChar char="•"/>
            </a:pPr>
            <a:r>
              <a:rPr lang="en-US" dirty="0">
                <a:latin typeface="Calibri" panose="020F0502020204030204"/>
                <a:cs typeface="Calibri" panose="020F0502020204030204"/>
                <a:sym typeface="Calibri" panose="020F0502020204030204"/>
              </a:rPr>
              <a:t>Figure 1: Cumulative trade returns.</a:t>
            </a:r>
          </a:p>
          <a:p>
            <a:pPr marL="285750" indent="-285750">
              <a:buSzPts val="1400"/>
              <a:buFont typeface="Arial" panose="020B0604020202090204"/>
              <a:buChar char="•"/>
            </a:pPr>
            <a:r>
              <a:rPr lang="en-US" dirty="0">
                <a:latin typeface="Calibri" panose="020F0502020204030204"/>
                <a:cs typeface="Calibri" panose="020F0502020204030204"/>
                <a:sym typeface="Calibri" panose="020F0502020204030204"/>
              </a:rPr>
              <a:t>First row: commodity, equity index and fixed income; </a:t>
            </a:r>
          </a:p>
          <a:p>
            <a:pPr marL="285750" indent="-285750">
              <a:buSzPts val="1400"/>
              <a:buFont typeface="Arial" panose="020B0604020202090204"/>
              <a:buChar char="•"/>
            </a:pPr>
            <a:r>
              <a:rPr lang="en-US" dirty="0">
                <a:latin typeface="Calibri" panose="020F0502020204030204"/>
                <a:cs typeface="Calibri" panose="020F0502020204030204"/>
                <a:sym typeface="Calibri" panose="020F0502020204030204"/>
              </a:rPr>
              <a:t>Second row: FX and the portfolio of using all contracts.</a:t>
            </a:r>
            <a:endParaRPr dirty="0">
              <a:latin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311700" y="225992"/>
            <a:ext cx="8520600" cy="763500"/>
          </a:xfrm>
          <a:prstGeom prst="rect">
            <a:avLst/>
          </a:prstGeom>
          <a:noFill/>
          <a:ln>
            <a:noFill/>
          </a:ln>
        </p:spPr>
        <p:txBody>
          <a:bodyPr spcFirstLastPara="1" wrap="square" lIns="91425" tIns="45700" rIns="91425" bIns="45700" anchor="ctr" anchorCtr="0">
            <a:normAutofit/>
          </a:bodyPr>
          <a:lstStyle/>
          <a:p>
            <a:pPr lvl="0" algn="l">
              <a:buClr>
                <a:srgbClr val="047857"/>
              </a:buClr>
              <a:buSzPts val="2400"/>
            </a:pPr>
            <a:r>
              <a:rPr lang="en-US" altLang="zh-CN" sz="2400" b="1" dirty="0">
                <a:solidFill>
                  <a:srgbClr val="3D85C6"/>
                </a:solidFill>
                <a:highlight>
                  <a:schemeClr val="lt1"/>
                </a:highlight>
              </a:rPr>
              <a:t>Summary of Original Paper</a:t>
            </a:r>
            <a:endParaRPr lang="en-US" altLang="zh-CN" sz="2400" dirty="0">
              <a:solidFill>
                <a:srgbClr val="3D85C6"/>
              </a:solidFill>
              <a:highlight>
                <a:schemeClr val="lt1"/>
              </a:highlight>
            </a:endParaRPr>
          </a:p>
        </p:txBody>
      </p:sp>
      <p:sp>
        <p:nvSpPr>
          <p:cNvPr id="113" name="Google Shape;113;p4"/>
          <p:cNvSpPr/>
          <p:nvPr/>
        </p:nvSpPr>
        <p:spPr>
          <a:xfrm>
            <a:off x="457200" y="712661"/>
            <a:ext cx="2560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600" b="1" i="0" u="none" strike="noStrike" cap="none">
                <a:solidFill>
                  <a:srgbClr val="1C1917"/>
                </a:solidFill>
                <a:latin typeface="Calibri" panose="020F0502020204030204"/>
                <a:ea typeface="Calibri" panose="020F0502020204030204"/>
                <a:cs typeface="Calibri" panose="020F0502020204030204"/>
                <a:sym typeface="Calibri" panose="020F0502020204030204"/>
              </a:rPr>
              <a:t>1. Data</a:t>
            </a:r>
            <a:endParaRPr sz="16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4" name="Google Shape;114;p4"/>
          <p:cNvSpPr/>
          <p:nvPr/>
        </p:nvSpPr>
        <p:spPr>
          <a:xfrm>
            <a:off x="457200" y="1318395"/>
            <a:ext cx="2560200" cy="1449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50 most liquid futures contracts (2011-2019).</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Commodities (25)</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Equity Indices (11)</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Fixed Income (5)</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Forex (9)</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5" name="Google Shape;115;p4"/>
          <p:cNvSpPr/>
          <p:nvPr/>
        </p:nvSpPr>
        <p:spPr>
          <a:xfrm>
            <a:off x="2959920" y="712649"/>
            <a:ext cx="2560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600" b="1" i="0" u="none" strike="noStrike" cap="none">
                <a:solidFill>
                  <a:srgbClr val="1C1917"/>
                </a:solidFill>
                <a:latin typeface="Calibri" panose="020F0502020204030204"/>
                <a:ea typeface="Calibri" panose="020F0502020204030204"/>
                <a:cs typeface="Calibri" panose="020F0502020204030204"/>
                <a:sym typeface="Calibri" panose="020F0502020204030204"/>
              </a:rPr>
              <a:t>2. Methodology</a:t>
            </a:r>
            <a:endParaRPr sz="16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6" name="Google Shape;116;p4"/>
          <p:cNvSpPr/>
          <p:nvPr/>
        </p:nvSpPr>
        <p:spPr>
          <a:xfrm>
            <a:off x="2806700" y="1259205"/>
            <a:ext cx="3175635" cy="158559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Markov Decision Process (MDP) formulation.</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State: 60-day lookback (Price, Returns, MACD, RSI).</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Action: Target orders [-1, 1].</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Reward: Volatility-scaled additive profits.</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7" name="Google Shape;117;p4"/>
          <p:cNvSpPr/>
          <p:nvPr/>
        </p:nvSpPr>
        <p:spPr>
          <a:xfrm>
            <a:off x="5982155" y="771081"/>
            <a:ext cx="2560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600" b="1" i="0" u="none" strike="noStrike" cap="none">
                <a:solidFill>
                  <a:srgbClr val="1C1917"/>
                </a:solidFill>
                <a:latin typeface="Calibri" panose="020F0502020204030204"/>
                <a:ea typeface="Calibri" panose="020F0502020204030204"/>
                <a:cs typeface="Calibri" panose="020F0502020204030204"/>
                <a:sym typeface="Calibri" panose="020F0502020204030204"/>
              </a:rPr>
              <a:t>3. Evaluation Metrics</a:t>
            </a:r>
            <a:endParaRPr sz="16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8" name="Google Shape;118;p4"/>
          <p:cNvSpPr/>
          <p:nvPr/>
        </p:nvSpPr>
        <p:spPr>
          <a:xfrm>
            <a:off x="5982335" y="1228090"/>
            <a:ext cx="3489325" cy="144907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1917"/>
              </a:buClr>
              <a:buSzPts val="1600"/>
              <a:buFont typeface="Calibri" panose="020F0502020204030204"/>
              <a:buNone/>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Portfolio-level performance assessment.</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Annualised Expected Return</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Sharpe &amp; Sortino Ratios</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Maximum Drawdown (MDD)</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285750" marR="0" lvl="0" indent="-273050" algn="l" rtl="0">
              <a:spcBef>
                <a:spcPts val="0"/>
              </a:spcBef>
              <a:spcAft>
                <a:spcPts val="0"/>
              </a:spcAft>
              <a:buClr>
                <a:srgbClr val="1C1917"/>
              </a:buClr>
              <a:buSzPts val="1400"/>
              <a:buFont typeface="Arial" panose="020B0604020202090204"/>
              <a:buChar char="•"/>
            </a:pPr>
            <a:r>
              <a:rPr lang="en-US" sz="1800" b="0" i="0" u="none" strike="noStrike" cap="none">
                <a:solidFill>
                  <a:srgbClr val="1C1917"/>
                </a:solidFill>
                <a:latin typeface="Calibri" panose="020F0502020204030204"/>
                <a:ea typeface="Calibri" panose="020F0502020204030204"/>
                <a:cs typeface="Calibri" panose="020F0502020204030204"/>
                <a:sym typeface="Calibri" panose="020F0502020204030204"/>
              </a:rPr>
              <a:t>Calmar Ratio</a:t>
            </a: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 name="Google Shape;119;p4"/>
          <p:cNvSpPr/>
          <p:nvPr/>
        </p:nvSpPr>
        <p:spPr>
          <a:xfrm>
            <a:off x="536201" y="3029607"/>
            <a:ext cx="1759500" cy="598800"/>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600"/>
              <a:buFont typeface="Calibri" panose="020F0502020204030204"/>
              <a:buNone/>
            </a:pP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Market State</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chemeClr val="lt1"/>
              </a:buClr>
              <a:buSzPts val="1600"/>
              <a:buFont typeface="Calibri" panose="020F0502020204030204"/>
              <a:buNone/>
            </a:pP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Price, Vol, MACD</a:t>
            </a:r>
            <a:endParaRPr sz="16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20" name="Google Shape;120;p4"/>
          <p:cNvSpPr/>
          <p:nvPr/>
        </p:nvSpPr>
        <p:spPr>
          <a:xfrm>
            <a:off x="3080075" y="3029615"/>
            <a:ext cx="2319900" cy="598800"/>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600"/>
              <a:buFont typeface="Calibri" panose="020F0502020204030204"/>
              <a:buNone/>
            </a:pP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DRL Agent</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chemeClr val="lt1"/>
              </a:buClr>
              <a:buSzPts val="1600"/>
              <a:buFont typeface="Calibri" panose="020F0502020204030204"/>
              <a:buNone/>
            </a:pP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(Actor-Critic LSTM)</a:t>
            </a:r>
            <a:endParaRPr sz="16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21" name="Google Shape;121;p4"/>
          <p:cNvSpPr/>
          <p:nvPr/>
        </p:nvSpPr>
        <p:spPr>
          <a:xfrm>
            <a:off x="6184350" y="3010865"/>
            <a:ext cx="2653800" cy="636300"/>
          </a:xfrm>
          <a:prstGeom prst="roundRect">
            <a:avLst>
              <a:gd name="adj" fmla="val 16667"/>
            </a:avLst>
          </a:prstGeom>
          <a:solidFill>
            <a:srgbClr val="0B5394"/>
          </a:solidFill>
          <a:ln w="12700" cap="flat" cmpd="sng">
            <a:solidFill>
              <a:srgbClr val="1C19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600"/>
              <a:buFont typeface="Calibri" panose="020F0502020204030204"/>
              <a:buNone/>
            </a:pP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Action</a:t>
            </a:r>
            <a:r>
              <a:rPr lang="en-US"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r>
              <a:rPr lang="en-US" sz="1600" b="1" i="0" u="none" strike="noStrike" cap="none">
                <a:solidFill>
                  <a:schemeClr val="lt1"/>
                </a:solidFill>
                <a:latin typeface="Calibri" panose="020F0502020204030204"/>
                <a:ea typeface="Calibri" panose="020F0502020204030204"/>
                <a:cs typeface="Calibri" panose="020F0502020204030204"/>
                <a:sym typeface="Calibri" panose="020F0502020204030204"/>
              </a:rPr>
              <a:t>Portfolio Weights</a:t>
            </a:r>
            <a:endParaRPr sz="16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22" name="Google Shape;122;p4"/>
          <p:cNvCxnSpPr>
            <a:endCxn id="120" idx="1"/>
          </p:cNvCxnSpPr>
          <p:nvPr/>
        </p:nvCxnSpPr>
        <p:spPr>
          <a:xfrm>
            <a:off x="2295575" y="3323915"/>
            <a:ext cx="784500" cy="5100"/>
          </a:xfrm>
          <a:prstGeom prst="straightConnector1">
            <a:avLst/>
          </a:prstGeom>
          <a:noFill/>
          <a:ln w="9525" cap="flat" cmpd="sng">
            <a:solidFill>
              <a:schemeClr val="dk1"/>
            </a:solidFill>
            <a:prstDash val="solid"/>
            <a:miter lim="800000"/>
            <a:headEnd type="none" w="sm" len="sm"/>
            <a:tailEnd type="triangle" w="med" len="med"/>
          </a:ln>
        </p:spPr>
      </p:cxnSp>
      <p:pic>
        <p:nvPicPr>
          <p:cNvPr id="123" name="Google Shape;123;p4" title="Screenshot 2026-03-06 at 3.09.24 PM.png"/>
          <p:cNvPicPr preferRelativeResize="0"/>
          <p:nvPr/>
        </p:nvPicPr>
        <p:blipFill rotWithShape="1">
          <a:blip r:embed="rId3"/>
          <a:srcRect/>
          <a:stretch>
            <a:fillRect/>
          </a:stretch>
        </p:blipFill>
        <p:spPr>
          <a:xfrm>
            <a:off x="446100" y="4857300"/>
            <a:ext cx="7587832" cy="1644200"/>
          </a:xfrm>
          <a:prstGeom prst="rect">
            <a:avLst/>
          </a:prstGeom>
          <a:noFill/>
          <a:ln>
            <a:noFill/>
          </a:ln>
        </p:spPr>
      </p:pic>
      <p:cxnSp>
        <p:nvCxnSpPr>
          <p:cNvPr id="124" name="Google Shape;124;p4"/>
          <p:cNvCxnSpPr/>
          <p:nvPr/>
        </p:nvCxnSpPr>
        <p:spPr>
          <a:xfrm>
            <a:off x="5399975" y="3326465"/>
            <a:ext cx="784500" cy="5100"/>
          </a:xfrm>
          <a:prstGeom prst="straightConnector1">
            <a:avLst/>
          </a:prstGeom>
          <a:noFill/>
          <a:ln w="9525" cap="flat" cmpd="sng">
            <a:solidFill>
              <a:schemeClr val="dk1"/>
            </a:solidFill>
            <a:prstDash val="solid"/>
            <a:miter lim="800000"/>
            <a:headEnd type="none" w="sm" len="sm"/>
            <a:tailEnd type="triangle" w="med" len="med"/>
          </a:ln>
        </p:spPr>
      </p:cxnSp>
      <p:pic>
        <p:nvPicPr>
          <p:cNvPr id="125" name="Google Shape;125;p4"/>
          <p:cNvPicPr preferRelativeResize="0"/>
          <p:nvPr/>
        </p:nvPicPr>
        <p:blipFill>
          <a:blip r:embed="rId4"/>
          <a:stretch>
            <a:fillRect/>
          </a:stretch>
        </p:blipFill>
        <p:spPr>
          <a:xfrm>
            <a:off x="446100" y="3698650"/>
            <a:ext cx="3847875" cy="1283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112;p4">
            <a:extLst>
              <a:ext uri="{FF2B5EF4-FFF2-40B4-BE49-F238E27FC236}">
                <a16:creationId xmlns:a16="http://schemas.microsoft.com/office/drawing/2014/main" id="{EF18E48D-B9E4-97D1-FF39-041252C8440D}"/>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lvl="0" algn="l">
              <a:buClr>
                <a:srgbClr val="047857"/>
              </a:buClr>
              <a:buSzPts val="2400"/>
            </a:pPr>
            <a:r>
              <a:rPr lang="en-US" altLang="zh-CN" sz="2400" b="1" dirty="0">
                <a:solidFill>
                  <a:srgbClr val="3D85C6"/>
                </a:solidFill>
                <a:highlight>
                  <a:schemeClr val="lt1"/>
                </a:highlight>
              </a:rPr>
              <a:t>Summary of Original Paper</a:t>
            </a:r>
            <a:r>
              <a:rPr lang="zh-CN" altLang="en-US" sz="2400" b="1" dirty="0">
                <a:solidFill>
                  <a:srgbClr val="3D85C6"/>
                </a:solidFill>
                <a:highlight>
                  <a:schemeClr val="lt1"/>
                </a:highlight>
              </a:rPr>
              <a:t> </a:t>
            </a:r>
            <a:r>
              <a:rPr lang="en-US" altLang="zh-CN" sz="2400" b="1" dirty="0">
                <a:solidFill>
                  <a:srgbClr val="3D85C6"/>
                </a:solidFill>
                <a:highlight>
                  <a:schemeClr val="lt1"/>
                </a:highlight>
              </a:rPr>
              <a:t>–</a:t>
            </a:r>
            <a:r>
              <a:rPr lang="zh-CN" altLang="en-US" sz="2400" b="1" dirty="0">
                <a:solidFill>
                  <a:srgbClr val="3D85C6"/>
                </a:solidFill>
                <a:highlight>
                  <a:schemeClr val="lt1"/>
                </a:highlight>
              </a:rPr>
              <a:t> </a:t>
            </a:r>
            <a:r>
              <a:rPr lang="en-US" altLang="zh-CN" sz="2400" b="1" dirty="0">
                <a:solidFill>
                  <a:srgbClr val="3D85C6"/>
                </a:solidFill>
                <a:highlight>
                  <a:schemeClr val="lt1"/>
                </a:highlight>
              </a:rPr>
              <a:t>Table2</a:t>
            </a:r>
            <a:r>
              <a:rPr lang="zh-CN" altLang="en-US" sz="2400" b="1" dirty="0">
                <a:solidFill>
                  <a:srgbClr val="3D85C6"/>
                </a:solidFill>
                <a:highlight>
                  <a:schemeClr val="lt1"/>
                </a:highlight>
              </a:rPr>
              <a:t> </a:t>
            </a:r>
            <a:r>
              <a:rPr lang="en-US" altLang="zh-CN" sz="2400" b="1" dirty="0">
                <a:solidFill>
                  <a:srgbClr val="3D85C6"/>
                </a:solidFill>
                <a:highlight>
                  <a:schemeClr val="lt1"/>
                </a:highlight>
              </a:rPr>
              <a:t>&amp;</a:t>
            </a:r>
            <a:r>
              <a:rPr lang="zh-CN" altLang="en-US" sz="2400" b="1" dirty="0">
                <a:solidFill>
                  <a:srgbClr val="3D85C6"/>
                </a:solidFill>
                <a:highlight>
                  <a:schemeClr val="lt1"/>
                </a:highlight>
              </a:rPr>
              <a:t> </a:t>
            </a:r>
            <a:r>
              <a:rPr lang="en-US" altLang="zh-CN" sz="2400" b="1" dirty="0">
                <a:solidFill>
                  <a:srgbClr val="3D85C6"/>
                </a:solidFill>
                <a:highlight>
                  <a:schemeClr val="lt1"/>
                </a:highlight>
              </a:rPr>
              <a:t>Table3</a:t>
            </a:r>
            <a:endParaRPr lang="en-US" altLang="zh-CN" sz="2400" dirty="0">
              <a:solidFill>
                <a:srgbClr val="3D85C6"/>
              </a:solidFill>
              <a:highlight>
                <a:schemeClr val="lt1"/>
              </a:highlight>
            </a:endParaRPr>
          </a:p>
        </p:txBody>
      </p:sp>
      <p:pic>
        <p:nvPicPr>
          <p:cNvPr id="16" name="图片 15">
            <a:extLst>
              <a:ext uri="{FF2B5EF4-FFF2-40B4-BE49-F238E27FC236}">
                <a16:creationId xmlns:a16="http://schemas.microsoft.com/office/drawing/2014/main" id="{50F61B2E-0635-7C85-A6A9-6045224DC0E3}"/>
              </a:ext>
            </a:extLst>
          </p:cNvPr>
          <p:cNvPicPr>
            <a:picLocks noChangeAspect="1"/>
          </p:cNvPicPr>
          <p:nvPr/>
        </p:nvPicPr>
        <p:blipFill>
          <a:blip r:embed="rId2"/>
          <a:stretch>
            <a:fillRect/>
          </a:stretch>
        </p:blipFill>
        <p:spPr>
          <a:xfrm>
            <a:off x="153042" y="989492"/>
            <a:ext cx="4424134" cy="5254211"/>
          </a:xfrm>
          <a:prstGeom prst="rect">
            <a:avLst/>
          </a:prstGeom>
        </p:spPr>
      </p:pic>
      <p:pic>
        <p:nvPicPr>
          <p:cNvPr id="17" name="图片 16">
            <a:extLst>
              <a:ext uri="{FF2B5EF4-FFF2-40B4-BE49-F238E27FC236}">
                <a16:creationId xmlns:a16="http://schemas.microsoft.com/office/drawing/2014/main" id="{8482D7EE-050C-BAED-E494-7689DC780515}"/>
              </a:ext>
            </a:extLst>
          </p:cNvPr>
          <p:cNvPicPr>
            <a:picLocks noChangeAspect="1"/>
          </p:cNvPicPr>
          <p:nvPr/>
        </p:nvPicPr>
        <p:blipFill>
          <a:blip r:embed="rId3"/>
          <a:stretch>
            <a:fillRect/>
          </a:stretch>
        </p:blipFill>
        <p:spPr>
          <a:xfrm>
            <a:off x="4577176" y="989492"/>
            <a:ext cx="4419511" cy="52542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1097280"/>
            <a:ext cx="7982043" cy="4939814"/>
          </a:xfrm>
          <a:prstGeom prst="rect">
            <a:avLst/>
          </a:prstGeom>
          <a:noFill/>
        </p:spPr>
        <p:txBody>
          <a:bodyPr wrap="square">
            <a:spAutoFit/>
          </a:bodyPr>
          <a:lstStyle/>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With portfolio-level volatility targeting (Table 2), DRL methods (DQN, A2C) achieve the best overall risk-adjusted performance across most asset classes.</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﻿﻿DQN delivers the highest Sharpe and Sortino ratios in 4 out of 5 asset classes and overall, with</a:t>
            </a:r>
            <a:br>
              <a:rPr lang="en" altLang="zh-CN" sz="1800" dirty="0">
                <a:latin typeface="Calibri" panose="020F0502020204030204"/>
                <a:cs typeface="Calibri" panose="020F0502020204030204"/>
              </a:rPr>
            </a:br>
            <a:r>
              <a:rPr lang="en" altLang="zh-CN" sz="1800" dirty="0">
                <a:latin typeface="Calibri" panose="020F0502020204030204"/>
                <a:cs typeface="Calibri" panose="020F0502020204030204"/>
              </a:rPr>
              <a:t>Sharpe = 1.288 in the "All" portfolio.</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﻿﻿A2C performs best among baselines in Equity Index and ranks second overall.</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﻿﻿Without volatility scaling (raw signals, Table 3), returns are generally lower and risk-adjusted performance deteriorates, highlighting the importance of volatility targeting.</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﻿﻿DRL models are able to capture large trends while scaling down or holding during consolidation periods, generating positive profits after transaction costs.</a:t>
            </a:r>
          </a:p>
          <a:p>
            <a:pPr>
              <a:defRPr sz="1800">
                <a:latin typeface="Calibri"/>
              </a:defRPr>
            </a:pPr>
            <a:endParaRPr dirty="0"/>
          </a:p>
        </p:txBody>
      </p:sp>
      <p:sp>
        <p:nvSpPr>
          <p:cNvPr id="7" name="Google Shape;112;p4">
            <a:extLst>
              <a:ext uri="{FF2B5EF4-FFF2-40B4-BE49-F238E27FC236}">
                <a16:creationId xmlns:a16="http://schemas.microsoft.com/office/drawing/2014/main" id="{6E32F447-6A5D-C56C-A490-5939DD9B6BFD}"/>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b="1" dirty="0">
                <a:solidFill>
                  <a:srgbClr val="3D85C6"/>
                </a:solidFill>
                <a:highlight>
                  <a:schemeClr val="lt1"/>
                </a:highlight>
              </a:rPr>
              <a:t>Summary of Original </a:t>
            </a:r>
            <a:r>
              <a:rPr lang="en-US" altLang="zh-CN" sz="2400" dirty="0">
                <a:solidFill>
                  <a:srgbClr val="3D85C6"/>
                </a:solidFill>
                <a:highlight>
                  <a:schemeClr val="lt1"/>
                </a:highlight>
              </a:rPr>
              <a:t>Paper</a:t>
            </a:r>
            <a:r>
              <a:rPr lang="zh-CN" altLang="en-US" sz="2400" dirty="0">
                <a:solidFill>
                  <a:srgbClr val="3D85C6"/>
                </a:solidFill>
                <a:highlight>
                  <a:schemeClr val="lt1"/>
                </a:highlight>
              </a:rPr>
              <a:t> </a:t>
            </a:r>
            <a:r>
              <a:rPr lang="en-US" altLang="zh-CN" sz="2400" dirty="0">
                <a:solidFill>
                  <a:srgbClr val="3D85C6"/>
                </a:solidFill>
                <a:highlight>
                  <a:schemeClr val="lt1"/>
                </a:highlight>
              </a:rPr>
              <a:t>–</a:t>
            </a:r>
            <a:r>
              <a:rPr lang="zh-CN" altLang="en-US" sz="2400" dirty="0">
                <a:solidFill>
                  <a:srgbClr val="3D85C6"/>
                </a:solidFill>
                <a:highlight>
                  <a:schemeClr val="lt1"/>
                </a:highlight>
              </a:rPr>
              <a:t> </a:t>
            </a:r>
            <a:r>
              <a:rPr lang="en" altLang="zh-CN" sz="2400" dirty="0">
                <a:solidFill>
                  <a:srgbClr val="3D85C6"/>
                </a:solidFill>
                <a:highlight>
                  <a:schemeClr val="lt1"/>
                </a:highlight>
              </a:rPr>
              <a:t>Table 2 &amp; Table 3</a:t>
            </a:r>
            <a:endParaRPr lang="en-US" altLang="zh-CN" sz="2400" dirty="0">
              <a:solidFill>
                <a:srgbClr val="3D85C6"/>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991A-09DF-4966-A210-B1ECF6AB90FC}"/>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A0EE6899-C465-8B53-9A8C-39CF0E9B65FC}"/>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Reproduction</a:t>
            </a:r>
            <a:r>
              <a:rPr lang="zh-CN" altLang="en-US" sz="2400" dirty="0">
                <a:solidFill>
                  <a:srgbClr val="3D85C6"/>
                </a:solidFill>
                <a:highlight>
                  <a:schemeClr val="lt1"/>
                </a:highlight>
              </a:rPr>
              <a:t> </a:t>
            </a:r>
            <a:r>
              <a:rPr lang="en-US" altLang="zh-CN" sz="2400" dirty="0">
                <a:solidFill>
                  <a:srgbClr val="3D85C6"/>
                </a:solidFill>
                <a:highlight>
                  <a:schemeClr val="lt1"/>
                </a:highlight>
              </a:rPr>
              <a:t>Results</a:t>
            </a:r>
          </a:p>
        </p:txBody>
      </p:sp>
      <p:pic>
        <p:nvPicPr>
          <p:cNvPr id="5" name="图片 4" descr="表格&#10;&#10;AI 生成的内容可能不正确。">
            <a:extLst>
              <a:ext uri="{FF2B5EF4-FFF2-40B4-BE49-F238E27FC236}">
                <a16:creationId xmlns:a16="http://schemas.microsoft.com/office/drawing/2014/main" id="{4E262EB5-7A49-2016-061A-E14DB2020566}"/>
              </a:ext>
            </a:extLst>
          </p:cNvPr>
          <p:cNvPicPr>
            <a:picLocks noChangeAspect="1"/>
          </p:cNvPicPr>
          <p:nvPr/>
        </p:nvPicPr>
        <p:blipFill>
          <a:blip r:embed="rId2"/>
          <a:stretch>
            <a:fillRect/>
          </a:stretch>
        </p:blipFill>
        <p:spPr>
          <a:xfrm>
            <a:off x="274314" y="790184"/>
            <a:ext cx="4245540" cy="5660720"/>
          </a:xfrm>
          <a:prstGeom prst="rect">
            <a:avLst/>
          </a:prstGeom>
        </p:spPr>
      </p:pic>
      <p:pic>
        <p:nvPicPr>
          <p:cNvPr id="6" name="图片 5" descr="表格&#10;&#10;AI 生成的内容可能不正确。">
            <a:extLst>
              <a:ext uri="{FF2B5EF4-FFF2-40B4-BE49-F238E27FC236}">
                <a16:creationId xmlns:a16="http://schemas.microsoft.com/office/drawing/2014/main" id="{07EF1BD7-D871-B3B2-BB4F-C4BF226360B4}"/>
              </a:ext>
            </a:extLst>
          </p:cNvPr>
          <p:cNvPicPr>
            <a:picLocks noChangeAspect="1"/>
          </p:cNvPicPr>
          <p:nvPr/>
        </p:nvPicPr>
        <p:blipFill>
          <a:blip r:embed="rId3"/>
          <a:stretch>
            <a:fillRect/>
          </a:stretch>
        </p:blipFill>
        <p:spPr>
          <a:xfrm>
            <a:off x="4624148" y="790185"/>
            <a:ext cx="4159834" cy="5546446"/>
          </a:xfrm>
          <a:prstGeom prst="rect">
            <a:avLst/>
          </a:prstGeom>
        </p:spPr>
      </p:pic>
    </p:spTree>
    <p:extLst>
      <p:ext uri="{BB962C8B-B14F-4D97-AF65-F5344CB8AC3E}">
        <p14:creationId xmlns:p14="http://schemas.microsoft.com/office/powerpoint/2010/main" val="3484342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43E2-7689-9A70-03F0-ECADB677ED88}"/>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D9DE83E8-8C41-853A-1D1D-7D83BE256308}"/>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Reproduction</a:t>
            </a:r>
            <a:r>
              <a:rPr lang="zh-CN" altLang="en-US" sz="2400" dirty="0">
                <a:solidFill>
                  <a:srgbClr val="3D85C6"/>
                </a:solidFill>
                <a:highlight>
                  <a:schemeClr val="lt1"/>
                </a:highlight>
              </a:rPr>
              <a:t> </a:t>
            </a:r>
            <a:r>
              <a:rPr lang="en-US" altLang="zh-CN" sz="2400" dirty="0">
                <a:solidFill>
                  <a:srgbClr val="3D85C6"/>
                </a:solidFill>
                <a:highlight>
                  <a:schemeClr val="lt1"/>
                </a:highlight>
              </a:rPr>
              <a:t>Results</a:t>
            </a:r>
          </a:p>
        </p:txBody>
      </p:sp>
      <p:pic>
        <p:nvPicPr>
          <p:cNvPr id="3" name="图片 2">
            <a:extLst>
              <a:ext uri="{FF2B5EF4-FFF2-40B4-BE49-F238E27FC236}">
                <a16:creationId xmlns:a16="http://schemas.microsoft.com/office/drawing/2014/main" id="{82A55D57-2602-1B4B-4D57-11A47A8CA96B}"/>
              </a:ext>
            </a:extLst>
          </p:cNvPr>
          <p:cNvPicPr>
            <a:picLocks noChangeAspect="1"/>
          </p:cNvPicPr>
          <p:nvPr/>
        </p:nvPicPr>
        <p:blipFill>
          <a:blip r:embed="rId2"/>
          <a:stretch>
            <a:fillRect/>
          </a:stretch>
        </p:blipFill>
        <p:spPr>
          <a:xfrm>
            <a:off x="449065" y="1119373"/>
            <a:ext cx="8235522" cy="4619253"/>
          </a:xfrm>
          <a:prstGeom prst="rect">
            <a:avLst/>
          </a:prstGeom>
        </p:spPr>
      </p:pic>
    </p:spTree>
    <p:extLst>
      <p:ext uri="{BB962C8B-B14F-4D97-AF65-F5344CB8AC3E}">
        <p14:creationId xmlns:p14="http://schemas.microsoft.com/office/powerpoint/2010/main" val="2504023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15777-0DDC-FFA7-799D-1B4C3BBBD46C}"/>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5FF2B419-76D1-4639-01A7-2EE6520ABDCC}"/>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Differences vs Original</a:t>
            </a:r>
          </a:p>
        </p:txBody>
      </p:sp>
      <p:sp>
        <p:nvSpPr>
          <p:cNvPr id="2" name="TextBox 2">
            <a:extLst>
              <a:ext uri="{FF2B5EF4-FFF2-40B4-BE49-F238E27FC236}">
                <a16:creationId xmlns:a16="http://schemas.microsoft.com/office/drawing/2014/main" id="{FBED7677-76C9-5486-E461-8B036967A59D}"/>
              </a:ext>
            </a:extLst>
          </p:cNvPr>
          <p:cNvSpPr txBox="1"/>
          <p:nvPr/>
        </p:nvSpPr>
        <p:spPr>
          <a:xfrm>
            <a:off x="548640" y="1097280"/>
            <a:ext cx="7982043" cy="5035353"/>
          </a:xfrm>
          <a:prstGeom prst="rect">
            <a:avLst/>
          </a:prstGeom>
          <a:noFill/>
        </p:spPr>
        <p:txBody>
          <a:bodyPr wrap="square">
            <a:spAutoFit/>
          </a:bodyPr>
          <a:lstStyle/>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Original paper: DQN and A2C generate strong positive cumulative returns in most asset classes, especially Commodity, Fixed Income, FX, and All portfolio. </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Our reproduction: RL models do not show stable alpha. DQN often trends downward and underperforms simple baselines. </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Equity Index is the only asset class where the reproduced pattern is broadly consistent with the paper: Long Only performs best due to the strong upward equity market trend. </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Commodity and FX show the largest discrepancy. The paper claims RL can handle volatile or mean-reverting markets, but our reproduced DQN suffers large cumulative losses. </a:t>
            </a:r>
          </a:p>
          <a:p>
            <a:pPr marL="285750" indent="-285750">
              <a:lnSpc>
                <a:spcPct val="150000"/>
              </a:lnSpc>
              <a:buClr>
                <a:schemeClr val="bg2"/>
              </a:buClr>
              <a:buSzPct val="50000"/>
              <a:buFont typeface="Wingdings" pitchFamily="2" charset="2"/>
              <a:buChar char="n"/>
            </a:pPr>
            <a:r>
              <a:rPr lang="en" altLang="zh-CN" sz="1800" dirty="0">
                <a:latin typeface="Calibri" panose="020F0502020204030204"/>
                <a:cs typeface="Calibri" panose="020F0502020204030204"/>
              </a:rPr>
              <a:t>All portfolio fails to show the diversification benefit reported in the paper. The reproduced DQN remains negative even after combining all contracts.</a:t>
            </a:r>
            <a:endParaRPr sz="1800" dirty="0">
              <a:latin typeface="Calibri" panose="020F0502020204030204"/>
              <a:cs typeface="Calibri" panose="020F0502020204030204"/>
            </a:endParaRPr>
          </a:p>
        </p:txBody>
      </p:sp>
    </p:spTree>
    <p:extLst>
      <p:ext uri="{BB962C8B-B14F-4D97-AF65-F5344CB8AC3E}">
        <p14:creationId xmlns:p14="http://schemas.microsoft.com/office/powerpoint/2010/main" val="115892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7872-C63E-2B3C-03F1-67AAFC1FA397}"/>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1B2BC229-01BC-12B9-B754-3750A80F5622}"/>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Reasons for Differences</a:t>
            </a:r>
          </a:p>
        </p:txBody>
      </p:sp>
      <p:sp>
        <p:nvSpPr>
          <p:cNvPr id="2" name="TextBox 2">
            <a:extLst>
              <a:ext uri="{FF2B5EF4-FFF2-40B4-BE49-F238E27FC236}">
                <a16:creationId xmlns:a16="http://schemas.microsoft.com/office/drawing/2014/main" id="{D11211CD-5AD6-8047-51B2-7A51205A942C}"/>
              </a:ext>
            </a:extLst>
          </p:cNvPr>
          <p:cNvSpPr txBox="1"/>
          <p:nvPr/>
        </p:nvSpPr>
        <p:spPr>
          <a:xfrm>
            <a:off x="548640" y="1097280"/>
            <a:ext cx="7982043" cy="4906343"/>
          </a:xfrm>
          <a:prstGeom prst="rect">
            <a:avLst/>
          </a:prstGeom>
          <a:noFill/>
        </p:spPr>
        <p:txBody>
          <a:bodyPr wrap="square">
            <a:spAutoFit/>
          </a:bodyPr>
          <a:lstStyle/>
          <a:p>
            <a:pPr>
              <a:lnSpc>
                <a:spcPct val="150000"/>
              </a:lnSpc>
            </a:pPr>
            <a:r>
              <a:rPr lang="en" altLang="zh-CN" b="1" dirty="0">
                <a:latin typeface="Calibri" panose="020F0502020204030204" pitchFamily="34" charset="0"/>
                <a:cs typeface="Calibri" panose="020F0502020204030204" pitchFamily="34" charset="0"/>
              </a:rPr>
              <a:t>1. Data quality issues</a:t>
            </a:r>
          </a:p>
          <a:p>
            <a:pPr marL="285750" lvl="4"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Three contracts contained only missing values. </a:t>
            </a:r>
          </a:p>
          <a:p>
            <a:pPr marL="285750" lvl="2"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Some RAD files showed abnormal price jumps. </a:t>
            </a:r>
          </a:p>
          <a:p>
            <a:pPr>
              <a:lnSpc>
                <a:spcPct val="150000"/>
              </a:lnSpc>
            </a:pPr>
            <a:r>
              <a:rPr lang="en" altLang="zh-CN" b="1" dirty="0">
                <a:latin typeface="Calibri" panose="020F0502020204030204" pitchFamily="34" charset="0"/>
                <a:cs typeface="Calibri" panose="020F0502020204030204" pitchFamily="34" charset="0"/>
              </a:rPr>
              <a:t>2. Ambiguous LSTM-RL implementation</a:t>
            </a:r>
          </a:p>
          <a:p>
            <a:pPr marL="285750"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The paper states that LSTM networks are used for the RL models, but the exact implementation is not fully specified. </a:t>
            </a:r>
          </a:p>
          <a:p>
            <a:pPr marL="285750"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It is unclear how LSTM is integrated into DQN and A2C. </a:t>
            </a:r>
          </a:p>
          <a:p>
            <a:pPr>
              <a:lnSpc>
                <a:spcPct val="150000"/>
              </a:lnSpc>
            </a:pPr>
            <a:r>
              <a:rPr lang="en" altLang="zh-CN" b="1" dirty="0">
                <a:latin typeface="Calibri" panose="020F0502020204030204" pitchFamily="34" charset="0"/>
                <a:cs typeface="Calibri" panose="020F0502020204030204" pitchFamily="34" charset="0"/>
              </a:rPr>
              <a:t>3. Missing key hyperparameters</a:t>
            </a:r>
          </a:p>
          <a:p>
            <a:pPr marL="285750"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The paper does not fully specify some important parameters required for exact reproduction. The most important missing parameter is the </a:t>
            </a:r>
            <a:r>
              <a:rPr lang="en" altLang="zh-CN" b="1" dirty="0">
                <a:latin typeface="Calibri" panose="020F0502020204030204" pitchFamily="34" charset="0"/>
                <a:cs typeface="Calibri" panose="020F0502020204030204" pitchFamily="34" charset="0"/>
              </a:rPr>
              <a:t>sigma target</a:t>
            </a:r>
            <a:r>
              <a:rPr lang="en" altLang="zh-CN" dirty="0">
                <a:latin typeface="Calibri" panose="020F0502020204030204" pitchFamily="34" charset="0"/>
                <a:cs typeface="Calibri" panose="020F0502020204030204" pitchFamily="34" charset="0"/>
              </a:rPr>
              <a:t> used in portfolio-level volatility scaling. </a:t>
            </a:r>
          </a:p>
          <a:p>
            <a:pPr marL="285750"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Volatility scaling directly affects rewards, position sizes, and cumulative returns. </a:t>
            </a:r>
          </a:p>
          <a:p>
            <a:pPr>
              <a:lnSpc>
                <a:spcPct val="150000"/>
              </a:lnSpc>
            </a:pPr>
            <a:r>
              <a:rPr lang="en-US" altLang="zh-CN" b="1" dirty="0">
                <a:latin typeface="Calibri" panose="020F0502020204030204" pitchFamily="34" charset="0"/>
                <a:cs typeface="Calibri" panose="020F0502020204030204" pitchFamily="34" charset="0"/>
              </a:rPr>
              <a:t>4</a:t>
            </a:r>
            <a:r>
              <a:rPr lang="en" altLang="zh-CN" b="1" dirty="0">
                <a:latin typeface="Calibri" panose="020F0502020204030204" pitchFamily="34" charset="0"/>
                <a:cs typeface="Calibri" panose="020F0502020204030204" pitchFamily="34" charset="0"/>
              </a:rPr>
              <a:t>. Original Figure 1 has visual inconsistencies</a:t>
            </a:r>
          </a:p>
          <a:p>
            <a:pPr marL="285750" indent="-285750">
              <a:lnSpc>
                <a:spcPct val="150000"/>
              </a:lnSpc>
              <a:buFont typeface="Arial" panose="020B0604020202020204" pitchFamily="34" charset="0"/>
              <a:buChar char="•"/>
            </a:pPr>
            <a:r>
              <a:rPr lang="en" altLang="zh-CN" dirty="0">
                <a:latin typeface="Calibri" panose="020F0502020204030204" pitchFamily="34" charset="0"/>
                <a:cs typeface="Calibri" panose="020F0502020204030204" pitchFamily="34" charset="0"/>
              </a:rPr>
              <a:t>The cumulative return curves in the original Figure 1 do not appear to start from the same level across all asset classes. This suggests that additional normalization or plotting adjustments may have been applied. </a:t>
            </a:r>
          </a:p>
        </p:txBody>
      </p:sp>
    </p:spTree>
    <p:extLst>
      <p:ext uri="{BB962C8B-B14F-4D97-AF65-F5344CB8AC3E}">
        <p14:creationId xmlns:p14="http://schemas.microsoft.com/office/powerpoint/2010/main" val="251933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13C26-7974-99EC-BA05-E3E92160AF9A}"/>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CEFFED32-A934-631E-F582-218BEF242DFA}"/>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Robustness Checks</a:t>
            </a:r>
          </a:p>
        </p:txBody>
      </p:sp>
    </p:spTree>
    <p:extLst>
      <p:ext uri="{BB962C8B-B14F-4D97-AF65-F5344CB8AC3E}">
        <p14:creationId xmlns:p14="http://schemas.microsoft.com/office/powerpoint/2010/main" val="2828442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8786-07B9-8098-1974-3DDEF40D4D94}"/>
            </a:ext>
          </a:extLst>
        </p:cNvPr>
        <p:cNvGrpSpPr/>
        <p:nvPr/>
      </p:nvGrpSpPr>
      <p:grpSpPr>
        <a:xfrm>
          <a:off x="0" y="0"/>
          <a:ext cx="0" cy="0"/>
          <a:chOff x="0" y="0"/>
          <a:chExt cx="0" cy="0"/>
        </a:xfrm>
      </p:grpSpPr>
      <p:sp>
        <p:nvSpPr>
          <p:cNvPr id="7" name="Google Shape;112;p4">
            <a:extLst>
              <a:ext uri="{FF2B5EF4-FFF2-40B4-BE49-F238E27FC236}">
                <a16:creationId xmlns:a16="http://schemas.microsoft.com/office/drawing/2014/main" id="{1367394F-98A3-F75F-39DD-B125B66DCCF5}"/>
              </a:ext>
            </a:extLst>
          </p:cNvPr>
          <p:cNvSpPr txBox="1">
            <a:spLocks noGrp="1"/>
          </p:cNvSpPr>
          <p:nvPr>
            <p:ph type="title"/>
          </p:nvPr>
        </p:nvSpPr>
        <p:spPr>
          <a:xfrm>
            <a:off x="301351" y="225992"/>
            <a:ext cx="8530950" cy="763500"/>
          </a:xfrm>
          <a:prstGeom prst="rect">
            <a:avLst/>
          </a:prstGeom>
          <a:noFill/>
          <a:ln>
            <a:noFill/>
          </a:ln>
        </p:spPr>
        <p:txBody>
          <a:bodyPr spcFirstLastPara="1" wrap="square" lIns="91425" tIns="45700" rIns="91425" bIns="45700" anchor="ctr" anchorCtr="0">
            <a:normAutofit/>
          </a:bodyPr>
          <a:lstStyle/>
          <a:p>
            <a:pPr>
              <a:buClr>
                <a:srgbClr val="047857"/>
              </a:buClr>
              <a:buSzPts val="2400"/>
            </a:pPr>
            <a:r>
              <a:rPr lang="en-US" altLang="zh-CN" sz="2400" dirty="0">
                <a:solidFill>
                  <a:srgbClr val="3D85C6"/>
                </a:solidFill>
                <a:highlight>
                  <a:schemeClr val="lt1"/>
                </a:highlight>
              </a:rPr>
              <a:t>Risk diagnostics</a:t>
            </a:r>
          </a:p>
        </p:txBody>
      </p:sp>
      <p:pic>
        <p:nvPicPr>
          <p:cNvPr id="3" name="图片 2" descr="表格&#10;&#10;AI 生成的内容可能不正确。">
            <a:extLst>
              <a:ext uri="{FF2B5EF4-FFF2-40B4-BE49-F238E27FC236}">
                <a16:creationId xmlns:a16="http://schemas.microsoft.com/office/drawing/2014/main" id="{57E3C1D3-3FE9-B878-6051-8B16E7E5F5B8}"/>
              </a:ext>
            </a:extLst>
          </p:cNvPr>
          <p:cNvPicPr>
            <a:picLocks noChangeAspect="1"/>
          </p:cNvPicPr>
          <p:nvPr/>
        </p:nvPicPr>
        <p:blipFill rotWithShape="1">
          <a:blip r:embed="rId2"/>
          <a:srcRect l="12077" t="7943" r="11210"/>
          <a:stretch>
            <a:fillRect/>
          </a:stretch>
        </p:blipFill>
        <p:spPr>
          <a:xfrm>
            <a:off x="1027253" y="789075"/>
            <a:ext cx="7079145" cy="4776000"/>
          </a:xfrm>
          <a:prstGeom prst="rect">
            <a:avLst/>
          </a:prstGeom>
        </p:spPr>
      </p:pic>
      <p:sp>
        <p:nvSpPr>
          <p:cNvPr id="5" name="文本框 4">
            <a:extLst>
              <a:ext uri="{FF2B5EF4-FFF2-40B4-BE49-F238E27FC236}">
                <a16:creationId xmlns:a16="http://schemas.microsoft.com/office/drawing/2014/main" id="{9588A535-6669-83E1-0E33-4241DF553489}"/>
              </a:ext>
            </a:extLst>
          </p:cNvPr>
          <p:cNvSpPr txBox="1"/>
          <p:nvPr/>
        </p:nvSpPr>
        <p:spPr>
          <a:xfrm>
            <a:off x="755781" y="5484149"/>
            <a:ext cx="7622087" cy="1169551"/>
          </a:xfrm>
          <a:prstGeom prst="rect">
            <a:avLst/>
          </a:prstGeom>
          <a:noFill/>
        </p:spPr>
        <p:txBody>
          <a:bodyPr wrap="square">
            <a:spAutoFit/>
          </a:bodyPr>
          <a:lstStyle/>
          <a:p>
            <a:pPr algn="just"/>
            <a:r>
              <a:rPr lang="en" altLang="zh-CN" dirty="0">
                <a:latin typeface="Calibri" panose="020F0502020204030204" pitchFamily="34" charset="0"/>
                <a:cs typeface="Calibri" panose="020F0502020204030204" pitchFamily="34" charset="0"/>
              </a:rPr>
              <a:t>The diagnostic table shows that Sharpe performance is mainly driven by E(R), since volatility is fixed around the portfolio target. Positive Sharpe only appears when the strategy generates positive expected returns, mainly in Equity Index and Fixed Income. In contrast, Commodity, FX, and the All portfolio show mostly negative E(R) and Sharpe, suggesting weak return generation rather than excessive volatility as the main source of underperformance.</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98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a:spLocks noGrp="1"/>
          </p:cNvSpPr>
          <p:nvPr>
            <p:ph type="title"/>
          </p:nvPr>
        </p:nvSpPr>
        <p:spPr>
          <a:xfrm>
            <a:off x="311700" y="-55433"/>
            <a:ext cx="8520600" cy="7635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47857"/>
              </a:buClr>
              <a:buSzPts val="2400"/>
              <a:buFont typeface="Calibri" panose="020F0502020204030204"/>
              <a:buNone/>
            </a:pPr>
            <a:r>
              <a:rPr lang="en-US" sz="2400" b="1" dirty="0">
                <a:solidFill>
                  <a:srgbClr val="3D85C6"/>
                </a:solidFill>
                <a:latin typeface="Calibri" panose="020F0502020204030204"/>
                <a:ea typeface="Calibri" panose="020F0502020204030204"/>
                <a:cs typeface="Calibri" panose="020F0502020204030204"/>
                <a:sym typeface="Calibri" panose="020F0502020204030204"/>
              </a:rPr>
              <a:t>Extension</a:t>
            </a:r>
            <a:r>
              <a:rPr lang="zh-CN" altLang="en-US" sz="2400" b="1" dirty="0">
                <a:solidFill>
                  <a:srgbClr val="3D85C6"/>
                </a:solidFill>
              </a:rPr>
              <a:t> </a:t>
            </a:r>
            <a:r>
              <a:rPr lang="en-US" altLang="zh-CN" sz="2400" b="1" dirty="0">
                <a:solidFill>
                  <a:srgbClr val="3D85C6"/>
                </a:solidFill>
              </a:rPr>
              <a:t>-</a:t>
            </a:r>
            <a:r>
              <a:rPr lang="zh-CN" altLang="en-US" sz="2400" b="1" dirty="0">
                <a:solidFill>
                  <a:srgbClr val="3D85C6"/>
                </a:solidFill>
              </a:rPr>
              <a:t> </a:t>
            </a:r>
            <a:r>
              <a:rPr lang="en-US" sz="2400" b="1" dirty="0">
                <a:solidFill>
                  <a:srgbClr val="3D85C6"/>
                </a:solidFill>
                <a:latin typeface="Calibri" panose="020F0502020204030204"/>
                <a:ea typeface="Calibri" panose="020F0502020204030204"/>
                <a:cs typeface="Calibri" panose="020F0502020204030204"/>
                <a:sym typeface="Calibri" panose="020F0502020204030204"/>
              </a:rPr>
              <a:t>Regime Detection:</a:t>
            </a:r>
            <a:endParaRPr lang="en-US" sz="2400" dirty="0">
              <a:solidFill>
                <a:srgbClr val="3D85C6"/>
              </a:solidFill>
              <a:latin typeface="Calibri" panose="020F0502020204030204"/>
              <a:ea typeface="Calibri" panose="020F0502020204030204"/>
              <a:cs typeface="Calibri" panose="020F0502020204030204"/>
              <a:sym typeface="Calibri" panose="020F0502020204030204"/>
            </a:endParaRPr>
          </a:p>
        </p:txBody>
      </p:sp>
      <p:sp>
        <p:nvSpPr>
          <p:cNvPr id="9" name="Google Shape;84;p3"/>
          <p:cNvSpPr/>
          <p:nvPr/>
        </p:nvSpPr>
        <p:spPr>
          <a:xfrm>
            <a:off x="440288" y="1441292"/>
            <a:ext cx="1759500" cy="598800"/>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b="1" dirty="0">
                <a:solidFill>
                  <a:schemeClr val="lt1"/>
                </a:solidFill>
                <a:latin typeface="Calibri" panose="020F0502020204030204"/>
                <a:cs typeface="Calibri" panose="020F0502020204030204"/>
                <a:sym typeface="Calibri" panose="020F0502020204030204"/>
              </a:rPr>
              <a:t>Load Data of 50 Contracts</a:t>
            </a:r>
            <a:endParaRPr b="1" dirty="0">
              <a:solidFill>
                <a:schemeClr val="lt1"/>
              </a:solidFill>
            </a:endParaRPr>
          </a:p>
        </p:txBody>
      </p:sp>
      <p:cxnSp>
        <p:nvCxnSpPr>
          <p:cNvPr id="10" name="Google Shape;87;p3"/>
          <p:cNvCxnSpPr>
            <a:stCxn id="9" idx="3"/>
            <a:endCxn id="11" idx="1"/>
          </p:cNvCxnSpPr>
          <p:nvPr/>
        </p:nvCxnSpPr>
        <p:spPr>
          <a:xfrm>
            <a:off x="2199788" y="1740692"/>
            <a:ext cx="539539" cy="1319"/>
          </a:xfrm>
          <a:prstGeom prst="straightConnector1">
            <a:avLst/>
          </a:prstGeom>
          <a:noFill/>
          <a:ln w="9525" cap="flat" cmpd="sng">
            <a:solidFill>
              <a:schemeClr val="dk1"/>
            </a:solidFill>
            <a:prstDash val="solid"/>
            <a:miter lim="800000"/>
            <a:headEnd type="none" w="sm" len="sm"/>
            <a:tailEnd type="triangle" w="med" len="med"/>
          </a:ln>
        </p:spPr>
      </p:cxnSp>
      <p:sp>
        <p:nvSpPr>
          <p:cNvPr id="11" name="Google Shape;84;p3"/>
          <p:cNvSpPr/>
          <p:nvPr/>
        </p:nvSpPr>
        <p:spPr>
          <a:xfrm>
            <a:off x="2739327" y="1075742"/>
            <a:ext cx="2430801" cy="1332538"/>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b="1" dirty="0">
                <a:solidFill>
                  <a:schemeClr val="lt1"/>
                </a:solidFill>
                <a:latin typeface="Calibri" panose="020F0502020204030204"/>
                <a:cs typeface="Calibri" panose="020F0502020204030204"/>
              </a:rPr>
              <a:t>Build State Matrices</a:t>
            </a:r>
          </a:p>
          <a:p>
            <a:pPr algn="ctr"/>
            <a:r>
              <a:rPr lang="en-GB" altLang="zh-CN" b="1" dirty="0">
                <a:solidFill>
                  <a:schemeClr val="lt1"/>
                </a:solidFill>
                <a:latin typeface="Calibri" panose="020F0502020204030204"/>
                <a:cs typeface="Calibri" panose="020F0502020204030204"/>
              </a:rPr>
              <a:t>For each asset at each time point</a:t>
            </a:r>
          </a:p>
          <a:p>
            <a:pPr algn="ctr"/>
            <a:r>
              <a:rPr lang="en-GB" altLang="zh-CN" b="1" dirty="0">
                <a:solidFill>
                  <a:schemeClr val="lt1"/>
                </a:solidFill>
                <a:latin typeface="Calibri" panose="020F0502020204030204"/>
                <a:cs typeface="Calibri" panose="020F0502020204030204"/>
              </a:rPr>
              <a:t>Construct 60x9 matrix</a:t>
            </a:r>
          </a:p>
        </p:txBody>
      </p:sp>
      <p:sp>
        <p:nvSpPr>
          <p:cNvPr id="16" name="Google Shape;84;p3"/>
          <p:cNvSpPr/>
          <p:nvPr/>
        </p:nvSpPr>
        <p:spPr>
          <a:xfrm>
            <a:off x="5709668" y="1051046"/>
            <a:ext cx="2994044" cy="1368788"/>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sz="1400" b="1" dirty="0">
                <a:solidFill>
                  <a:schemeClr val="lt1"/>
                </a:solidFill>
                <a:latin typeface="Calibri" panose="020F0502020204030204"/>
                <a:cs typeface="Calibri" panose="020F0502020204030204"/>
              </a:rPr>
              <a:t>Extract FFT Features</a:t>
            </a:r>
          </a:p>
          <a:p>
            <a:pPr algn="ctr"/>
            <a:r>
              <a:rPr lang="en-GB" altLang="zh-CN" sz="1400" b="1" dirty="0">
                <a:solidFill>
                  <a:schemeClr val="lt1"/>
                </a:solidFill>
                <a:latin typeface="Calibri" panose="020F0502020204030204"/>
                <a:cs typeface="Calibri" panose="020F0502020204030204"/>
              </a:rPr>
              <a:t>9 columns independent FFT → 10</a:t>
            </a:r>
          </a:p>
          <a:p>
            <a:pPr algn="ctr"/>
            <a:r>
              <a:rPr lang="en-GB" altLang="zh-CN" sz="1400" b="1" dirty="0">
                <a:solidFill>
                  <a:schemeClr val="lt1"/>
                </a:solidFill>
                <a:latin typeface="Calibri" panose="020F0502020204030204"/>
                <a:cs typeface="Calibri" panose="020F0502020204030204"/>
              </a:rPr>
              <a:t>Real + 10 Imaginary</a:t>
            </a:r>
          </a:p>
          <a:p>
            <a:pPr algn="ctr"/>
            <a:r>
              <a:rPr lang="en-GB" altLang="zh-CN" sz="1400" b="1" dirty="0">
                <a:solidFill>
                  <a:schemeClr val="lt1"/>
                </a:solidFill>
                <a:latin typeface="Calibri" panose="020F0502020204030204"/>
                <a:cs typeface="Calibri" panose="020F0502020204030204"/>
              </a:rPr>
              <a:t>= 180-dimensional vector</a:t>
            </a:r>
          </a:p>
        </p:txBody>
      </p:sp>
      <p:sp>
        <p:nvSpPr>
          <p:cNvPr id="17" name="Google Shape;84;p3"/>
          <p:cNvSpPr/>
          <p:nvPr/>
        </p:nvSpPr>
        <p:spPr>
          <a:xfrm>
            <a:off x="3300408" y="2915560"/>
            <a:ext cx="2540023" cy="1332538"/>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b="1" dirty="0">
                <a:solidFill>
                  <a:schemeClr val="lt1"/>
                </a:solidFill>
                <a:latin typeface="Calibri" panose="020F0502020204030204"/>
                <a:cs typeface="Calibri" panose="020F0502020204030204"/>
              </a:rPr>
              <a:t>GMM Clustering</a:t>
            </a:r>
          </a:p>
          <a:p>
            <a:pPr algn="ctr"/>
            <a:r>
              <a:rPr lang="en-GB" altLang="zh-CN" b="1" dirty="0" err="1">
                <a:solidFill>
                  <a:schemeClr val="lt1"/>
                </a:solidFill>
                <a:latin typeface="Calibri" panose="020F0502020204030204"/>
                <a:cs typeface="Calibri" panose="020F0502020204030204"/>
              </a:rPr>
              <a:t>n_components</a:t>
            </a:r>
            <a:r>
              <a:rPr lang="en-GB" altLang="zh-CN" b="1" dirty="0">
                <a:solidFill>
                  <a:schemeClr val="lt1"/>
                </a:solidFill>
                <a:latin typeface="Calibri" panose="020F0502020204030204"/>
                <a:cs typeface="Calibri" panose="020F0502020204030204"/>
              </a:rPr>
              <a:t> = 3</a:t>
            </a:r>
          </a:p>
          <a:p>
            <a:pPr algn="ctr"/>
            <a:r>
              <a:rPr lang="en-GB" altLang="zh-CN" b="1" dirty="0">
                <a:solidFill>
                  <a:schemeClr val="lt1"/>
                </a:solidFill>
                <a:latin typeface="Calibri" panose="020F0502020204030204"/>
                <a:cs typeface="Calibri" panose="020F0502020204030204"/>
              </a:rPr>
              <a:t>Fit Gaussian Mixture Model</a:t>
            </a:r>
          </a:p>
        </p:txBody>
      </p:sp>
      <p:sp>
        <p:nvSpPr>
          <p:cNvPr id="18" name="Google Shape;84;p3"/>
          <p:cNvSpPr/>
          <p:nvPr/>
        </p:nvSpPr>
        <p:spPr>
          <a:xfrm>
            <a:off x="3802039" y="4606014"/>
            <a:ext cx="1536764" cy="685957"/>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b="1" dirty="0">
                <a:solidFill>
                  <a:schemeClr val="lt1"/>
                </a:solidFill>
                <a:latin typeface="Calibri" panose="020F0502020204030204"/>
                <a:cs typeface="Calibri" panose="020F0502020204030204"/>
              </a:rPr>
              <a:t>Output Regime</a:t>
            </a:r>
          </a:p>
        </p:txBody>
      </p:sp>
      <p:sp>
        <p:nvSpPr>
          <p:cNvPr id="19" name="Google Shape;84;p3"/>
          <p:cNvSpPr/>
          <p:nvPr/>
        </p:nvSpPr>
        <p:spPr>
          <a:xfrm>
            <a:off x="1217013" y="5523576"/>
            <a:ext cx="2292671" cy="937764"/>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b="1" dirty="0">
                <a:solidFill>
                  <a:schemeClr val="lt1"/>
                </a:solidFill>
                <a:latin typeface="Calibri" panose="020F0502020204030204"/>
                <a:cs typeface="Calibri" panose="020F0502020204030204"/>
              </a:rPr>
              <a:t>Hard Labels: predict() Each time point → 0/1/2</a:t>
            </a:r>
          </a:p>
        </p:txBody>
      </p:sp>
      <p:sp>
        <p:nvSpPr>
          <p:cNvPr id="20" name="Google Shape;84;p3"/>
          <p:cNvSpPr/>
          <p:nvPr/>
        </p:nvSpPr>
        <p:spPr>
          <a:xfrm>
            <a:off x="5725101" y="5424883"/>
            <a:ext cx="2413062" cy="1135151"/>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GB" altLang="zh-CN" b="1" dirty="0">
                <a:solidFill>
                  <a:schemeClr val="lt1"/>
                </a:solidFill>
                <a:latin typeface="Calibri" panose="020F0502020204030204"/>
                <a:cs typeface="Calibri" panose="020F0502020204030204"/>
              </a:rPr>
              <a:t>Soft</a:t>
            </a:r>
            <a:r>
              <a:rPr lang="zh-CN" altLang="en-US" b="1" dirty="0">
                <a:solidFill>
                  <a:schemeClr val="lt1"/>
                </a:solidFill>
                <a:latin typeface="Calibri" panose="020F0502020204030204"/>
                <a:cs typeface="Calibri" panose="020F0502020204030204"/>
              </a:rPr>
              <a:t> </a:t>
            </a:r>
            <a:r>
              <a:rPr lang="en-GB" altLang="zh-CN" b="1" dirty="0">
                <a:solidFill>
                  <a:schemeClr val="lt1"/>
                </a:solidFill>
                <a:latin typeface="Calibri" panose="020F0502020204030204"/>
                <a:cs typeface="Calibri" panose="020F0502020204030204"/>
              </a:rPr>
              <a:t>Prob: </a:t>
            </a:r>
            <a:r>
              <a:rPr lang="en-GB" altLang="zh-CN" b="1" dirty="0" err="1">
                <a:solidFill>
                  <a:schemeClr val="lt1"/>
                </a:solidFill>
                <a:latin typeface="Calibri" panose="020F0502020204030204"/>
                <a:cs typeface="Calibri" panose="020F0502020204030204"/>
              </a:rPr>
              <a:t>predict_proba</a:t>
            </a:r>
            <a:r>
              <a:rPr lang="en-GB" altLang="zh-CN" b="1" dirty="0">
                <a:solidFill>
                  <a:schemeClr val="lt1"/>
                </a:solidFill>
                <a:latin typeface="Calibri" panose="020F0502020204030204"/>
                <a:cs typeface="Calibri" panose="020F0502020204030204"/>
              </a:rPr>
              <a:t>() Each time point → P = [p0, p1, p2]</a:t>
            </a:r>
          </a:p>
        </p:txBody>
      </p:sp>
      <p:cxnSp>
        <p:nvCxnSpPr>
          <p:cNvPr id="21" name="Google Shape;87;p3"/>
          <p:cNvCxnSpPr>
            <a:cxnSpLocks/>
            <a:stCxn id="11" idx="3"/>
            <a:endCxn id="16" idx="1"/>
          </p:cNvCxnSpPr>
          <p:nvPr/>
        </p:nvCxnSpPr>
        <p:spPr>
          <a:xfrm flipV="1">
            <a:off x="5170128" y="1735440"/>
            <a:ext cx="539540" cy="6571"/>
          </a:xfrm>
          <a:prstGeom prst="straightConnector1">
            <a:avLst/>
          </a:prstGeom>
          <a:noFill/>
          <a:ln w="9525" cap="flat" cmpd="sng">
            <a:solidFill>
              <a:schemeClr val="dk1"/>
            </a:solidFill>
            <a:prstDash val="solid"/>
            <a:miter lim="800000"/>
            <a:headEnd type="none" w="sm" len="sm"/>
            <a:tailEnd type="triangle" w="med" len="med"/>
          </a:ln>
        </p:spPr>
      </p:cxnSp>
      <p:cxnSp>
        <p:nvCxnSpPr>
          <p:cNvPr id="30" name="曲线连接符 29"/>
          <p:cNvCxnSpPr>
            <a:stCxn id="18" idx="1"/>
            <a:endCxn id="19" idx="0"/>
          </p:cNvCxnSpPr>
          <p:nvPr/>
        </p:nvCxnSpPr>
        <p:spPr>
          <a:xfrm rot="10800000" flipV="1">
            <a:off x="2363349" y="4948992"/>
            <a:ext cx="1438690" cy="5745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曲线连接符 30"/>
          <p:cNvCxnSpPr>
            <a:stCxn id="18" idx="3"/>
            <a:endCxn id="20" idx="0"/>
          </p:cNvCxnSpPr>
          <p:nvPr/>
        </p:nvCxnSpPr>
        <p:spPr>
          <a:xfrm>
            <a:off x="5338803" y="4948993"/>
            <a:ext cx="1592829" cy="47589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Google Shape;87;p3"/>
          <p:cNvCxnSpPr>
            <a:cxnSpLocks/>
            <a:stCxn id="69" idx="2"/>
            <a:endCxn id="17" idx="0"/>
          </p:cNvCxnSpPr>
          <p:nvPr/>
        </p:nvCxnSpPr>
        <p:spPr>
          <a:xfrm flipH="1">
            <a:off x="4570420" y="2609903"/>
            <a:ext cx="1" cy="305657"/>
          </a:xfrm>
          <a:prstGeom prst="straightConnector1">
            <a:avLst/>
          </a:prstGeom>
          <a:noFill/>
          <a:ln w="9525" cap="flat" cmpd="sng">
            <a:solidFill>
              <a:schemeClr val="dk1"/>
            </a:solidFill>
            <a:prstDash val="solid"/>
            <a:miter lim="800000"/>
            <a:headEnd type="none" w="sm" len="sm"/>
            <a:tailEnd type="triangle" w="med" len="med"/>
          </a:ln>
        </p:spPr>
      </p:cxnSp>
      <p:cxnSp>
        <p:nvCxnSpPr>
          <p:cNvPr id="63" name="Google Shape;87;p3"/>
          <p:cNvCxnSpPr>
            <a:cxnSpLocks/>
            <a:stCxn id="17" idx="2"/>
            <a:endCxn id="18" idx="0"/>
          </p:cNvCxnSpPr>
          <p:nvPr/>
        </p:nvCxnSpPr>
        <p:spPr>
          <a:xfrm>
            <a:off x="4570420" y="4248098"/>
            <a:ext cx="1" cy="357916"/>
          </a:xfrm>
          <a:prstGeom prst="straightConnector1">
            <a:avLst/>
          </a:prstGeom>
          <a:noFill/>
          <a:ln w="9525" cap="flat" cmpd="sng">
            <a:solidFill>
              <a:schemeClr val="dk1"/>
            </a:solidFill>
            <a:prstDash val="solid"/>
            <a:miter lim="800000"/>
            <a:headEnd type="none" w="sm" len="sm"/>
            <a:tailEnd type="triangle" w="med" len="med"/>
          </a:ln>
        </p:spPr>
      </p:cxnSp>
      <p:sp>
        <p:nvSpPr>
          <p:cNvPr id="69" name="圆角矩形 68"/>
          <p:cNvSpPr/>
          <p:nvPr/>
        </p:nvSpPr>
        <p:spPr>
          <a:xfrm>
            <a:off x="247139" y="909690"/>
            <a:ext cx="8646563" cy="1700213"/>
          </a:xfrm>
          <a:prstGeom prst="round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11"/>
          <p:cNvSpPr/>
          <p:nvPr/>
        </p:nvSpPr>
        <p:spPr>
          <a:xfrm>
            <a:off x="666995" y="1709390"/>
            <a:ext cx="1310975" cy="1029867"/>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100"/>
              <a:buFont typeface="Calibri" panose="020F0502020204030204"/>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Get Regime Soft Probabilities predict_proab</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chemeClr val="lt1"/>
              </a:buClr>
              <a:buSzPts val="1100"/>
              <a:buFont typeface="Calibri" panose="020F0502020204030204"/>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[p0,p1,p2] </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4" name="Google Shape;204;p11"/>
          <p:cNvSpPr/>
          <p:nvPr/>
        </p:nvSpPr>
        <p:spPr>
          <a:xfrm>
            <a:off x="2303803" y="1613809"/>
            <a:ext cx="1906477" cy="525842"/>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Original State Features</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9-dim: price, MACD, RSI, etc.</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5" name="Google Shape;205;p11"/>
          <p:cNvSpPr/>
          <p:nvPr/>
        </p:nvSpPr>
        <p:spPr>
          <a:xfrm>
            <a:off x="2601553" y="2369272"/>
            <a:ext cx="1310975" cy="486557"/>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Regime Features</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3-dim: P0, P1, P2</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6" name="Google Shape;206;p11"/>
          <p:cNvSpPr/>
          <p:nvPr/>
        </p:nvSpPr>
        <p:spPr>
          <a:xfrm>
            <a:off x="4671217" y="1975033"/>
            <a:ext cx="1699428" cy="594752"/>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Concatenate Augmented State 12-dim</a:t>
            </a:r>
            <a:endParaRPr sz="11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07" name="Google Shape;207;p11"/>
          <p:cNvCxnSpPr>
            <a:stCxn id="203" idx="0"/>
            <a:endCxn id="204" idx="0"/>
          </p:cNvCxnSpPr>
          <p:nvPr/>
        </p:nvCxnSpPr>
        <p:spPr>
          <a:xfrm rot="-5400000">
            <a:off x="2241983" y="694190"/>
            <a:ext cx="95700" cy="1934700"/>
          </a:xfrm>
          <a:prstGeom prst="curvedConnector3">
            <a:avLst>
              <a:gd name="adj1" fmla="val 338746"/>
            </a:avLst>
          </a:prstGeom>
          <a:noFill/>
          <a:ln w="9525" cap="flat" cmpd="sng">
            <a:solidFill>
              <a:srgbClr val="4A7DBA"/>
            </a:solidFill>
            <a:prstDash val="solid"/>
            <a:round/>
            <a:headEnd type="none" w="sm" len="sm"/>
            <a:tailEnd type="triangle" w="med" len="med"/>
          </a:ln>
        </p:spPr>
      </p:cxnSp>
      <p:sp>
        <p:nvSpPr>
          <p:cNvPr id="208" name="Google Shape;208;p11"/>
          <p:cNvSpPr/>
          <p:nvPr/>
        </p:nvSpPr>
        <p:spPr>
          <a:xfrm>
            <a:off x="211765" y="1110467"/>
            <a:ext cx="8720470" cy="2153279"/>
          </a:xfrm>
          <a:prstGeom prst="roundRect">
            <a:avLst>
              <a:gd name="adj" fmla="val 16667"/>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9" name="Google Shape;209;p11"/>
          <p:cNvSpPr txBox="1"/>
          <p:nvPr/>
        </p:nvSpPr>
        <p:spPr>
          <a:xfrm>
            <a:off x="3919611" y="1169949"/>
            <a:ext cx="135996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TRAINING</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0" name="Google Shape;210;p11"/>
          <p:cNvSpPr/>
          <p:nvPr/>
        </p:nvSpPr>
        <p:spPr>
          <a:xfrm>
            <a:off x="6831583" y="1975033"/>
            <a:ext cx="1699428" cy="594752"/>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lt1"/>
                </a:solidFill>
                <a:latin typeface="Calibri" panose="020F0502020204030204"/>
                <a:ea typeface="Calibri" panose="020F0502020204030204"/>
                <a:cs typeface="Calibri" panose="020F0502020204030204"/>
                <a:sym typeface="Calibri" panose="020F0502020204030204"/>
              </a:rPr>
              <a:t>Train Single A2C with full training data</a:t>
            </a:r>
            <a:endParaRPr sz="1100" b="1">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11" name="Google Shape;211;p11"/>
          <p:cNvCxnSpPr>
            <a:stCxn id="203" idx="2"/>
            <a:endCxn id="205" idx="2"/>
          </p:cNvCxnSpPr>
          <p:nvPr/>
        </p:nvCxnSpPr>
        <p:spPr>
          <a:xfrm rot="-5400000" flipH="1">
            <a:off x="2231483" y="1830257"/>
            <a:ext cx="116700" cy="1934700"/>
          </a:xfrm>
          <a:prstGeom prst="curvedConnector3">
            <a:avLst>
              <a:gd name="adj1" fmla="val 295777"/>
            </a:avLst>
          </a:prstGeom>
          <a:noFill/>
          <a:ln w="9525" cap="flat" cmpd="sng">
            <a:solidFill>
              <a:srgbClr val="4A7DBA"/>
            </a:solidFill>
            <a:prstDash val="solid"/>
            <a:round/>
            <a:headEnd type="none" w="sm" len="sm"/>
            <a:tailEnd type="triangle" w="med" len="med"/>
          </a:ln>
        </p:spPr>
      </p:cxnSp>
      <p:cxnSp>
        <p:nvCxnSpPr>
          <p:cNvPr id="212" name="Google Shape;212;p11"/>
          <p:cNvCxnSpPr>
            <a:stCxn id="205" idx="3"/>
          </p:cNvCxnSpPr>
          <p:nvPr/>
        </p:nvCxnSpPr>
        <p:spPr>
          <a:xfrm rot="10800000" flipH="1">
            <a:off x="3912528" y="2534551"/>
            <a:ext cx="758700" cy="78000"/>
          </a:xfrm>
          <a:prstGeom prst="straightConnector1">
            <a:avLst/>
          </a:prstGeom>
          <a:noFill/>
          <a:ln w="9525" cap="flat" cmpd="sng">
            <a:solidFill>
              <a:srgbClr val="4A7DBA"/>
            </a:solidFill>
            <a:prstDash val="solid"/>
            <a:round/>
            <a:headEnd type="none" w="sm" len="sm"/>
            <a:tailEnd type="triangle" w="med" len="med"/>
          </a:ln>
        </p:spPr>
      </p:cxnSp>
      <p:cxnSp>
        <p:nvCxnSpPr>
          <p:cNvPr id="213" name="Google Shape;213;p11"/>
          <p:cNvCxnSpPr>
            <a:stCxn id="204" idx="3"/>
          </p:cNvCxnSpPr>
          <p:nvPr/>
        </p:nvCxnSpPr>
        <p:spPr>
          <a:xfrm>
            <a:off x="4210280" y="1876730"/>
            <a:ext cx="460800" cy="131400"/>
          </a:xfrm>
          <a:prstGeom prst="straightConnector1">
            <a:avLst/>
          </a:prstGeom>
          <a:noFill/>
          <a:ln w="9525" cap="flat" cmpd="sng">
            <a:solidFill>
              <a:srgbClr val="4A7DBA"/>
            </a:solidFill>
            <a:prstDash val="solid"/>
            <a:round/>
            <a:headEnd type="none" w="sm" len="sm"/>
            <a:tailEnd type="triangle" w="med" len="med"/>
          </a:ln>
        </p:spPr>
      </p:cxnSp>
      <p:cxnSp>
        <p:nvCxnSpPr>
          <p:cNvPr id="214" name="Google Shape;214;p11"/>
          <p:cNvCxnSpPr>
            <a:stCxn id="206" idx="3"/>
            <a:endCxn id="210" idx="1"/>
          </p:cNvCxnSpPr>
          <p:nvPr/>
        </p:nvCxnSpPr>
        <p:spPr>
          <a:xfrm>
            <a:off x="6370645" y="2272409"/>
            <a:ext cx="460800" cy="0"/>
          </a:xfrm>
          <a:prstGeom prst="straightConnector1">
            <a:avLst/>
          </a:prstGeom>
          <a:noFill/>
          <a:ln w="9525" cap="flat" cmpd="sng">
            <a:solidFill>
              <a:srgbClr val="4A7DBA"/>
            </a:solidFill>
            <a:prstDash val="solid"/>
            <a:round/>
            <a:headEnd type="none" w="sm" len="sm"/>
            <a:tailEnd type="triangle" w="med" len="med"/>
          </a:ln>
        </p:spPr>
      </p:cxnSp>
      <p:sp>
        <p:nvSpPr>
          <p:cNvPr id="215" name="Google Shape;215;p11"/>
          <p:cNvSpPr/>
          <p:nvPr/>
        </p:nvSpPr>
        <p:spPr>
          <a:xfrm>
            <a:off x="403913" y="4546614"/>
            <a:ext cx="946652" cy="594753"/>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100"/>
              <a:buFont typeface="Calibri" panose="020F0502020204030204"/>
              <a:buNone/>
            </a:pPr>
            <a:r>
              <a:rPr lang="en-US" sz="1100" b="1">
                <a:solidFill>
                  <a:schemeClr val="lt1"/>
                </a:solidFill>
                <a:latin typeface="Calibri" panose="020F0502020204030204"/>
                <a:ea typeface="Calibri" panose="020F0502020204030204"/>
                <a:cs typeface="Calibri" panose="020F0502020204030204"/>
                <a:sym typeface="Calibri" panose="020F0502020204030204"/>
              </a:rPr>
              <a:t>Load test data</a:t>
            </a:r>
            <a:endParaRPr sz="1100" b="1">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16" name="Google Shape;216;p11"/>
          <p:cNvSpPr/>
          <p:nvPr/>
        </p:nvSpPr>
        <p:spPr>
          <a:xfrm>
            <a:off x="1678427" y="4371684"/>
            <a:ext cx="2212221" cy="932016"/>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lt1"/>
                </a:solidFill>
                <a:latin typeface="Calibri" panose="020F0502020204030204"/>
                <a:ea typeface="Calibri" panose="020F0502020204030204"/>
                <a:cs typeface="Calibri" panose="020F0502020204030204"/>
                <a:sym typeface="Calibri" panose="020F0502020204030204"/>
              </a:rPr>
              <a:t>Get Augmented State</a:t>
            </a:r>
            <a:br>
              <a:rPr lang="en-US" sz="1100" b="1">
                <a:solidFill>
                  <a:schemeClr val="lt1"/>
                </a:solidFill>
                <a:latin typeface="Calibri" panose="020F0502020204030204"/>
                <a:ea typeface="Calibri" panose="020F0502020204030204"/>
                <a:cs typeface="Calibri" panose="020F0502020204030204"/>
                <a:sym typeface="Calibri" panose="020F0502020204030204"/>
              </a:rPr>
            </a:br>
            <a:r>
              <a:rPr lang="en-US" sz="1100" b="1">
                <a:solidFill>
                  <a:schemeClr val="lt1"/>
                </a:solidFill>
                <a:latin typeface="Calibri" panose="020F0502020204030204"/>
                <a:ea typeface="Calibri" panose="020F0502020204030204"/>
                <a:cs typeface="Calibri" panose="020F0502020204030204"/>
                <a:sym typeface="Calibri" panose="020F0502020204030204"/>
              </a:rPr>
              <a:t>[Original 9-dim + Soft prob 3-dim] = 12 dim input</a:t>
            </a:r>
            <a:endParaRPr sz="1100" b="1">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17" name="Google Shape;217;p11"/>
          <p:cNvSpPr/>
          <p:nvPr/>
        </p:nvSpPr>
        <p:spPr>
          <a:xfrm>
            <a:off x="4291872" y="4317585"/>
            <a:ext cx="1877501" cy="1040213"/>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lt1"/>
                </a:solidFill>
                <a:latin typeface="Calibri" panose="020F0502020204030204"/>
                <a:ea typeface="Calibri" panose="020F0502020204030204"/>
                <a:cs typeface="Calibri" panose="020F0502020204030204"/>
                <a:sym typeface="Calibri" panose="020F0502020204030204"/>
              </a:rPr>
              <a:t>Single A2C inference LSTM automatically handles regime conditioning</a:t>
            </a:r>
            <a:endParaRPr sz="1100" b="1">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18" name="Google Shape;218;p11"/>
          <p:cNvSpPr/>
          <p:nvPr/>
        </p:nvSpPr>
        <p:spPr>
          <a:xfrm>
            <a:off x="211765" y="3761053"/>
            <a:ext cx="8720470" cy="2153279"/>
          </a:xfrm>
          <a:prstGeom prst="roundRect">
            <a:avLst>
              <a:gd name="adj" fmla="val 16667"/>
            </a:avLst>
          </a:prstGeom>
          <a:noFill/>
          <a:ln w="2540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9" name="Google Shape;219;p11"/>
          <p:cNvSpPr txBox="1"/>
          <p:nvPr/>
        </p:nvSpPr>
        <p:spPr>
          <a:xfrm>
            <a:off x="3919611" y="3820535"/>
            <a:ext cx="64312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TEST</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0" name="Google Shape;220;p11"/>
          <p:cNvSpPr/>
          <p:nvPr/>
        </p:nvSpPr>
        <p:spPr>
          <a:xfrm>
            <a:off x="6831583" y="4546614"/>
            <a:ext cx="1699428" cy="594752"/>
          </a:xfrm>
          <a:prstGeom prst="roundRect">
            <a:avLst>
              <a:gd name="adj" fmla="val 16667"/>
            </a:avLst>
          </a:prstGeom>
          <a:solidFill>
            <a:srgbClr val="0B539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lt1"/>
                </a:solidFill>
                <a:latin typeface="Calibri" panose="020F0502020204030204"/>
                <a:ea typeface="Calibri" panose="020F0502020204030204"/>
                <a:cs typeface="Calibri" panose="020F0502020204030204"/>
                <a:sym typeface="Calibri" panose="020F0502020204030204"/>
              </a:rPr>
              <a:t>Output action directly</a:t>
            </a:r>
            <a:endParaRPr sz="1100" b="1">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21" name="Google Shape;221;p11"/>
          <p:cNvCxnSpPr>
            <a:stCxn id="216" idx="3"/>
            <a:endCxn id="217" idx="1"/>
          </p:cNvCxnSpPr>
          <p:nvPr/>
        </p:nvCxnSpPr>
        <p:spPr>
          <a:xfrm>
            <a:off x="3890648" y="4837692"/>
            <a:ext cx="401100" cy="0"/>
          </a:xfrm>
          <a:prstGeom prst="straightConnector1">
            <a:avLst/>
          </a:prstGeom>
          <a:noFill/>
          <a:ln w="9525" cap="flat" cmpd="sng">
            <a:solidFill>
              <a:srgbClr val="4A7DBA"/>
            </a:solidFill>
            <a:prstDash val="solid"/>
            <a:round/>
            <a:headEnd type="none" w="sm" len="sm"/>
            <a:tailEnd type="triangle" w="med" len="med"/>
          </a:ln>
        </p:spPr>
      </p:cxnSp>
      <p:cxnSp>
        <p:nvCxnSpPr>
          <p:cNvPr id="222" name="Google Shape;222;p11"/>
          <p:cNvCxnSpPr>
            <a:stCxn id="217" idx="3"/>
            <a:endCxn id="220" idx="1"/>
          </p:cNvCxnSpPr>
          <p:nvPr/>
        </p:nvCxnSpPr>
        <p:spPr>
          <a:xfrm>
            <a:off x="6169373" y="4837692"/>
            <a:ext cx="662100" cy="6300"/>
          </a:xfrm>
          <a:prstGeom prst="straightConnector1">
            <a:avLst/>
          </a:prstGeom>
          <a:noFill/>
          <a:ln w="9525" cap="flat" cmpd="sng">
            <a:solidFill>
              <a:srgbClr val="4A7DBA"/>
            </a:solidFill>
            <a:prstDash val="solid"/>
            <a:round/>
            <a:headEnd type="none" w="sm" len="sm"/>
            <a:tailEnd type="triangle" w="med" len="med"/>
          </a:ln>
        </p:spPr>
      </p:cxnSp>
      <p:cxnSp>
        <p:nvCxnSpPr>
          <p:cNvPr id="223" name="Google Shape;223;p11"/>
          <p:cNvCxnSpPr>
            <a:stCxn id="215" idx="3"/>
            <a:endCxn id="216" idx="1"/>
          </p:cNvCxnSpPr>
          <p:nvPr/>
        </p:nvCxnSpPr>
        <p:spPr>
          <a:xfrm rot="10800000" flipH="1">
            <a:off x="1350565" y="4837691"/>
            <a:ext cx="327900" cy="6300"/>
          </a:xfrm>
          <a:prstGeom prst="straightConnector1">
            <a:avLst/>
          </a:prstGeom>
          <a:noFill/>
          <a:ln w="9525" cap="flat" cmpd="sng">
            <a:solidFill>
              <a:srgbClr val="4A7DBA"/>
            </a:solidFill>
            <a:prstDash val="solid"/>
            <a:round/>
            <a:headEnd type="none" w="sm" len="sm"/>
            <a:tailEnd type="triangle" w="med" len="med"/>
          </a:ln>
        </p:spPr>
      </p:cxnSp>
      <p:sp>
        <p:nvSpPr>
          <p:cNvPr id="4" name="Google Shape;95;p4">
            <a:extLst>
              <a:ext uri="{FF2B5EF4-FFF2-40B4-BE49-F238E27FC236}">
                <a16:creationId xmlns:a16="http://schemas.microsoft.com/office/drawing/2014/main" id="{D1EAE893-4906-37B3-BBA9-565C729B47AE}"/>
              </a:ext>
            </a:extLst>
          </p:cNvPr>
          <p:cNvSpPr txBox="1">
            <a:spLocks/>
          </p:cNvSpPr>
          <p:nvPr/>
        </p:nvSpPr>
        <p:spPr>
          <a:xfrm>
            <a:off x="311700" y="-55433"/>
            <a:ext cx="8520600" cy="76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l">
              <a:buClr>
                <a:srgbClr val="047857"/>
              </a:buClr>
              <a:buSzPts val="2400"/>
            </a:pPr>
            <a:r>
              <a:rPr lang="en-US" sz="2400" b="1">
                <a:solidFill>
                  <a:srgbClr val="3D85C6"/>
                </a:solidFill>
              </a:rPr>
              <a:t>Extension</a:t>
            </a:r>
            <a:r>
              <a:rPr lang="zh-CN" altLang="en-US" sz="2400" b="1">
                <a:solidFill>
                  <a:srgbClr val="3D85C6"/>
                </a:solidFill>
              </a:rPr>
              <a:t> </a:t>
            </a:r>
            <a:r>
              <a:rPr lang="en-US" altLang="zh-CN" sz="2400" b="1">
                <a:solidFill>
                  <a:srgbClr val="3D85C6"/>
                </a:solidFill>
              </a:rPr>
              <a:t>-</a:t>
            </a:r>
            <a:r>
              <a:rPr lang="zh-CN" altLang="en-US" sz="2400" b="1">
                <a:solidFill>
                  <a:srgbClr val="3D85C6"/>
                </a:solidFill>
              </a:rPr>
              <a:t> </a:t>
            </a:r>
            <a:r>
              <a:rPr lang="en-US" sz="2400" b="1">
                <a:solidFill>
                  <a:srgbClr val="3D85C6"/>
                </a:solidFill>
              </a:rPr>
              <a:t>Regime Detection:</a:t>
            </a:r>
            <a:endParaRPr lang="en-US" sz="2400" dirty="0">
              <a:solidFill>
                <a:srgbClr val="3D85C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44CC82FB-73EA-E15F-8CDE-22CA1C179C11}"/>
            </a:ext>
          </a:extLst>
        </p:cNvPr>
        <p:cNvGrpSpPr/>
        <p:nvPr/>
      </p:nvGrpSpPr>
      <p:grpSpPr>
        <a:xfrm>
          <a:off x="0" y="0"/>
          <a:ext cx="0" cy="0"/>
          <a:chOff x="0" y="0"/>
          <a:chExt cx="0" cy="0"/>
        </a:xfrm>
      </p:grpSpPr>
      <p:sp>
        <p:nvSpPr>
          <p:cNvPr id="4" name="Google Shape;95;p4">
            <a:extLst>
              <a:ext uri="{FF2B5EF4-FFF2-40B4-BE49-F238E27FC236}">
                <a16:creationId xmlns:a16="http://schemas.microsoft.com/office/drawing/2014/main" id="{AE2FA8E9-2246-91EC-134C-A53D864B96BA}"/>
              </a:ext>
            </a:extLst>
          </p:cNvPr>
          <p:cNvSpPr txBox="1">
            <a:spLocks/>
          </p:cNvSpPr>
          <p:nvPr/>
        </p:nvSpPr>
        <p:spPr>
          <a:xfrm>
            <a:off x="311700" y="-55433"/>
            <a:ext cx="8520600" cy="76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l">
              <a:buClr>
                <a:srgbClr val="047857"/>
              </a:buClr>
              <a:buSzPts val="2400"/>
            </a:pPr>
            <a:r>
              <a:rPr lang="en-US" sz="2400" b="1">
                <a:solidFill>
                  <a:srgbClr val="3D85C6"/>
                </a:solidFill>
              </a:rPr>
              <a:t>Extension</a:t>
            </a:r>
            <a:r>
              <a:rPr lang="zh-CN" altLang="en-US" sz="2400" b="1">
                <a:solidFill>
                  <a:srgbClr val="3D85C6"/>
                </a:solidFill>
              </a:rPr>
              <a:t> </a:t>
            </a:r>
            <a:r>
              <a:rPr lang="en-US" altLang="zh-CN" sz="2400" b="1">
                <a:solidFill>
                  <a:srgbClr val="3D85C6"/>
                </a:solidFill>
              </a:rPr>
              <a:t>-</a:t>
            </a:r>
            <a:r>
              <a:rPr lang="zh-CN" altLang="en-US" sz="2400" b="1">
                <a:solidFill>
                  <a:srgbClr val="3D85C6"/>
                </a:solidFill>
              </a:rPr>
              <a:t> </a:t>
            </a:r>
            <a:r>
              <a:rPr lang="en-US" sz="2400" b="1">
                <a:solidFill>
                  <a:srgbClr val="3D85C6"/>
                </a:solidFill>
              </a:rPr>
              <a:t>Regime Detection:</a:t>
            </a:r>
            <a:endParaRPr lang="en-US" sz="2400" dirty="0">
              <a:solidFill>
                <a:srgbClr val="3D85C6"/>
              </a:solidFill>
            </a:endParaRPr>
          </a:p>
        </p:txBody>
      </p:sp>
      <p:pic>
        <p:nvPicPr>
          <p:cNvPr id="2" name="图片 1">
            <a:extLst>
              <a:ext uri="{FF2B5EF4-FFF2-40B4-BE49-F238E27FC236}">
                <a16:creationId xmlns:a16="http://schemas.microsoft.com/office/drawing/2014/main" id="{74C811C5-E1EF-A631-AEAB-F62EDE55CA70}"/>
              </a:ext>
            </a:extLst>
          </p:cNvPr>
          <p:cNvPicPr>
            <a:picLocks noChangeAspect="1"/>
          </p:cNvPicPr>
          <p:nvPr/>
        </p:nvPicPr>
        <p:blipFill>
          <a:blip r:embed="rId3"/>
          <a:stretch>
            <a:fillRect/>
          </a:stretch>
        </p:blipFill>
        <p:spPr>
          <a:xfrm>
            <a:off x="685800" y="708067"/>
            <a:ext cx="7772400" cy="4359491"/>
          </a:xfrm>
          <a:prstGeom prst="rect">
            <a:avLst/>
          </a:prstGeom>
        </p:spPr>
      </p:pic>
      <p:sp>
        <p:nvSpPr>
          <p:cNvPr id="5" name="文本框 4">
            <a:extLst>
              <a:ext uri="{FF2B5EF4-FFF2-40B4-BE49-F238E27FC236}">
                <a16:creationId xmlns:a16="http://schemas.microsoft.com/office/drawing/2014/main" id="{88327464-1647-4EC1-EE52-1C90F8EE3ADD}"/>
              </a:ext>
            </a:extLst>
          </p:cNvPr>
          <p:cNvSpPr txBox="1"/>
          <p:nvPr/>
        </p:nvSpPr>
        <p:spPr>
          <a:xfrm>
            <a:off x="685799" y="5241992"/>
            <a:ext cx="8007263" cy="1323439"/>
          </a:xfrm>
          <a:prstGeom prst="rect">
            <a:avLst/>
          </a:prstGeom>
          <a:noFill/>
        </p:spPr>
        <p:txBody>
          <a:bodyPr wrap="square">
            <a:spAutoFit/>
          </a:bodyPr>
          <a:lstStyle/>
          <a:p>
            <a:r>
              <a:rPr lang="en" altLang="zh-CN" sz="1600" b="1" dirty="0">
                <a:latin typeface="Calibri" panose="020F0502020204030204" pitchFamily="34" charset="0"/>
                <a:cs typeface="Calibri" panose="020F0502020204030204" pitchFamily="34" charset="0"/>
              </a:rPr>
              <a:t>A2C + Regime Detection improves performance in Equity Index and Fixed Income</a:t>
            </a:r>
            <a:r>
              <a:rPr lang="en" altLang="zh-CN" sz="1600" dirty="0">
                <a:latin typeface="Calibri" panose="020F0502020204030204" pitchFamily="34" charset="0"/>
                <a:cs typeface="Calibri" panose="020F0502020204030204" pitchFamily="34" charset="0"/>
              </a:rPr>
              <a:t>, where market trends are more persistent and easier to identify. </a:t>
            </a:r>
            <a:r>
              <a:rPr lang="en" altLang="zh-CN" sz="1600" b="1" dirty="0">
                <a:latin typeface="Calibri" panose="020F0502020204030204" pitchFamily="34" charset="0"/>
                <a:cs typeface="Calibri" panose="020F0502020204030204" pitchFamily="34" charset="0"/>
              </a:rPr>
              <a:t>The improvement is limited in Commodity and FX</a:t>
            </a:r>
            <a:r>
              <a:rPr lang="en" altLang="zh-CN" sz="1600" dirty="0">
                <a:latin typeface="Calibri" panose="020F0502020204030204" pitchFamily="34" charset="0"/>
                <a:cs typeface="Calibri" panose="020F0502020204030204" pitchFamily="34" charset="0"/>
              </a:rPr>
              <a:t>, where the adjusted A2C still produces negative cumulative returns. </a:t>
            </a:r>
            <a:r>
              <a:rPr lang="en" altLang="zh-CN" sz="1600" b="1" dirty="0">
                <a:latin typeface="Calibri" panose="020F0502020204030204" pitchFamily="34" charset="0"/>
                <a:cs typeface="Calibri" panose="020F0502020204030204" pitchFamily="34" charset="0"/>
              </a:rPr>
              <a:t>At the All portfolio level, the benefit is not robust</a:t>
            </a:r>
            <a:r>
              <a:rPr lang="en" altLang="zh-CN" sz="1600" dirty="0">
                <a:latin typeface="Calibri" panose="020F0502020204030204" pitchFamily="34" charset="0"/>
                <a:cs typeface="Calibri" panose="020F0502020204030204" pitchFamily="34" charset="0"/>
              </a:rPr>
              <a:t>: the regime-adjusted A2C becomes unstable after 2016 and eventually trends downward.</a:t>
            </a:r>
            <a:endParaRPr lang="zh-CN" alt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633386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3000</TotalTime>
  <Words>1035</Words>
  <Application>Microsoft Macintosh PowerPoint</Application>
  <PresentationFormat>全屏显示(4:3)</PresentationFormat>
  <Paragraphs>99</Paragraphs>
  <Slides>14</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Arial</vt:lpstr>
      <vt:lpstr>Calibri</vt:lpstr>
      <vt:lpstr>Wingdings</vt:lpstr>
      <vt:lpstr>Office Theme</vt:lpstr>
      <vt:lpstr>Deep Reinforcement Learning for Trading</vt:lpstr>
      <vt:lpstr>PowerPoint 演示文稿</vt:lpstr>
      <vt:lpstr>Summary of Original Paper</vt:lpstr>
      <vt:lpstr>Summary of Original Paper – Table2 &amp; Table3</vt:lpstr>
      <vt:lpstr>Summary of Original Paper – Table 2 &amp; Table 3</vt:lpstr>
      <vt:lpstr>Reproduction Results</vt:lpstr>
      <vt:lpstr>Reproduction Results</vt:lpstr>
      <vt:lpstr>Differences vs Original</vt:lpstr>
      <vt:lpstr>Reasons for Differences</vt:lpstr>
      <vt:lpstr>Robustness Checks</vt:lpstr>
      <vt:lpstr>Risk diagnostics</vt:lpstr>
      <vt:lpstr>Extension - Regime Detection:</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Reinforcement Learning for Trading</dc:title>
  <dc:creator/>
  <cp:lastModifiedBy>hahaha haha</cp:lastModifiedBy>
  <cp:revision>14</cp:revision>
  <dcterms:created xsi:type="dcterms:W3CDTF">2026-04-28T01:18:14Z</dcterms:created>
  <dcterms:modified xsi:type="dcterms:W3CDTF">2026-05-09T01:17:24Z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1033-12.1.24031.24031</vt:lpwstr>
  </property>
  <property fmtid="{D5CDD505-2E9C-101B-9397-08002B2CF9AE}" pid="3" name="ICV">
    <vt:lpwstr>07F572F11AF24193D60AF069A7866AB1_43</vt:lpwstr>
  </property>
</Properties>
</file>