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7" r:id="rId13"/>
    <p:sldId id="268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80F9FB2-728D-4799-AB61-7DBC326BF5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85"/>
    <p:restoredTop sz="94630"/>
  </p:normalViewPr>
  <p:slideViewPr>
    <p:cSldViewPr snapToGrid="0" showGuides="1">
      <p:cViewPr varScale="1">
        <p:scale>
          <a:sx n="111" d="100"/>
          <a:sy n="111" d="100"/>
        </p:scale>
        <p:origin x="216" y="3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a48ff8ae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a48ff8aec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9a48ff8aec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/>
              <a:t>Deep Reinforcement Learning for Trading</a:t>
            </a: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Hao Wang, Haolan Cheng, Yuting Lun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311700" y="3469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 panose="020F0502020204030204"/>
              <a:buNone/>
            </a:pPr>
            <a:r>
              <a:rPr lang="en-US" sz="2400" b="1">
                <a:solidFill>
                  <a:srgbClr val="3D85C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Topic &amp; Brief Introduction</a:t>
            </a:r>
            <a:endParaRPr sz="4400">
              <a:solidFill>
                <a:srgbClr val="3D85C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354900" y="2412095"/>
            <a:ext cx="82296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Brief Introduction</a:t>
            </a:r>
            <a:r>
              <a:rPr lang="en-US"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br>
              <a:rPr lang="en-US"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Explores training DRL agents to output trade positions directly, bypassing traditional explicit forecasting steps.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Agent learns to maximize a reward function based on expected cumulative trade returns.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Dynamically incorporates transaction costs into the optimization process.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Paper: Zhang, Zohren, Roberts (Oxford-Man Institute, 2019) | arXiv:1911.10107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354900" y="1275200"/>
            <a:ext cx="8143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800"/>
              <a:buFont typeface="Calibri" panose="020F0502020204030204"/>
              <a:buNone/>
            </a:pPr>
            <a:r>
              <a:rPr lang="en-US" sz="1800" b="1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Topic: </a:t>
            </a:r>
            <a:endParaRPr sz="1800" b="1" i="0" u="none" strike="noStrike" cap="none">
              <a:solidFill>
                <a:srgbClr val="1C1917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Deep Reinforcement Learning (DRL) for optimal trading strategy development.</a:t>
            </a:r>
            <a:r>
              <a:rPr lang="en-US" sz="1800" b="1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457200" y="15105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 panose="020F0502020204030204"/>
              <a:buNone/>
            </a:pPr>
            <a:r>
              <a:rPr lang="en-US" sz="2400" b="1" i="0" u="none" strike="noStrike" cap="none">
                <a:solidFill>
                  <a:srgbClr val="3D85C6"/>
                </a:solidFill>
                <a:highlight>
                  <a:schemeClr val="lt1"/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Overview of Literature and Methods</a:t>
            </a:r>
            <a:endParaRPr sz="2400" b="0" i="0" u="none" strike="noStrike" cap="none">
              <a:solidFill>
                <a:srgbClr val="3D85C6"/>
              </a:solidFill>
              <a:highlight>
                <a:schemeClr val="lt1"/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29975" y="699626"/>
            <a:ext cx="4114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800"/>
              <a:buFont typeface="Calibri" panose="020F0502020204030204"/>
              <a:buNone/>
            </a:pPr>
            <a:r>
              <a:rPr lang="en-US" sz="1800" b="1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Traditional Methods</a:t>
            </a:r>
            <a:endParaRPr sz="1200" b="0" i="0" u="none" strike="noStrike" cap="none">
              <a:solidFill>
                <a:srgbClr val="7F7F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01375" y="1176650"/>
            <a:ext cx="4343400" cy="21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Fundamental &amp; Technical Analysis: Often lack precise timing for entering and exiting trades, leading to potential drawdowns.</a:t>
            </a:r>
            <a:endParaRPr sz="1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Time-Series Momentum: Highly effective in trending markets, but severely vulnerable to sideways or mean-reverting markets (like FX).</a:t>
            </a:r>
            <a:endParaRPr sz="1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Classical RL (Q-Learning): Frequently relies on discrete action spaces (fully long/short), which is highly risky during volatile periods.</a:t>
            </a:r>
            <a:endParaRPr sz="1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775200" y="818125"/>
            <a:ext cx="40893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800"/>
              <a:buFont typeface="Calibri" panose="020F0502020204030204"/>
              <a:buNone/>
            </a:pPr>
            <a:r>
              <a:rPr lang="en-US" sz="1800" b="1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Proposed RL Methods</a:t>
            </a:r>
            <a:endParaRPr sz="1200" b="0" i="0" u="none" strike="noStrike" cap="none">
              <a:solidFill>
                <a:srgbClr val="7F7F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775200" y="1247324"/>
            <a:ext cx="3886200" cy="16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Deep Q-Networks (DQN):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Evaluates the value of discrete actions in a given state.</a:t>
            </a:r>
            <a:endParaRPr sz="1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Policy Gradients (PG):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Optimizes the policy directly, useful for continuous action spaces.</a:t>
            </a:r>
            <a:endParaRPr sz="1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Advantage Actor-Critic (A2C):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Updates policies in real-time by combining an 'actor' network with a 'critic' network.</a:t>
            </a:r>
            <a:endParaRPr sz="1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6" name="Google Shape;106;p3" title="Screenshot 2026-03-06 at 2.41.14 PM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83075" y="3365150"/>
            <a:ext cx="6460675" cy="33998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5623150" y="5114150"/>
            <a:ext cx="2735100" cy="15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Figure 1: Cumulative trade returns for 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First row: commodity, equity index and fixed income; 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row: FX and the portfolio of using all contracts.</a:t>
            </a:r>
            <a:endParaRPr sz="1800" b="0" i="0" u="none" strike="noStrike" cap="none">
              <a:solidFill>
                <a:schemeClr val="accent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xfrm>
            <a:off x="311700" y="22599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 panose="020F0502020204030204"/>
              <a:buNone/>
            </a:pPr>
            <a:r>
              <a:rPr lang="en-US" sz="2400" b="1">
                <a:solidFill>
                  <a:srgbClr val="2A75B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Strategy Overview</a:t>
            </a:r>
            <a:endParaRPr sz="2400">
              <a:solidFill>
                <a:srgbClr val="2A75B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57200" y="712661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Data</a:t>
            </a:r>
            <a:endParaRPr sz="16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57200" y="1318395"/>
            <a:ext cx="2560200" cy="14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 panose="020F0502020204030204"/>
              <a:buNone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50 most liquid futures contracts (2011-2019).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Commodities (25)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Equity Indices (11)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Fixed Income (5)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Forex (9)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2959920" y="712649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Methodology</a:t>
            </a:r>
            <a:endParaRPr sz="16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806700" y="1259205"/>
            <a:ext cx="3175635" cy="1585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 panose="020F0502020204030204"/>
              <a:buNone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Markov Decision Process (MDP) formulation.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State: 60-day lookback (Price, Returns, MACD, RSI).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Action: Target orders [-1, 1].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Reward: Volatility-scaled additive profits.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982155" y="771081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Evaluation Metrics</a:t>
            </a:r>
            <a:endParaRPr sz="16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982335" y="1228090"/>
            <a:ext cx="3489325" cy="1449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 panose="020F0502020204030204"/>
              <a:buNone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Portfolio-level performance assessment.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Annualised Expected Return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Sharpe &amp; Sortino Ratios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Maximum Drawdown (MDD)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Calmar Ratio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36201" y="3029607"/>
            <a:ext cx="1759500" cy="5988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Market State</a:t>
            </a:r>
            <a:endParaRPr sz="18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Price, Vol, MACD</a:t>
            </a:r>
            <a:endParaRPr sz="16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080075" y="3029615"/>
            <a:ext cx="2319900" cy="5988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DRL Agent</a:t>
            </a:r>
            <a:endParaRPr sz="18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(Actor-Critic LSTM)</a:t>
            </a:r>
            <a:endParaRPr sz="16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184350" y="3010865"/>
            <a:ext cx="2653800" cy="6363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rgbClr val="1C191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Action</a:t>
            </a:r>
            <a:r>
              <a:rPr lang="en-US" sz="18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6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Portfolio Weights</a:t>
            </a:r>
            <a:endParaRPr sz="16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" name="Google Shape;122;p4"/>
          <p:cNvCxnSpPr>
            <a:endCxn id="120" idx="1"/>
          </p:cNvCxnSpPr>
          <p:nvPr/>
        </p:nvCxnSpPr>
        <p:spPr>
          <a:xfrm>
            <a:off x="2295575" y="3323915"/>
            <a:ext cx="784500" cy="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23" name="Google Shape;123;p4" title="Screenshot 2026-03-06 at 3.09.24 PM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46100" y="4857300"/>
            <a:ext cx="7587832" cy="1644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4"/>
          <p:cNvCxnSpPr/>
          <p:nvPr/>
        </p:nvCxnSpPr>
        <p:spPr>
          <a:xfrm>
            <a:off x="5399975" y="3326465"/>
            <a:ext cx="784500" cy="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25" name="Google Shape;125;p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46100" y="3698650"/>
            <a:ext cx="3847875" cy="12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>
            <a:spLocks noGrp="1"/>
          </p:cNvSpPr>
          <p:nvPr>
            <p:ph type="title"/>
          </p:nvPr>
        </p:nvSpPr>
        <p:spPr>
          <a:xfrm>
            <a:off x="311700" y="31441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 panose="020F0502020204030204"/>
              <a:buNone/>
            </a:pPr>
            <a:r>
              <a:rPr lang="en-US" sz="2400" b="1">
                <a:solidFill>
                  <a:srgbClr val="2A75B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DQN(I)</a:t>
            </a:r>
            <a:endParaRPr sz="2400" b="1">
              <a:solidFill>
                <a:srgbClr val="2A75B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1" name="Google Shape;131;p5" title="Screenshot 2026-04-27 at 11.37.43 AM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29350" y="932142"/>
            <a:ext cx="8839204" cy="5291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>
            <a:spLocks noGrp="1"/>
          </p:cNvSpPr>
          <p:nvPr>
            <p:ph type="title"/>
          </p:nvPr>
        </p:nvSpPr>
        <p:spPr>
          <a:xfrm>
            <a:off x="234775" y="36254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 panose="020F0502020204030204"/>
              <a:buNone/>
            </a:pPr>
            <a:r>
              <a:rPr lang="en-US" sz="2400" b="1">
                <a:solidFill>
                  <a:srgbClr val="2A75B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DQN(II)</a:t>
            </a:r>
            <a:endParaRPr sz="2400" b="1">
              <a:solidFill>
                <a:srgbClr val="2A75B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7" name="Google Shape;137;p6" title="Screenshot 2026-04-27 at 11.28.59 AM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52400" y="1191867"/>
            <a:ext cx="8839202" cy="4635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a48ff8aec_0_1"/>
          <p:cNvSpPr txBox="1">
            <a:spLocks noGrp="1"/>
          </p:cNvSpPr>
          <p:nvPr>
            <p:ph type="title"/>
          </p:nvPr>
        </p:nvSpPr>
        <p:spPr>
          <a:xfrm>
            <a:off x="197875" y="265047"/>
            <a:ext cx="8229600" cy="868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A75B8"/>
                </a:solidFill>
              </a:rPr>
              <a:t>Current Progress of the replication of risk diagnostics </a:t>
            </a:r>
          </a:p>
        </p:txBody>
      </p:sp>
      <p:pic>
        <p:nvPicPr>
          <p:cNvPr id="144" name="Google Shape;144;g39a48ff8aec_0_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52400" y="1047917"/>
            <a:ext cx="8839199" cy="4974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 panose="020F0502020204030204"/>
              <a:buNone/>
            </a:pPr>
            <a:r>
              <a:rPr lang="en-US" sz="2400" b="1">
                <a:solidFill>
                  <a:srgbClr val="2A75B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A2C Works</a:t>
            </a:r>
            <a:endParaRPr sz="2400" b="1">
              <a:solidFill>
                <a:srgbClr val="2A75B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1. Input past 60-day feature sequence</a:t>
            </a:r>
            <a:endParaRPr sz="18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2. Use LSTM to encode these features into hidden state </a:t>
            </a:r>
            <a:endParaRPr sz="18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3. Actor samples action   _t ~ π(a| |  ) </a:t>
            </a:r>
            <a:endParaRPr sz="18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4. Environment takes action a_t according to current state    , then it produces reward R_t and evolves to next state </a:t>
            </a:r>
            <a:endParaRPr sz="18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5. Use LSTM to encode         into          and calulate V(     ), V(          )</a:t>
            </a:r>
            <a:endParaRPr sz="18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6. Calculating Advantage through</a:t>
            </a:r>
            <a:endParaRPr sz="18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</a:t>
            </a:r>
            <a:endParaRPr sz="18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7. Update Critic by minimising TD error </a:t>
            </a:r>
            <a:endParaRPr sz="18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8. Update Actor by maximising objective function</a:t>
            </a:r>
            <a:endParaRPr sz="18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/>
          </a:p>
        </p:txBody>
      </p:sp>
      <p:pic>
        <p:nvPicPr>
          <p:cNvPr id="154" name="Google Shape;154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739515" y="2301875"/>
            <a:ext cx="188595" cy="29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0" y="2002155"/>
            <a:ext cx="188595" cy="29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095115" y="1600200"/>
            <a:ext cx="187325" cy="29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7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863215" y="2301875"/>
            <a:ext cx="2190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970905" y="2601595"/>
            <a:ext cx="187325" cy="29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239770" y="2836545"/>
            <a:ext cx="42862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7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2682240" y="3237865"/>
            <a:ext cx="400050" cy="302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7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3510915" y="3230880"/>
            <a:ext cx="417195" cy="309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445760" y="3240405"/>
            <a:ext cx="188595" cy="29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7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078220" y="3230880"/>
            <a:ext cx="417195" cy="309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115" y="3797300"/>
            <a:ext cx="2717800" cy="40322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115" y="4457700"/>
            <a:ext cx="2986405" cy="4102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655" y="5125085"/>
            <a:ext cx="2571115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 panose="020F0502020204030204"/>
              <a:buNone/>
            </a:pPr>
            <a:r>
              <a:rPr lang="en-US" sz="2400" b="1">
                <a:solidFill>
                  <a:srgbClr val="2A75B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Assumptions and A2C Results</a:t>
            </a:r>
            <a:endParaRPr sz="2400" b="1">
              <a:solidFill>
                <a:srgbClr val="2A75B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9" name="Google Shape;169;p8"/>
          <p:cNvSpPr txBox="1">
            <a:spLocks noGrp="1"/>
          </p:cNvSpPr>
          <p:nvPr>
            <p:ph type="body" idx="1"/>
          </p:nvPr>
        </p:nvSpPr>
        <p:spPr>
          <a:xfrm>
            <a:off x="457200" y="1165860"/>
            <a:ext cx="8229600" cy="4525963"/>
          </a:xfrm>
          <a:prstGeom prst="rect">
            <a:avLst/>
          </a:prstGeom>
          <a:blipFill rotWithShape="1">
            <a:blip r:embed="rId3"/>
            <a:stretch>
              <a:fillRect b="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 </a:t>
            </a:r>
          </a:p>
        </p:txBody>
      </p:sp>
      <p:pic>
        <p:nvPicPr>
          <p:cNvPr id="170" name="Google Shape;170;p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89960" y="3223350"/>
            <a:ext cx="6292583" cy="317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8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946525" y="1962150"/>
            <a:ext cx="188595" cy="299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Google Shape;176;p9"/>
          <p:cNvGraphicFramePr/>
          <p:nvPr/>
        </p:nvGraphicFramePr>
        <p:xfrm>
          <a:off x="457198" y="1257459"/>
          <a:ext cx="8229500" cy="2812200"/>
        </p:xfrm>
        <a:graphic>
          <a:graphicData uri="http://schemas.openxmlformats.org/drawingml/2006/table">
            <a:tbl>
              <a:tblPr>
                <a:noFill/>
                <a:tableStyleId>{780F9FB2-728D-4799-AB61-7DBC326BF54D}</a:tableStyleId>
              </a:tblPr>
              <a:tblGrid>
                <a:gridCol w="94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8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8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8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8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88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88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5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　</a:t>
                      </a:r>
                      <a:endParaRPr sz="1000" b="1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　</a:t>
                      </a:r>
                      <a:endParaRPr sz="1000" b="1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E(R)</a:t>
                      </a:r>
                      <a:endParaRPr sz="1000" b="1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Std(R)</a:t>
                      </a:r>
                      <a:endParaRPr sz="1000" b="1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DD</a:t>
                      </a:r>
                      <a:endParaRPr sz="1000" b="1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Sharpe</a:t>
                      </a:r>
                      <a:endParaRPr sz="1000" b="1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Sortino</a:t>
                      </a:r>
                      <a:endParaRPr sz="1000" b="1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MDD</a:t>
                      </a:r>
                      <a:endParaRPr sz="1000" b="1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Calmar</a:t>
                      </a:r>
                      <a:endParaRPr sz="1000" b="1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% +Ret</a:t>
                      </a:r>
                      <a:endParaRPr sz="1000" b="1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Ave.P/L</a:t>
                      </a:r>
                      <a:endParaRPr sz="1000" b="1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(Commodity)</a:t>
                      </a:r>
                      <a:endParaRPr sz="1000" b="1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Ours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-0.19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0.29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0.19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-0.65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-0.96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2.02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-0.09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0.50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0.91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Paper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0.07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0.16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0.10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0.44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0.73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0.10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0.16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0.49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1.15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　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%Err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358%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76%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98%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247%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231%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1937%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157%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21%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(Equity Index)</a:t>
                      </a:r>
                      <a:endParaRPr sz="1000" b="1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Ours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0.26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0.50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0.41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0.53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0.64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0.88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0.30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0.55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0.91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Paper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0.29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0.63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0.43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0.47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0.69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0.19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0.21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0.53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0.97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4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　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%Err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11%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21%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5%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13%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7%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356%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38%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3%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6%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4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(Fixed Income)</a:t>
                      </a:r>
                      <a:endParaRPr sz="1000" b="1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Ours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0.37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0.72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0.47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0.51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0.79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1.63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0.23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0.52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0.99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4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Paper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0.85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1.35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0.81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0.63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1.06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0.13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0.40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0.52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1.04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4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　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%Err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57%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47%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42%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19%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26%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1173%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43%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5%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4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(FX)</a:t>
                      </a:r>
                      <a:endParaRPr sz="1000" b="1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Ours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-0.18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0.33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0.21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-0.56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-0.86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2.13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-0.09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0.49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0.96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4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Paper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0.16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0.46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0.27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0.35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0.59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0.08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0.19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0.51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1.03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4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　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%Err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215%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28%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20%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260%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245%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2526%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145%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4%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7%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4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(All)</a:t>
                      </a:r>
                      <a:endParaRPr sz="1000" b="1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Ours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-0.02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0.24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0.17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-0.08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-0.12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0.94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-0.02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0.52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0.93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4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Paper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0.21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0.22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0.13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0.97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1.60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0.01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0.67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0.54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1.01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4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　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%Err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109%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7%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23%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108%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107%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10367%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103%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4%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8%</a:t>
                      </a:r>
                      <a:endParaRPr sz="1000" b="0" i="0" u="none" strike="noStrike" cap="none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8175" marR="8175" marT="817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77" name="Google Shape;177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 panose="020F0502020204030204"/>
              <a:buNone/>
            </a:pPr>
            <a:r>
              <a:rPr lang="en-US" sz="2400" b="1">
                <a:solidFill>
                  <a:srgbClr val="2A75B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Reasons of Differences</a:t>
            </a:r>
            <a:endParaRPr sz="2400" b="1">
              <a:solidFill>
                <a:srgbClr val="2A75B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8" name="Google Shape;178;p9"/>
          <p:cNvSpPr txBox="1">
            <a:spLocks noGrp="1"/>
          </p:cNvSpPr>
          <p:nvPr>
            <p:ph type="body" idx="1"/>
          </p:nvPr>
        </p:nvSpPr>
        <p:spPr>
          <a:xfrm>
            <a:off x="457198" y="4362085"/>
            <a:ext cx="8229600" cy="1545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Author didn’t reveal many details of training A2C model</a:t>
            </a:r>
            <a:endParaRPr sz="1600"/>
          </a:p>
          <a:p>
            <a:pPr marL="342900" lvl="0" indent="-3429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Unknown process of how LSTM models actor and critic network</a:t>
            </a:r>
            <a:endParaRPr sz="1400"/>
          </a:p>
          <a:p>
            <a:pPr marL="342900" lvl="0" indent="-3429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The A2C training process is somewhat unclear</a:t>
            </a:r>
            <a:endParaRPr sz="1400"/>
          </a:p>
          <a:p>
            <a:pPr marL="342900" lvl="0" indent="-2540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A2C is sensitive to hyperparameter tunning</a:t>
            </a:r>
            <a:endParaRPr sz="16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>
            <a:spLocks noGrp="1"/>
          </p:cNvSpPr>
          <p:nvPr>
            <p:ph type="title"/>
          </p:nvPr>
        </p:nvSpPr>
        <p:spPr>
          <a:xfrm>
            <a:off x="311700" y="-55433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 panose="020F0502020204030204"/>
              <a:buNone/>
            </a:pPr>
            <a:r>
              <a:rPr lang="en-US" sz="2400" b="1" dirty="0">
                <a:solidFill>
                  <a:srgbClr val="3D85C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Regime Detection:</a:t>
            </a:r>
            <a:endParaRPr lang="en-US" sz="2400" dirty="0">
              <a:solidFill>
                <a:srgbClr val="3D85C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Google Shape;84;p3"/>
          <p:cNvSpPr/>
          <p:nvPr/>
        </p:nvSpPr>
        <p:spPr>
          <a:xfrm>
            <a:off x="440288" y="1441292"/>
            <a:ext cx="1759500" cy="5988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Load Data of 50 Contracts</a:t>
            </a:r>
            <a:endParaRPr b="1" dirty="0">
              <a:solidFill>
                <a:schemeClr val="lt1"/>
              </a:solidFill>
            </a:endParaRPr>
          </a:p>
        </p:txBody>
      </p:sp>
      <p:cxnSp>
        <p:nvCxnSpPr>
          <p:cNvPr id="10" name="Google Shape;87;p3"/>
          <p:cNvCxnSpPr>
            <a:stCxn id="9" idx="3"/>
            <a:endCxn id="11" idx="1"/>
          </p:cNvCxnSpPr>
          <p:nvPr/>
        </p:nvCxnSpPr>
        <p:spPr>
          <a:xfrm>
            <a:off x="2199788" y="1740692"/>
            <a:ext cx="539539" cy="131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" name="Google Shape;84;p3"/>
          <p:cNvSpPr/>
          <p:nvPr/>
        </p:nvSpPr>
        <p:spPr>
          <a:xfrm>
            <a:off x="2739327" y="1075742"/>
            <a:ext cx="2430801" cy="1332538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Build State Matrices</a:t>
            </a:r>
          </a:p>
          <a:p>
            <a:pPr algn="ctr"/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For each asset at each time point</a:t>
            </a:r>
          </a:p>
          <a:p>
            <a:pPr algn="ctr"/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Construct 60x9 matrix</a:t>
            </a:r>
          </a:p>
        </p:txBody>
      </p:sp>
      <p:sp>
        <p:nvSpPr>
          <p:cNvPr id="16" name="Google Shape;84;p3"/>
          <p:cNvSpPr/>
          <p:nvPr/>
        </p:nvSpPr>
        <p:spPr>
          <a:xfrm>
            <a:off x="5709668" y="1051046"/>
            <a:ext cx="2994044" cy="1368788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altLang="zh-CN" sz="14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Extract FFT Features</a:t>
            </a:r>
          </a:p>
          <a:p>
            <a:pPr algn="ctr"/>
            <a:r>
              <a:rPr lang="en-GB" altLang="zh-CN" sz="14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9 columns independent FFT → 10</a:t>
            </a:r>
          </a:p>
          <a:p>
            <a:pPr algn="ctr"/>
            <a:r>
              <a:rPr lang="en-GB" altLang="zh-CN" sz="14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Real + 10 Imaginary</a:t>
            </a:r>
          </a:p>
          <a:p>
            <a:pPr algn="ctr"/>
            <a:r>
              <a:rPr lang="en-GB" altLang="zh-CN" sz="14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= 180-dimensional vector</a:t>
            </a:r>
          </a:p>
        </p:txBody>
      </p:sp>
      <p:sp>
        <p:nvSpPr>
          <p:cNvPr id="17" name="Google Shape;84;p3"/>
          <p:cNvSpPr/>
          <p:nvPr/>
        </p:nvSpPr>
        <p:spPr>
          <a:xfrm>
            <a:off x="3300408" y="2915560"/>
            <a:ext cx="2540023" cy="1332538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GMM Clustering</a:t>
            </a:r>
          </a:p>
          <a:p>
            <a:pPr algn="ctr"/>
            <a:r>
              <a:rPr lang="en-GB" altLang="zh-CN" b="1" dirty="0" err="1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n_components</a:t>
            </a:r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 = 3</a:t>
            </a:r>
          </a:p>
          <a:p>
            <a:pPr algn="ctr"/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Fit Gaussian Mixture Model</a:t>
            </a:r>
          </a:p>
        </p:txBody>
      </p:sp>
      <p:sp>
        <p:nvSpPr>
          <p:cNvPr id="18" name="Google Shape;84;p3"/>
          <p:cNvSpPr/>
          <p:nvPr/>
        </p:nvSpPr>
        <p:spPr>
          <a:xfrm>
            <a:off x="3802039" y="4606014"/>
            <a:ext cx="1536764" cy="685957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Output Regime</a:t>
            </a:r>
          </a:p>
        </p:txBody>
      </p:sp>
      <p:sp>
        <p:nvSpPr>
          <p:cNvPr id="19" name="Google Shape;84;p3"/>
          <p:cNvSpPr/>
          <p:nvPr/>
        </p:nvSpPr>
        <p:spPr>
          <a:xfrm>
            <a:off x="1217013" y="5523576"/>
            <a:ext cx="2292671" cy="937764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Hard Labels: predict() Each time point → 0/1/2</a:t>
            </a:r>
          </a:p>
        </p:txBody>
      </p:sp>
      <p:sp>
        <p:nvSpPr>
          <p:cNvPr id="20" name="Google Shape;84;p3"/>
          <p:cNvSpPr/>
          <p:nvPr/>
        </p:nvSpPr>
        <p:spPr>
          <a:xfrm>
            <a:off x="5725101" y="5424883"/>
            <a:ext cx="2413062" cy="1135151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Soft</a:t>
            </a:r>
            <a:r>
              <a:rPr lang="zh-CN" altLang="en-US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Prob: </a:t>
            </a:r>
            <a:r>
              <a:rPr lang="en-GB" altLang="zh-CN" b="1" dirty="0" err="1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predict_proba</a:t>
            </a:r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() Each time point → P = [p0, p1, p2]</a:t>
            </a:r>
          </a:p>
        </p:txBody>
      </p:sp>
      <p:cxnSp>
        <p:nvCxnSpPr>
          <p:cNvPr id="21" name="Google Shape;87;p3"/>
          <p:cNvCxnSpPr>
            <a:cxnSpLocks/>
            <a:stCxn id="11" idx="3"/>
            <a:endCxn id="16" idx="1"/>
          </p:cNvCxnSpPr>
          <p:nvPr/>
        </p:nvCxnSpPr>
        <p:spPr>
          <a:xfrm flipV="1">
            <a:off x="5170128" y="1735440"/>
            <a:ext cx="539540" cy="65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" name="曲线连接符 29"/>
          <p:cNvCxnSpPr>
            <a:stCxn id="18" idx="1"/>
            <a:endCxn id="19" idx="0"/>
          </p:cNvCxnSpPr>
          <p:nvPr/>
        </p:nvCxnSpPr>
        <p:spPr>
          <a:xfrm rot="10800000" flipV="1">
            <a:off x="2363349" y="4948992"/>
            <a:ext cx="1438690" cy="57458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曲线连接符 30"/>
          <p:cNvCxnSpPr>
            <a:stCxn id="18" idx="3"/>
            <a:endCxn id="20" idx="0"/>
          </p:cNvCxnSpPr>
          <p:nvPr/>
        </p:nvCxnSpPr>
        <p:spPr>
          <a:xfrm>
            <a:off x="5338803" y="4948993"/>
            <a:ext cx="1592829" cy="47589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oogle Shape;87;p3"/>
          <p:cNvCxnSpPr>
            <a:cxnSpLocks/>
            <a:stCxn id="69" idx="2"/>
            <a:endCxn id="17" idx="0"/>
          </p:cNvCxnSpPr>
          <p:nvPr/>
        </p:nvCxnSpPr>
        <p:spPr>
          <a:xfrm flipH="1">
            <a:off x="4570420" y="2609903"/>
            <a:ext cx="1" cy="3056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3" name="Google Shape;87;p3"/>
          <p:cNvCxnSpPr>
            <a:cxnSpLocks/>
            <a:stCxn id="17" idx="2"/>
            <a:endCxn id="18" idx="0"/>
          </p:cNvCxnSpPr>
          <p:nvPr/>
        </p:nvCxnSpPr>
        <p:spPr>
          <a:xfrm>
            <a:off x="4570420" y="4248098"/>
            <a:ext cx="1" cy="3579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9" name="圆角矩形 68"/>
          <p:cNvSpPr/>
          <p:nvPr/>
        </p:nvSpPr>
        <p:spPr>
          <a:xfrm>
            <a:off x="247139" y="909690"/>
            <a:ext cx="8646563" cy="1700213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311700" y="3469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 panose="020F0502020204030204"/>
              <a:buNone/>
            </a:pPr>
            <a:r>
              <a:rPr lang="en-US" sz="2400" b="1">
                <a:solidFill>
                  <a:srgbClr val="3D85C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Training &amp;Test</a:t>
            </a:r>
            <a:endParaRPr sz="4400">
              <a:solidFill>
                <a:srgbClr val="3D85C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666995" y="1709390"/>
            <a:ext cx="1310975" cy="1029867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 panose="020F0502020204030204"/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Get Regime Soft Probabilities predict_proab</a:t>
            </a:r>
            <a:endParaRPr sz="1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 panose="020F0502020204030204"/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[p0,p1,p2] </a:t>
            </a:r>
            <a:endParaRPr sz="1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2303803" y="1613809"/>
            <a:ext cx="1906477" cy="525842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Original State Features</a:t>
            </a:r>
            <a:endParaRPr sz="1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9-dim: price, MACD, RSI, etc.</a:t>
            </a:r>
            <a:endParaRPr sz="1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2601553" y="2369272"/>
            <a:ext cx="1310975" cy="486557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Regime Features</a:t>
            </a:r>
            <a:endParaRPr sz="1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3-dim: P0, P1, P2</a:t>
            </a:r>
            <a:endParaRPr sz="1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671217" y="1975033"/>
            <a:ext cx="1699428" cy="594752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Concatenate Augmented State 12-dim</a:t>
            </a:r>
            <a:endParaRPr sz="1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07" name="Google Shape;207;p11"/>
          <p:cNvCxnSpPr>
            <a:stCxn id="203" idx="0"/>
            <a:endCxn id="204" idx="0"/>
          </p:cNvCxnSpPr>
          <p:nvPr/>
        </p:nvCxnSpPr>
        <p:spPr>
          <a:xfrm rot="-5400000">
            <a:off x="2241983" y="694190"/>
            <a:ext cx="95700" cy="1934700"/>
          </a:xfrm>
          <a:prstGeom prst="curvedConnector3">
            <a:avLst>
              <a:gd name="adj1" fmla="val 338746"/>
            </a:avLst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8" name="Google Shape;208;p11"/>
          <p:cNvSpPr/>
          <p:nvPr/>
        </p:nvSpPr>
        <p:spPr>
          <a:xfrm>
            <a:off x="211765" y="1110467"/>
            <a:ext cx="8720470" cy="2153279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3919611" y="1169949"/>
            <a:ext cx="135996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TRAINING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6831583" y="1975033"/>
            <a:ext cx="1699428" cy="594752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Train Single A2C with full training data</a:t>
            </a:r>
            <a:endParaRPr sz="1100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11" name="Google Shape;211;p11"/>
          <p:cNvCxnSpPr>
            <a:stCxn id="203" idx="2"/>
            <a:endCxn id="205" idx="2"/>
          </p:cNvCxnSpPr>
          <p:nvPr/>
        </p:nvCxnSpPr>
        <p:spPr>
          <a:xfrm rot="-5400000" flipH="1">
            <a:off x="2231483" y="1830257"/>
            <a:ext cx="116700" cy="1934700"/>
          </a:xfrm>
          <a:prstGeom prst="curvedConnector3">
            <a:avLst>
              <a:gd name="adj1" fmla="val 295777"/>
            </a:avLst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2" name="Google Shape;212;p11"/>
          <p:cNvCxnSpPr>
            <a:stCxn id="205" idx="3"/>
          </p:cNvCxnSpPr>
          <p:nvPr/>
        </p:nvCxnSpPr>
        <p:spPr>
          <a:xfrm rot="10800000" flipH="1">
            <a:off x="3912528" y="2534551"/>
            <a:ext cx="758700" cy="780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3" name="Google Shape;213;p11"/>
          <p:cNvCxnSpPr>
            <a:stCxn id="204" idx="3"/>
          </p:cNvCxnSpPr>
          <p:nvPr/>
        </p:nvCxnSpPr>
        <p:spPr>
          <a:xfrm>
            <a:off x="4210280" y="1876730"/>
            <a:ext cx="460800" cy="1314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4" name="Google Shape;214;p11"/>
          <p:cNvCxnSpPr>
            <a:stCxn id="206" idx="3"/>
            <a:endCxn id="210" idx="1"/>
          </p:cNvCxnSpPr>
          <p:nvPr/>
        </p:nvCxnSpPr>
        <p:spPr>
          <a:xfrm>
            <a:off x="6370645" y="2272409"/>
            <a:ext cx="460800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5" name="Google Shape;215;p11"/>
          <p:cNvSpPr/>
          <p:nvPr/>
        </p:nvSpPr>
        <p:spPr>
          <a:xfrm>
            <a:off x="403913" y="4546614"/>
            <a:ext cx="946652" cy="594753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Load test data</a:t>
            </a:r>
            <a:endParaRPr sz="1100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1678427" y="4371684"/>
            <a:ext cx="2212221" cy="932016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Get Augmented State</a:t>
            </a:r>
            <a:br>
              <a:rPr lang="en-US" sz="11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1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[Original 9-dim + Soft prob 3-dim] = 12 dim input</a:t>
            </a:r>
            <a:endParaRPr sz="1100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291872" y="4317585"/>
            <a:ext cx="1877501" cy="1040213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Single A2C inference LSTM automatically handles regime conditioning</a:t>
            </a:r>
            <a:endParaRPr sz="1100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211765" y="3761053"/>
            <a:ext cx="8720470" cy="2153279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3919611" y="3820535"/>
            <a:ext cx="6431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TEST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6831583" y="4546614"/>
            <a:ext cx="1699428" cy="594752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Output action directly</a:t>
            </a:r>
            <a:endParaRPr sz="1100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21" name="Google Shape;221;p11"/>
          <p:cNvCxnSpPr>
            <a:stCxn id="216" idx="3"/>
            <a:endCxn id="217" idx="1"/>
          </p:cNvCxnSpPr>
          <p:nvPr/>
        </p:nvCxnSpPr>
        <p:spPr>
          <a:xfrm>
            <a:off x="3890648" y="4837692"/>
            <a:ext cx="401100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11"/>
          <p:cNvCxnSpPr>
            <a:stCxn id="217" idx="3"/>
            <a:endCxn id="220" idx="1"/>
          </p:cNvCxnSpPr>
          <p:nvPr/>
        </p:nvCxnSpPr>
        <p:spPr>
          <a:xfrm>
            <a:off x="6169373" y="4837692"/>
            <a:ext cx="662100" cy="63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3" name="Google Shape;223;p11"/>
          <p:cNvCxnSpPr>
            <a:stCxn id="215" idx="3"/>
            <a:endCxn id="216" idx="1"/>
          </p:cNvCxnSpPr>
          <p:nvPr/>
        </p:nvCxnSpPr>
        <p:spPr>
          <a:xfrm rot="10800000" flipH="1">
            <a:off x="1350565" y="4837691"/>
            <a:ext cx="327900" cy="63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 txBox="1">
            <a:spLocks noGrp="1"/>
          </p:cNvSpPr>
          <p:nvPr>
            <p:ph type="title"/>
          </p:nvPr>
        </p:nvSpPr>
        <p:spPr>
          <a:xfrm>
            <a:off x="548640" y="273399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/>
              <a:t>Thank you for your time!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944</Words>
  <Application>Microsoft Macintosh PowerPoint</Application>
  <PresentationFormat>全屏显示(4:3)</PresentationFormat>
  <Paragraphs>266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Deep Reinforcement Learning for Trading</vt:lpstr>
      <vt:lpstr>Topic &amp; Brief Introduction</vt:lpstr>
      <vt:lpstr>PowerPoint 演示文稿</vt:lpstr>
      <vt:lpstr>Strategy Overview</vt:lpstr>
      <vt:lpstr>DQN(I)</vt:lpstr>
      <vt:lpstr>DQN(II)</vt:lpstr>
      <vt:lpstr>Current Progress of the replication of risk diagnostics </vt:lpstr>
      <vt:lpstr>How A2C Works</vt:lpstr>
      <vt:lpstr>Assumptions and A2C Results</vt:lpstr>
      <vt:lpstr>Reasons of Differences</vt:lpstr>
      <vt:lpstr>Regime Detection:</vt:lpstr>
      <vt:lpstr>Training &amp;Test</vt:lpstr>
      <vt:lpstr>Thank you for your time!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Reinforcement Learning for Trading</dc:title>
  <dc:creator/>
  <cp:lastModifiedBy>hahaha haha</cp:lastModifiedBy>
  <cp:revision>2</cp:revision>
  <dcterms:created xsi:type="dcterms:W3CDTF">2026-04-28T01:18:14Z</dcterms:created>
  <dcterms:modified xsi:type="dcterms:W3CDTF">2026-04-28T23:55:58Z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07F572F11AF24193D60AF069A7866AB1_43</vt:lpwstr>
  </property>
</Properties>
</file>