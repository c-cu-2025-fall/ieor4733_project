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</p:sldMasterIdLst>
  <p:notesMasterIdLst>
    <p:notesMasterId r:id="rId7"/>
  </p:notesMasterIdLst>
  <p:sldIdLst>
    <p:sldId id="256" r:id="rId2"/>
    <p:sldId id="258" r:id="rId3"/>
    <p:sldId id="259" r:id="rId4"/>
    <p:sldId id="269" r:id="rId5"/>
    <p:sldId id="267" r:id="rId6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80F9FB2-728D-4799-AB61-7DBC326BF54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Style>
        <a:tcBdr/>
      </a:tcStyle>
    </a:band1H>
    <a:band2H>
      <a:tcStyle>
        <a:tcBdr/>
      </a:tcStyle>
    </a:band2H>
    <a:band1V>
      <a:tcStyle>
        <a:tcBdr/>
      </a:tcStyle>
    </a:band1V>
    <a:band2V>
      <a:tcStyle>
        <a:tcBdr/>
      </a:tcStyle>
    </a:band2V>
    <a:lastCol>
      <a:tcStyle>
        <a:tcBdr/>
      </a:tcStyle>
    </a:lastCol>
    <a:firstCol>
      <a:tcStyle>
        <a:tcBdr/>
      </a:tcStyle>
    </a:firstCol>
    <a:lastRow>
      <a:tcStyle>
        <a:tcBdr/>
      </a:tcStyle>
    </a:lastRow>
    <a:seCell>
      <a:tcStyle>
        <a:tcBdr/>
      </a:tcStyle>
    </a:seCell>
    <a:swCell>
      <a:tcStyle>
        <a:tcBdr/>
      </a:tcStyle>
    </a:swCell>
    <a:firstRow>
      <a:tcStyle>
        <a:tcBdr/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3657"/>
    <p:restoredTop sz="94603"/>
  </p:normalViewPr>
  <p:slideViewPr>
    <p:cSldViewPr snapToGrid="0" showGuides="1">
      <p:cViewPr varScale="1">
        <p:scale>
          <a:sx n="93" d="100"/>
          <a:sy n="93" d="100"/>
        </p:scale>
        <p:origin x="216" y="54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 panose="020F0502020204030204"/>
              <a:buNone/>
            </a:pPr>
            <a:endParaRPr sz="12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9" name="Google Shape;9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 panose="020F0502020204030204"/>
              <a:buNone/>
            </a:pPr>
            <a:endParaRPr sz="12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10" name="Google Shape;11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 panose="020F0502020204030204"/>
              <a:buNone/>
            </a:pPr>
            <a:endParaRPr sz="12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00" name="Google Shape;200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4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4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1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7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 panose="020F0502020204030204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7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5" name="Google Shape;35;p1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1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1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18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41" name="Google Shape;41;p18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42" name="Google Shape;42;p1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9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8" name="Google Shape;48;p19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9" name="Google Shape;49;p19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0" name="Google Shape;50;p19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51" name="Google Shape;51;p1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2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1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 panose="020F0502020204030204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1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21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2" name="Google Shape;62;p2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2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 panose="020F0502020204030204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2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2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9" name="Google Shape;69;p2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3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2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4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4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2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2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  <a:defRPr sz="4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90204"/>
              <a:buChar char="•"/>
              <a:defRPr sz="3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90204"/>
              <a:buChar char="–"/>
              <a:defRPr sz="2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9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90204"/>
              <a:buChar char="–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90204"/>
              <a:buChar char="»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9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9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9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9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12" name="Google Shape;12;p1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13" name="Google Shape;13;p1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14" name="Google Shape;14;p1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</a:pPr>
            <a:r>
              <a:rPr lang="en-US"/>
              <a:t>Deep Reinforcement Learning for Trading</a:t>
            </a:r>
          </a:p>
        </p:txBody>
      </p:sp>
      <p:sp>
        <p:nvSpPr>
          <p:cNvPr id="89" name="Google Shape;89;p1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>
                <a:solidFill>
                  <a:schemeClr val="dk1"/>
                </a:solidFill>
              </a:rPr>
              <a:t>Hao Wang, Haolan Cheng, Yuting Lun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"/>
          <p:cNvSpPr/>
          <p:nvPr/>
        </p:nvSpPr>
        <p:spPr>
          <a:xfrm>
            <a:off x="457200" y="151050"/>
            <a:ext cx="8229600" cy="73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47857"/>
              </a:buClr>
              <a:buSzPts val="2400"/>
              <a:buFont typeface="Calibri" panose="020F0502020204030204"/>
              <a:buNone/>
            </a:pPr>
            <a:r>
              <a:rPr lang="en-US" sz="2400" b="1" dirty="0">
                <a:solidFill>
                  <a:srgbClr val="3D85C6"/>
                </a:solidFill>
                <a:highlight>
                  <a:schemeClr val="lt1"/>
                </a:highlight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Summary of Original Paper</a:t>
            </a:r>
            <a:endParaRPr sz="2400" b="0" i="0" u="none" strike="noStrike" cap="none" dirty="0">
              <a:solidFill>
                <a:srgbClr val="3D85C6"/>
              </a:solidFill>
              <a:highlight>
                <a:schemeClr val="lt1"/>
              </a:highlight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02" name="Google Shape;102;p3"/>
          <p:cNvSpPr/>
          <p:nvPr/>
        </p:nvSpPr>
        <p:spPr>
          <a:xfrm>
            <a:off x="529975" y="699626"/>
            <a:ext cx="4114800" cy="73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1917"/>
              </a:buClr>
              <a:buSzPts val="1800"/>
              <a:buFont typeface="Calibri" panose="020F0502020204030204"/>
              <a:buNone/>
            </a:pPr>
            <a:r>
              <a:rPr lang="en-US" sz="1800" b="1" i="0" u="none" strike="noStrike" cap="none">
                <a:solidFill>
                  <a:srgbClr val="1C1917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Traditional Methods</a:t>
            </a:r>
            <a:endParaRPr sz="1200" b="0" i="0" u="none" strike="noStrike" cap="none">
              <a:solidFill>
                <a:srgbClr val="7F7F7F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03" name="Google Shape;103;p3"/>
          <p:cNvSpPr/>
          <p:nvPr/>
        </p:nvSpPr>
        <p:spPr>
          <a:xfrm>
            <a:off x="301375" y="1176650"/>
            <a:ext cx="4343400" cy="218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Char char="•"/>
            </a:pPr>
            <a:r>
              <a:rPr lang="en-US" sz="1400" b="0" i="0" u="none" strike="noStrike" cap="none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Fundamental &amp; Technical Analysis: Often lack precise timing for entering and exiting trades, leading to potential drawdowns.</a:t>
            </a:r>
            <a:endParaRPr sz="1400" b="0" i="0" u="none" strike="noStrike" cap="none" dirty="0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Char char="•"/>
            </a:pPr>
            <a:r>
              <a:rPr lang="en-US" sz="1400" b="0" i="0" u="none" strike="noStrike" cap="none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Time-Series Momentum: Highly effective in trending markets, but severely vulnerable to sideways or mean-reverting markets (like FX).</a:t>
            </a:r>
            <a:endParaRPr sz="1400" b="0" i="0" u="none" strike="noStrike" cap="none" dirty="0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Char char="•"/>
            </a:pPr>
            <a:r>
              <a:rPr lang="en-US" sz="1400" b="0" i="0" u="none" strike="noStrike" cap="none" dirty="0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Classical RL (Q-Learning): Frequently relies on discrete action spaces (fully long/short), which is highly risky during volatile periods.</a:t>
            </a:r>
            <a:endParaRPr sz="1400" b="0" i="0" u="none" strike="noStrike" cap="none" dirty="0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04" name="Google Shape;104;p3"/>
          <p:cNvSpPr/>
          <p:nvPr/>
        </p:nvSpPr>
        <p:spPr>
          <a:xfrm>
            <a:off x="4775200" y="818125"/>
            <a:ext cx="4089300" cy="4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1917"/>
              </a:buClr>
              <a:buSzPts val="1800"/>
              <a:buFont typeface="Calibri" panose="020F0502020204030204"/>
              <a:buNone/>
            </a:pPr>
            <a:r>
              <a:rPr lang="en-US" sz="1800" b="1" i="0" u="none" strike="noStrike" cap="none">
                <a:solidFill>
                  <a:srgbClr val="1C1917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Proposed RL Methods</a:t>
            </a:r>
            <a:endParaRPr sz="1200" b="0" i="0" u="none" strike="noStrike" cap="none">
              <a:solidFill>
                <a:srgbClr val="7F7F7F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05" name="Google Shape;105;p3"/>
          <p:cNvSpPr/>
          <p:nvPr/>
        </p:nvSpPr>
        <p:spPr>
          <a:xfrm>
            <a:off x="4775200" y="1247324"/>
            <a:ext cx="3886200" cy="165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rgbClr val="1C1917"/>
              </a:buClr>
              <a:buSzPts val="1400"/>
              <a:buFont typeface="Arial" panose="020B0604020202090204"/>
              <a:buChar char="•"/>
            </a:pPr>
            <a:r>
              <a:rPr lang="en-US" sz="1400" b="0" i="0" u="none" strike="noStrike" cap="none">
                <a:solidFill>
                  <a:srgbClr val="1C1917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Deep Q-Networks (DQN): </a:t>
            </a:r>
            <a:r>
              <a:rPr lang="en-US" sz="14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Evaluates the value of discrete actions in a given state.</a:t>
            </a:r>
            <a:endParaRPr sz="1400" b="0" i="0" u="none" strike="noStrike" cap="non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rgbClr val="1C1917"/>
              </a:buClr>
              <a:buSzPts val="1400"/>
              <a:buFont typeface="Arial" panose="020B0604020202090204"/>
              <a:buChar char="•"/>
            </a:pPr>
            <a:r>
              <a:rPr lang="en-US" sz="1400" b="0" i="0" u="none" strike="noStrike" cap="none">
                <a:solidFill>
                  <a:srgbClr val="1C1917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Policy Gradients (PG): </a:t>
            </a:r>
            <a:r>
              <a:rPr lang="en-US" sz="14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Optimizes the policy directly, useful for continuous action spaces.</a:t>
            </a:r>
            <a:endParaRPr sz="1400" b="0" i="0" u="none" strike="noStrike" cap="non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rgbClr val="1C1917"/>
              </a:buClr>
              <a:buSzPts val="1400"/>
              <a:buFont typeface="Arial" panose="020B0604020202090204"/>
              <a:buChar char="•"/>
            </a:pPr>
            <a:r>
              <a:rPr lang="en-US" sz="1400" b="0" i="0" u="none" strike="noStrike" cap="none">
                <a:solidFill>
                  <a:srgbClr val="1C1917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Advantage Actor-Critic (A2C): </a:t>
            </a:r>
            <a:r>
              <a:rPr lang="en-US" sz="14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Updates policies in real-time by combining an 'actor' network with a 'critic' network.</a:t>
            </a:r>
            <a:endParaRPr sz="1400" b="0" i="0" u="none" strike="noStrike" cap="non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106" name="Google Shape;106;p3" title="Screenshot 2026-03-06 at 2.41.14 PM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683075" y="3365150"/>
            <a:ext cx="6460675" cy="3399899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3"/>
          <p:cNvSpPr txBox="1"/>
          <p:nvPr/>
        </p:nvSpPr>
        <p:spPr>
          <a:xfrm>
            <a:off x="5029200" y="5114150"/>
            <a:ext cx="3329050" cy="158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>
              <a:buSzPts val="1400"/>
              <a:buFont typeface="Arial" panose="020B0604020202090204"/>
              <a:buChar char="•"/>
            </a:pPr>
            <a:r>
              <a:rPr lang="en-US" dirty="0">
                <a:latin typeface="Calibri" panose="020F0502020204030204"/>
                <a:cs typeface="Calibri" panose="020F0502020204030204"/>
                <a:sym typeface="Calibri" panose="020F0502020204030204"/>
              </a:rPr>
              <a:t>Figure 1: Cumulative trade returns.</a:t>
            </a:r>
          </a:p>
          <a:p>
            <a:pPr marL="285750" indent="-285750">
              <a:buSzPts val="1400"/>
              <a:buFont typeface="Arial" panose="020B0604020202090204"/>
              <a:buChar char="•"/>
            </a:pPr>
            <a:r>
              <a:rPr lang="en-US" dirty="0">
                <a:latin typeface="Calibri" panose="020F0502020204030204"/>
                <a:cs typeface="Calibri" panose="020F0502020204030204"/>
                <a:sym typeface="Calibri" panose="020F0502020204030204"/>
              </a:rPr>
              <a:t>First row: commodity, equity index and fixed income; </a:t>
            </a:r>
          </a:p>
          <a:p>
            <a:pPr marL="285750" indent="-285750">
              <a:buSzPts val="1400"/>
              <a:buFont typeface="Arial" panose="020B0604020202090204"/>
              <a:buChar char="•"/>
            </a:pPr>
            <a:r>
              <a:rPr lang="en-US" dirty="0">
                <a:latin typeface="Calibri" panose="020F0502020204030204"/>
                <a:cs typeface="Calibri" panose="020F0502020204030204"/>
                <a:sym typeface="Calibri" panose="020F0502020204030204"/>
              </a:rPr>
              <a:t>Second row: FX and the portfolio of using all contracts.</a:t>
            </a:r>
            <a:endParaRPr dirty="0">
              <a:latin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"/>
          <p:cNvSpPr txBox="1">
            <a:spLocks noGrp="1"/>
          </p:cNvSpPr>
          <p:nvPr>
            <p:ph type="title"/>
          </p:nvPr>
        </p:nvSpPr>
        <p:spPr>
          <a:xfrm>
            <a:off x="311700" y="225992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 algn="l">
              <a:buClr>
                <a:srgbClr val="047857"/>
              </a:buClr>
              <a:buSzPts val="2400"/>
            </a:pPr>
            <a:r>
              <a:rPr lang="en-US" altLang="zh-CN" sz="2400" b="1" dirty="0">
                <a:solidFill>
                  <a:srgbClr val="3D85C6"/>
                </a:solidFill>
                <a:highlight>
                  <a:schemeClr val="lt1"/>
                </a:highlight>
              </a:rPr>
              <a:t>Summary of Original Paper</a:t>
            </a:r>
            <a:endParaRPr lang="en-US" altLang="zh-CN" sz="2400" dirty="0">
              <a:solidFill>
                <a:srgbClr val="3D85C6"/>
              </a:solidFill>
              <a:highlight>
                <a:schemeClr val="lt1"/>
              </a:highlight>
            </a:endParaRPr>
          </a:p>
        </p:txBody>
      </p:sp>
      <p:sp>
        <p:nvSpPr>
          <p:cNvPr id="113" name="Google Shape;113;p4"/>
          <p:cNvSpPr/>
          <p:nvPr/>
        </p:nvSpPr>
        <p:spPr>
          <a:xfrm>
            <a:off x="457200" y="712661"/>
            <a:ext cx="2560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1917"/>
              </a:buClr>
              <a:buSzPts val="1600"/>
              <a:buFont typeface="Calibri" panose="020F0502020204030204"/>
              <a:buNone/>
            </a:pPr>
            <a:r>
              <a:rPr lang="en-US" sz="1600" b="1" i="0" u="none" strike="noStrike" cap="none">
                <a:solidFill>
                  <a:srgbClr val="1C1917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1. Data</a:t>
            </a:r>
            <a:endParaRPr sz="1600" b="0" i="0" u="none" strike="noStrike" cap="non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14" name="Google Shape;114;p4"/>
          <p:cNvSpPr/>
          <p:nvPr/>
        </p:nvSpPr>
        <p:spPr>
          <a:xfrm>
            <a:off x="457200" y="1318395"/>
            <a:ext cx="2560200" cy="144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1917"/>
              </a:buClr>
              <a:buSzPts val="1600"/>
              <a:buFont typeface="Calibri" panose="020F0502020204030204"/>
              <a:buNone/>
            </a:pPr>
            <a:r>
              <a:rPr lang="en-US" sz="1800" b="0" i="0" u="none" strike="noStrike" cap="none">
                <a:solidFill>
                  <a:srgbClr val="1C1917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50 most liquid futures contracts (2011-2019).</a:t>
            </a:r>
            <a:endParaRPr sz="1800" b="0" i="0" u="none" strike="noStrike" cap="non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285750" marR="0" lvl="0" indent="-273050" algn="l" rtl="0">
              <a:spcBef>
                <a:spcPts val="0"/>
              </a:spcBef>
              <a:spcAft>
                <a:spcPts val="0"/>
              </a:spcAft>
              <a:buClr>
                <a:srgbClr val="1C1917"/>
              </a:buClr>
              <a:buSzPts val="1400"/>
              <a:buFont typeface="Arial" panose="020B0604020202090204"/>
              <a:buChar char="•"/>
            </a:pPr>
            <a:r>
              <a:rPr lang="en-US" sz="1800" b="0" i="0" u="none" strike="noStrike" cap="none">
                <a:solidFill>
                  <a:srgbClr val="1C1917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Commodities (25)</a:t>
            </a:r>
            <a:endParaRPr sz="1800" b="0" i="0" u="none" strike="noStrike" cap="non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285750" marR="0" lvl="0" indent="-273050" algn="l" rtl="0">
              <a:spcBef>
                <a:spcPts val="0"/>
              </a:spcBef>
              <a:spcAft>
                <a:spcPts val="0"/>
              </a:spcAft>
              <a:buClr>
                <a:srgbClr val="1C1917"/>
              </a:buClr>
              <a:buSzPts val="1400"/>
              <a:buFont typeface="Arial" panose="020B0604020202090204"/>
              <a:buChar char="•"/>
            </a:pPr>
            <a:r>
              <a:rPr lang="en-US" sz="1800" b="0" i="0" u="none" strike="noStrike" cap="none">
                <a:solidFill>
                  <a:srgbClr val="1C1917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Equity Indices (11)</a:t>
            </a:r>
            <a:endParaRPr sz="1800" b="0" i="0" u="none" strike="noStrike" cap="non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285750" marR="0" lvl="0" indent="-273050" algn="l" rtl="0">
              <a:spcBef>
                <a:spcPts val="0"/>
              </a:spcBef>
              <a:spcAft>
                <a:spcPts val="0"/>
              </a:spcAft>
              <a:buClr>
                <a:srgbClr val="1C1917"/>
              </a:buClr>
              <a:buSzPts val="1400"/>
              <a:buFont typeface="Arial" panose="020B0604020202090204"/>
              <a:buChar char="•"/>
            </a:pPr>
            <a:r>
              <a:rPr lang="en-US" sz="1800" b="0" i="0" u="none" strike="noStrike" cap="none">
                <a:solidFill>
                  <a:srgbClr val="1C1917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Fixed Income (5)</a:t>
            </a:r>
            <a:endParaRPr sz="1800" b="0" i="0" u="none" strike="noStrike" cap="non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285750" marR="0" lvl="0" indent="-273050" algn="l" rtl="0">
              <a:spcBef>
                <a:spcPts val="0"/>
              </a:spcBef>
              <a:spcAft>
                <a:spcPts val="0"/>
              </a:spcAft>
              <a:buClr>
                <a:srgbClr val="1C1917"/>
              </a:buClr>
              <a:buSzPts val="1400"/>
              <a:buFont typeface="Arial" panose="020B0604020202090204"/>
              <a:buChar char="•"/>
            </a:pPr>
            <a:r>
              <a:rPr lang="en-US" sz="1800" b="0" i="0" u="none" strike="noStrike" cap="none">
                <a:solidFill>
                  <a:srgbClr val="1C1917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Forex (9)</a:t>
            </a:r>
            <a:endParaRPr sz="1800" b="0" i="0" u="none" strike="noStrike" cap="non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15" name="Google Shape;115;p4"/>
          <p:cNvSpPr/>
          <p:nvPr/>
        </p:nvSpPr>
        <p:spPr>
          <a:xfrm>
            <a:off x="2959920" y="712649"/>
            <a:ext cx="2560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1917"/>
              </a:buClr>
              <a:buSzPts val="1600"/>
              <a:buFont typeface="Calibri" panose="020F0502020204030204"/>
              <a:buNone/>
            </a:pPr>
            <a:r>
              <a:rPr lang="en-US" sz="1600" b="1" i="0" u="none" strike="noStrike" cap="none">
                <a:solidFill>
                  <a:srgbClr val="1C1917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2. Methodology</a:t>
            </a:r>
            <a:endParaRPr sz="1600" b="0" i="0" u="none" strike="noStrike" cap="non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16" name="Google Shape;116;p4"/>
          <p:cNvSpPr/>
          <p:nvPr/>
        </p:nvSpPr>
        <p:spPr>
          <a:xfrm>
            <a:off x="2806700" y="1259205"/>
            <a:ext cx="3175635" cy="1585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1917"/>
              </a:buClr>
              <a:buSzPts val="1600"/>
              <a:buFont typeface="Calibri" panose="020F0502020204030204"/>
              <a:buNone/>
            </a:pPr>
            <a:r>
              <a:rPr lang="en-US" sz="1800" b="0" i="0" u="none" strike="noStrike" cap="none">
                <a:solidFill>
                  <a:srgbClr val="1C1917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Markov Decision Process (MDP) formulation.</a:t>
            </a:r>
            <a:endParaRPr sz="1800" b="0" i="0" u="none" strike="noStrike" cap="non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285750" marR="0" lvl="0" indent="-273050" algn="l" rtl="0">
              <a:spcBef>
                <a:spcPts val="0"/>
              </a:spcBef>
              <a:spcAft>
                <a:spcPts val="0"/>
              </a:spcAft>
              <a:buClr>
                <a:srgbClr val="1C1917"/>
              </a:buClr>
              <a:buSzPts val="1400"/>
              <a:buFont typeface="Arial" panose="020B0604020202090204"/>
              <a:buChar char="•"/>
            </a:pPr>
            <a:r>
              <a:rPr lang="en-US" sz="1800" b="0" i="0" u="none" strike="noStrike" cap="none">
                <a:solidFill>
                  <a:srgbClr val="1C1917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State: 60-day lookback (Price, Returns, MACD, RSI).</a:t>
            </a:r>
            <a:endParaRPr sz="1800" b="0" i="0" u="none" strike="noStrike" cap="non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285750" marR="0" lvl="0" indent="-273050" algn="l" rtl="0">
              <a:spcBef>
                <a:spcPts val="0"/>
              </a:spcBef>
              <a:spcAft>
                <a:spcPts val="0"/>
              </a:spcAft>
              <a:buClr>
                <a:srgbClr val="1C1917"/>
              </a:buClr>
              <a:buSzPts val="1400"/>
              <a:buFont typeface="Arial" panose="020B0604020202090204"/>
              <a:buChar char="•"/>
            </a:pPr>
            <a:r>
              <a:rPr lang="en-US" sz="1800" b="0" i="0" u="none" strike="noStrike" cap="none">
                <a:solidFill>
                  <a:srgbClr val="1C1917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Action: Target orders [-1, 1].</a:t>
            </a:r>
            <a:endParaRPr sz="1800" b="0" i="0" u="none" strike="noStrike" cap="non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285750" marR="0" lvl="0" indent="-273050" algn="l" rtl="0">
              <a:spcBef>
                <a:spcPts val="0"/>
              </a:spcBef>
              <a:spcAft>
                <a:spcPts val="0"/>
              </a:spcAft>
              <a:buClr>
                <a:srgbClr val="1C1917"/>
              </a:buClr>
              <a:buSzPts val="1400"/>
              <a:buFont typeface="Arial" panose="020B0604020202090204"/>
              <a:buChar char="•"/>
            </a:pPr>
            <a:r>
              <a:rPr lang="en-US" sz="1800" b="0" i="0" u="none" strike="noStrike" cap="none">
                <a:solidFill>
                  <a:srgbClr val="1C1917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Reward: Volatility-scaled additive profits.</a:t>
            </a:r>
            <a:endParaRPr sz="1800" b="0" i="0" u="none" strike="noStrike" cap="non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17" name="Google Shape;117;p4"/>
          <p:cNvSpPr/>
          <p:nvPr/>
        </p:nvSpPr>
        <p:spPr>
          <a:xfrm>
            <a:off x="5982155" y="771081"/>
            <a:ext cx="2560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1917"/>
              </a:buClr>
              <a:buSzPts val="1600"/>
              <a:buFont typeface="Calibri" panose="020F0502020204030204"/>
              <a:buNone/>
            </a:pPr>
            <a:r>
              <a:rPr lang="en-US" sz="1600" b="1" i="0" u="none" strike="noStrike" cap="none">
                <a:solidFill>
                  <a:srgbClr val="1C1917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3. Evaluation Metrics</a:t>
            </a:r>
            <a:endParaRPr sz="1600" b="0" i="0" u="none" strike="noStrike" cap="non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18" name="Google Shape;118;p4"/>
          <p:cNvSpPr/>
          <p:nvPr/>
        </p:nvSpPr>
        <p:spPr>
          <a:xfrm>
            <a:off x="5982335" y="1228090"/>
            <a:ext cx="3489325" cy="14490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1917"/>
              </a:buClr>
              <a:buSzPts val="1600"/>
              <a:buFont typeface="Calibri" panose="020F0502020204030204"/>
              <a:buNone/>
            </a:pPr>
            <a:r>
              <a:rPr lang="en-US" sz="1800" b="0" i="0" u="none" strike="noStrike" cap="none">
                <a:solidFill>
                  <a:srgbClr val="1C1917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Portfolio-level performance assessment.</a:t>
            </a:r>
            <a:endParaRPr sz="1800" b="0" i="0" u="none" strike="noStrike" cap="non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285750" marR="0" lvl="0" indent="-273050" algn="l" rtl="0">
              <a:spcBef>
                <a:spcPts val="0"/>
              </a:spcBef>
              <a:spcAft>
                <a:spcPts val="0"/>
              </a:spcAft>
              <a:buClr>
                <a:srgbClr val="1C1917"/>
              </a:buClr>
              <a:buSzPts val="1400"/>
              <a:buFont typeface="Arial" panose="020B0604020202090204"/>
              <a:buChar char="•"/>
            </a:pPr>
            <a:r>
              <a:rPr lang="en-US" sz="1800" b="0" i="0" u="none" strike="noStrike" cap="none">
                <a:solidFill>
                  <a:srgbClr val="1C1917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Annualised Expected Return</a:t>
            </a:r>
            <a:endParaRPr sz="1800" b="0" i="0" u="none" strike="noStrike" cap="non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285750" marR="0" lvl="0" indent="-273050" algn="l" rtl="0">
              <a:spcBef>
                <a:spcPts val="0"/>
              </a:spcBef>
              <a:spcAft>
                <a:spcPts val="0"/>
              </a:spcAft>
              <a:buClr>
                <a:srgbClr val="1C1917"/>
              </a:buClr>
              <a:buSzPts val="1400"/>
              <a:buFont typeface="Arial" panose="020B0604020202090204"/>
              <a:buChar char="•"/>
            </a:pPr>
            <a:r>
              <a:rPr lang="en-US" sz="1800" b="0" i="0" u="none" strike="noStrike" cap="none">
                <a:solidFill>
                  <a:srgbClr val="1C1917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Sharpe &amp; Sortino Ratios</a:t>
            </a:r>
            <a:endParaRPr sz="1800" b="0" i="0" u="none" strike="noStrike" cap="non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285750" marR="0" lvl="0" indent="-273050" algn="l" rtl="0">
              <a:spcBef>
                <a:spcPts val="0"/>
              </a:spcBef>
              <a:spcAft>
                <a:spcPts val="0"/>
              </a:spcAft>
              <a:buClr>
                <a:srgbClr val="1C1917"/>
              </a:buClr>
              <a:buSzPts val="1400"/>
              <a:buFont typeface="Arial" panose="020B0604020202090204"/>
              <a:buChar char="•"/>
            </a:pPr>
            <a:r>
              <a:rPr lang="en-US" sz="1800" b="0" i="0" u="none" strike="noStrike" cap="none">
                <a:solidFill>
                  <a:srgbClr val="1C1917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Maximum Drawdown (MDD)</a:t>
            </a:r>
            <a:endParaRPr sz="1800" b="0" i="0" u="none" strike="noStrike" cap="non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285750" marR="0" lvl="0" indent="-273050" algn="l" rtl="0">
              <a:spcBef>
                <a:spcPts val="0"/>
              </a:spcBef>
              <a:spcAft>
                <a:spcPts val="0"/>
              </a:spcAft>
              <a:buClr>
                <a:srgbClr val="1C1917"/>
              </a:buClr>
              <a:buSzPts val="1400"/>
              <a:buFont typeface="Arial" panose="020B0604020202090204"/>
              <a:buChar char="•"/>
            </a:pPr>
            <a:r>
              <a:rPr lang="en-US" sz="1800" b="0" i="0" u="none" strike="noStrike" cap="none">
                <a:solidFill>
                  <a:srgbClr val="1C1917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Calmar Ratio</a:t>
            </a:r>
            <a:endParaRPr sz="1800" b="0" i="0" u="none" strike="noStrike" cap="non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19" name="Google Shape;119;p4"/>
          <p:cNvSpPr/>
          <p:nvPr/>
        </p:nvSpPr>
        <p:spPr>
          <a:xfrm>
            <a:off x="536201" y="3029607"/>
            <a:ext cx="1759500" cy="598800"/>
          </a:xfrm>
          <a:prstGeom prst="roundRect">
            <a:avLst>
              <a:gd name="adj" fmla="val 16667"/>
            </a:avLst>
          </a:prstGeom>
          <a:solidFill>
            <a:srgbClr val="0B5394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 panose="020F0502020204030204"/>
              <a:buNone/>
            </a:pPr>
            <a:r>
              <a:rPr lang="en-US" sz="1600" b="1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Market State</a:t>
            </a:r>
            <a:endParaRPr sz="1800" b="1" i="0" u="none" strike="noStrike" cap="none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 panose="020F0502020204030204"/>
              <a:buNone/>
            </a:pPr>
            <a:r>
              <a:rPr lang="en-US" sz="1600" b="1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Price, Vol, MACD</a:t>
            </a:r>
            <a:endParaRPr sz="1600" b="1" i="0" u="none" strike="noStrike" cap="none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20" name="Google Shape;120;p4"/>
          <p:cNvSpPr/>
          <p:nvPr/>
        </p:nvSpPr>
        <p:spPr>
          <a:xfrm>
            <a:off x="3080075" y="3029615"/>
            <a:ext cx="2319900" cy="598800"/>
          </a:xfrm>
          <a:prstGeom prst="roundRect">
            <a:avLst>
              <a:gd name="adj" fmla="val 16667"/>
            </a:avLst>
          </a:prstGeom>
          <a:solidFill>
            <a:srgbClr val="0B5394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 panose="020F0502020204030204"/>
              <a:buNone/>
            </a:pPr>
            <a:r>
              <a:rPr lang="en-US" sz="1600" b="1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DRL Agent</a:t>
            </a:r>
            <a:endParaRPr sz="1800" b="1" i="0" u="none" strike="noStrike" cap="none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 panose="020F0502020204030204"/>
              <a:buNone/>
            </a:pPr>
            <a:r>
              <a:rPr lang="en-US" sz="1600" b="1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(Actor-Critic LSTM)</a:t>
            </a:r>
            <a:endParaRPr sz="1600" b="1" i="0" u="none" strike="noStrike" cap="none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21" name="Google Shape;121;p4"/>
          <p:cNvSpPr/>
          <p:nvPr/>
        </p:nvSpPr>
        <p:spPr>
          <a:xfrm>
            <a:off x="6184350" y="3010865"/>
            <a:ext cx="2653800" cy="636300"/>
          </a:xfrm>
          <a:prstGeom prst="roundRect">
            <a:avLst>
              <a:gd name="adj" fmla="val 16667"/>
            </a:avLst>
          </a:prstGeom>
          <a:solidFill>
            <a:srgbClr val="0B5394"/>
          </a:solidFill>
          <a:ln w="12700" cap="flat" cmpd="sng">
            <a:solidFill>
              <a:srgbClr val="1C191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 panose="020F0502020204030204"/>
              <a:buNone/>
            </a:pPr>
            <a:r>
              <a:rPr lang="en-US" sz="1600" b="1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Action</a:t>
            </a:r>
            <a:r>
              <a:rPr lang="en-US" sz="1800" b="1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r>
              <a:rPr lang="en-US" sz="1600" b="1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Portfolio Weights</a:t>
            </a:r>
            <a:endParaRPr sz="1600" b="1" i="0" u="none" strike="noStrike" cap="none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cxnSp>
        <p:nvCxnSpPr>
          <p:cNvPr id="122" name="Google Shape;122;p4"/>
          <p:cNvCxnSpPr>
            <a:endCxn id="120" idx="1"/>
          </p:cNvCxnSpPr>
          <p:nvPr/>
        </p:nvCxnSpPr>
        <p:spPr>
          <a:xfrm>
            <a:off x="2295575" y="3323915"/>
            <a:ext cx="784500" cy="51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pic>
        <p:nvPicPr>
          <p:cNvPr id="123" name="Google Shape;123;p4" title="Screenshot 2026-03-06 at 3.09.24 PM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446100" y="4857300"/>
            <a:ext cx="7587832" cy="16442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4" name="Google Shape;124;p4"/>
          <p:cNvCxnSpPr/>
          <p:nvPr/>
        </p:nvCxnSpPr>
        <p:spPr>
          <a:xfrm>
            <a:off x="5399975" y="3326465"/>
            <a:ext cx="784500" cy="51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pic>
        <p:nvPicPr>
          <p:cNvPr id="125" name="Google Shape;125;p4"/>
          <p:cNvPicPr preferRelativeResize="0"/>
          <p:nvPr/>
        </p:nvPicPr>
        <p:blipFill>
          <a:blip r:embed="rId4"/>
          <a:stretch>
            <a:fillRect/>
          </a:stretch>
        </p:blipFill>
        <p:spPr>
          <a:xfrm>
            <a:off x="446100" y="3698650"/>
            <a:ext cx="3847875" cy="1283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4"/>
          <p:cNvSpPr txBox="1">
            <a:spLocks noGrp="1"/>
          </p:cNvSpPr>
          <p:nvPr>
            <p:ph type="title"/>
          </p:nvPr>
        </p:nvSpPr>
        <p:spPr>
          <a:xfrm>
            <a:off x="311700" y="-55433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47857"/>
              </a:buClr>
              <a:buSzPts val="2400"/>
              <a:buFont typeface="Calibri" panose="020F0502020204030204"/>
              <a:buNone/>
            </a:pPr>
            <a:r>
              <a:rPr lang="en-US" sz="2400" b="1" dirty="0">
                <a:solidFill>
                  <a:srgbClr val="3D85C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Regime Detection:</a:t>
            </a:r>
            <a:endParaRPr lang="en-US" sz="2400" dirty="0">
              <a:solidFill>
                <a:srgbClr val="3D85C6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" name="Google Shape;84;p3"/>
          <p:cNvSpPr/>
          <p:nvPr/>
        </p:nvSpPr>
        <p:spPr>
          <a:xfrm>
            <a:off x="440288" y="1441292"/>
            <a:ext cx="1759500" cy="598800"/>
          </a:xfrm>
          <a:prstGeom prst="roundRect">
            <a:avLst>
              <a:gd name="adj" fmla="val 16667"/>
            </a:avLst>
          </a:prstGeom>
          <a:solidFill>
            <a:srgbClr val="0B5394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chemeClr val="lt1"/>
                </a:solidFill>
                <a:latin typeface="Calibri" panose="020F0502020204030204"/>
                <a:cs typeface="Calibri" panose="020F0502020204030204"/>
                <a:sym typeface="Calibri" panose="020F0502020204030204"/>
              </a:rPr>
              <a:t>Load Data of 50 Contracts</a:t>
            </a:r>
            <a:endParaRPr b="1" dirty="0">
              <a:solidFill>
                <a:schemeClr val="lt1"/>
              </a:solidFill>
            </a:endParaRPr>
          </a:p>
        </p:txBody>
      </p:sp>
      <p:cxnSp>
        <p:nvCxnSpPr>
          <p:cNvPr id="10" name="Google Shape;87;p3"/>
          <p:cNvCxnSpPr>
            <a:stCxn id="9" idx="3"/>
            <a:endCxn id="11" idx="1"/>
          </p:cNvCxnSpPr>
          <p:nvPr/>
        </p:nvCxnSpPr>
        <p:spPr>
          <a:xfrm>
            <a:off x="2199788" y="1740692"/>
            <a:ext cx="539539" cy="1319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1" name="Google Shape;84;p3"/>
          <p:cNvSpPr/>
          <p:nvPr/>
        </p:nvSpPr>
        <p:spPr>
          <a:xfrm>
            <a:off x="2739327" y="1075742"/>
            <a:ext cx="2430801" cy="1332538"/>
          </a:xfrm>
          <a:prstGeom prst="roundRect">
            <a:avLst>
              <a:gd name="adj" fmla="val 16667"/>
            </a:avLst>
          </a:prstGeom>
          <a:solidFill>
            <a:srgbClr val="0B5394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GB" altLang="zh-CN" b="1" dirty="0">
                <a:solidFill>
                  <a:schemeClr val="lt1"/>
                </a:solidFill>
                <a:latin typeface="Calibri" panose="020F0502020204030204"/>
                <a:cs typeface="Calibri" panose="020F0502020204030204"/>
              </a:rPr>
              <a:t>Build State Matrices</a:t>
            </a:r>
          </a:p>
          <a:p>
            <a:pPr algn="ctr"/>
            <a:r>
              <a:rPr lang="en-GB" altLang="zh-CN" b="1" dirty="0">
                <a:solidFill>
                  <a:schemeClr val="lt1"/>
                </a:solidFill>
                <a:latin typeface="Calibri" panose="020F0502020204030204"/>
                <a:cs typeface="Calibri" panose="020F0502020204030204"/>
              </a:rPr>
              <a:t>For each asset at each time point</a:t>
            </a:r>
          </a:p>
          <a:p>
            <a:pPr algn="ctr"/>
            <a:r>
              <a:rPr lang="en-GB" altLang="zh-CN" b="1" dirty="0">
                <a:solidFill>
                  <a:schemeClr val="lt1"/>
                </a:solidFill>
                <a:latin typeface="Calibri" panose="020F0502020204030204"/>
                <a:cs typeface="Calibri" panose="020F0502020204030204"/>
              </a:rPr>
              <a:t>Construct 60x9 matrix</a:t>
            </a:r>
          </a:p>
        </p:txBody>
      </p:sp>
      <p:sp>
        <p:nvSpPr>
          <p:cNvPr id="16" name="Google Shape;84;p3"/>
          <p:cNvSpPr/>
          <p:nvPr/>
        </p:nvSpPr>
        <p:spPr>
          <a:xfrm>
            <a:off x="5709668" y="1051046"/>
            <a:ext cx="2994044" cy="1368788"/>
          </a:xfrm>
          <a:prstGeom prst="roundRect">
            <a:avLst>
              <a:gd name="adj" fmla="val 16667"/>
            </a:avLst>
          </a:prstGeom>
          <a:solidFill>
            <a:srgbClr val="0B5394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GB" altLang="zh-CN" sz="1400" b="1" dirty="0">
                <a:solidFill>
                  <a:schemeClr val="lt1"/>
                </a:solidFill>
                <a:latin typeface="Calibri" panose="020F0502020204030204"/>
                <a:cs typeface="Calibri" panose="020F0502020204030204"/>
              </a:rPr>
              <a:t>Extract FFT Features</a:t>
            </a:r>
          </a:p>
          <a:p>
            <a:pPr algn="ctr"/>
            <a:r>
              <a:rPr lang="en-GB" altLang="zh-CN" sz="1400" b="1" dirty="0">
                <a:solidFill>
                  <a:schemeClr val="lt1"/>
                </a:solidFill>
                <a:latin typeface="Calibri" panose="020F0502020204030204"/>
                <a:cs typeface="Calibri" panose="020F0502020204030204"/>
              </a:rPr>
              <a:t>9 columns independent FFT → 10</a:t>
            </a:r>
          </a:p>
          <a:p>
            <a:pPr algn="ctr"/>
            <a:r>
              <a:rPr lang="en-GB" altLang="zh-CN" sz="1400" b="1" dirty="0">
                <a:solidFill>
                  <a:schemeClr val="lt1"/>
                </a:solidFill>
                <a:latin typeface="Calibri" panose="020F0502020204030204"/>
                <a:cs typeface="Calibri" panose="020F0502020204030204"/>
              </a:rPr>
              <a:t>Real + 10 Imaginary</a:t>
            </a:r>
          </a:p>
          <a:p>
            <a:pPr algn="ctr"/>
            <a:r>
              <a:rPr lang="en-GB" altLang="zh-CN" sz="1400" b="1" dirty="0">
                <a:solidFill>
                  <a:schemeClr val="lt1"/>
                </a:solidFill>
                <a:latin typeface="Calibri" panose="020F0502020204030204"/>
                <a:cs typeface="Calibri" panose="020F0502020204030204"/>
              </a:rPr>
              <a:t>= 180-dimensional vector</a:t>
            </a:r>
          </a:p>
        </p:txBody>
      </p:sp>
      <p:sp>
        <p:nvSpPr>
          <p:cNvPr id="17" name="Google Shape;84;p3"/>
          <p:cNvSpPr/>
          <p:nvPr/>
        </p:nvSpPr>
        <p:spPr>
          <a:xfrm>
            <a:off x="3300408" y="2915560"/>
            <a:ext cx="2540023" cy="1332538"/>
          </a:xfrm>
          <a:prstGeom prst="roundRect">
            <a:avLst>
              <a:gd name="adj" fmla="val 16667"/>
            </a:avLst>
          </a:prstGeom>
          <a:solidFill>
            <a:srgbClr val="0B5394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GB" altLang="zh-CN" b="1" dirty="0">
                <a:solidFill>
                  <a:schemeClr val="lt1"/>
                </a:solidFill>
                <a:latin typeface="Calibri" panose="020F0502020204030204"/>
                <a:cs typeface="Calibri" panose="020F0502020204030204"/>
              </a:rPr>
              <a:t>GMM Clustering</a:t>
            </a:r>
          </a:p>
          <a:p>
            <a:pPr algn="ctr"/>
            <a:r>
              <a:rPr lang="en-GB" altLang="zh-CN" b="1" dirty="0" err="1">
                <a:solidFill>
                  <a:schemeClr val="lt1"/>
                </a:solidFill>
                <a:latin typeface="Calibri" panose="020F0502020204030204"/>
                <a:cs typeface="Calibri" panose="020F0502020204030204"/>
              </a:rPr>
              <a:t>n_components</a:t>
            </a:r>
            <a:r>
              <a:rPr lang="en-GB" altLang="zh-CN" b="1" dirty="0">
                <a:solidFill>
                  <a:schemeClr val="lt1"/>
                </a:solidFill>
                <a:latin typeface="Calibri" panose="020F0502020204030204"/>
                <a:cs typeface="Calibri" panose="020F0502020204030204"/>
              </a:rPr>
              <a:t> = 3</a:t>
            </a:r>
          </a:p>
          <a:p>
            <a:pPr algn="ctr"/>
            <a:r>
              <a:rPr lang="en-GB" altLang="zh-CN" b="1" dirty="0">
                <a:solidFill>
                  <a:schemeClr val="lt1"/>
                </a:solidFill>
                <a:latin typeface="Calibri" panose="020F0502020204030204"/>
                <a:cs typeface="Calibri" panose="020F0502020204030204"/>
              </a:rPr>
              <a:t>Fit Gaussian Mixture Model</a:t>
            </a:r>
          </a:p>
        </p:txBody>
      </p:sp>
      <p:sp>
        <p:nvSpPr>
          <p:cNvPr id="18" name="Google Shape;84;p3"/>
          <p:cNvSpPr/>
          <p:nvPr/>
        </p:nvSpPr>
        <p:spPr>
          <a:xfrm>
            <a:off x="3802039" y="4606014"/>
            <a:ext cx="1536764" cy="685957"/>
          </a:xfrm>
          <a:prstGeom prst="roundRect">
            <a:avLst>
              <a:gd name="adj" fmla="val 16667"/>
            </a:avLst>
          </a:prstGeom>
          <a:solidFill>
            <a:srgbClr val="0B5394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GB" altLang="zh-CN" b="1" dirty="0">
                <a:solidFill>
                  <a:schemeClr val="lt1"/>
                </a:solidFill>
                <a:latin typeface="Calibri" panose="020F0502020204030204"/>
                <a:cs typeface="Calibri" panose="020F0502020204030204"/>
              </a:rPr>
              <a:t>Output Regime</a:t>
            </a:r>
          </a:p>
        </p:txBody>
      </p:sp>
      <p:sp>
        <p:nvSpPr>
          <p:cNvPr id="19" name="Google Shape;84;p3"/>
          <p:cNvSpPr/>
          <p:nvPr/>
        </p:nvSpPr>
        <p:spPr>
          <a:xfrm>
            <a:off x="1217013" y="5523576"/>
            <a:ext cx="2292671" cy="937764"/>
          </a:xfrm>
          <a:prstGeom prst="roundRect">
            <a:avLst>
              <a:gd name="adj" fmla="val 16667"/>
            </a:avLst>
          </a:prstGeom>
          <a:solidFill>
            <a:srgbClr val="0B5394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GB" altLang="zh-CN" b="1" dirty="0">
                <a:solidFill>
                  <a:schemeClr val="lt1"/>
                </a:solidFill>
                <a:latin typeface="Calibri" panose="020F0502020204030204"/>
                <a:cs typeface="Calibri" panose="020F0502020204030204"/>
              </a:rPr>
              <a:t>Hard Labels: predict() Each time point → 0/1/2</a:t>
            </a:r>
          </a:p>
        </p:txBody>
      </p:sp>
      <p:sp>
        <p:nvSpPr>
          <p:cNvPr id="20" name="Google Shape;84;p3"/>
          <p:cNvSpPr/>
          <p:nvPr/>
        </p:nvSpPr>
        <p:spPr>
          <a:xfrm>
            <a:off x="5725101" y="5424883"/>
            <a:ext cx="2413062" cy="1135151"/>
          </a:xfrm>
          <a:prstGeom prst="roundRect">
            <a:avLst>
              <a:gd name="adj" fmla="val 16667"/>
            </a:avLst>
          </a:prstGeom>
          <a:solidFill>
            <a:srgbClr val="0B5394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GB" altLang="zh-CN" b="1" dirty="0">
                <a:solidFill>
                  <a:schemeClr val="lt1"/>
                </a:solidFill>
                <a:latin typeface="Calibri" panose="020F0502020204030204"/>
                <a:cs typeface="Calibri" panose="020F0502020204030204"/>
              </a:rPr>
              <a:t>Soft</a:t>
            </a:r>
            <a:r>
              <a:rPr lang="zh-CN" altLang="en-US" b="1" dirty="0">
                <a:solidFill>
                  <a:schemeClr val="lt1"/>
                </a:solidFill>
                <a:latin typeface="Calibri" panose="020F0502020204030204"/>
                <a:cs typeface="Calibri" panose="020F0502020204030204"/>
              </a:rPr>
              <a:t> </a:t>
            </a:r>
            <a:r>
              <a:rPr lang="en-GB" altLang="zh-CN" b="1" dirty="0">
                <a:solidFill>
                  <a:schemeClr val="lt1"/>
                </a:solidFill>
                <a:latin typeface="Calibri" panose="020F0502020204030204"/>
                <a:cs typeface="Calibri" panose="020F0502020204030204"/>
              </a:rPr>
              <a:t>Prob: </a:t>
            </a:r>
            <a:r>
              <a:rPr lang="en-GB" altLang="zh-CN" b="1" dirty="0" err="1">
                <a:solidFill>
                  <a:schemeClr val="lt1"/>
                </a:solidFill>
                <a:latin typeface="Calibri" panose="020F0502020204030204"/>
                <a:cs typeface="Calibri" panose="020F0502020204030204"/>
              </a:rPr>
              <a:t>predict_proba</a:t>
            </a:r>
            <a:r>
              <a:rPr lang="en-GB" altLang="zh-CN" b="1" dirty="0">
                <a:solidFill>
                  <a:schemeClr val="lt1"/>
                </a:solidFill>
                <a:latin typeface="Calibri" panose="020F0502020204030204"/>
                <a:cs typeface="Calibri" panose="020F0502020204030204"/>
              </a:rPr>
              <a:t>() Each time point → P = [p0, p1, p2]</a:t>
            </a:r>
          </a:p>
        </p:txBody>
      </p:sp>
      <p:cxnSp>
        <p:nvCxnSpPr>
          <p:cNvPr id="21" name="Google Shape;87;p3"/>
          <p:cNvCxnSpPr>
            <a:cxnSpLocks/>
            <a:stCxn id="11" idx="3"/>
            <a:endCxn id="16" idx="1"/>
          </p:cNvCxnSpPr>
          <p:nvPr/>
        </p:nvCxnSpPr>
        <p:spPr>
          <a:xfrm flipV="1">
            <a:off x="5170128" y="1735440"/>
            <a:ext cx="539540" cy="6571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30" name="曲线连接符 29"/>
          <p:cNvCxnSpPr>
            <a:stCxn id="18" idx="1"/>
            <a:endCxn id="19" idx="0"/>
          </p:cNvCxnSpPr>
          <p:nvPr/>
        </p:nvCxnSpPr>
        <p:spPr>
          <a:xfrm rot="10800000" flipV="1">
            <a:off x="2363349" y="4948992"/>
            <a:ext cx="1438690" cy="574583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曲线连接符 30"/>
          <p:cNvCxnSpPr>
            <a:stCxn id="18" idx="3"/>
            <a:endCxn id="20" idx="0"/>
          </p:cNvCxnSpPr>
          <p:nvPr/>
        </p:nvCxnSpPr>
        <p:spPr>
          <a:xfrm>
            <a:off x="5338803" y="4948993"/>
            <a:ext cx="1592829" cy="475890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Google Shape;87;p3"/>
          <p:cNvCxnSpPr>
            <a:cxnSpLocks/>
            <a:stCxn id="69" idx="2"/>
            <a:endCxn id="17" idx="0"/>
          </p:cNvCxnSpPr>
          <p:nvPr/>
        </p:nvCxnSpPr>
        <p:spPr>
          <a:xfrm flipH="1">
            <a:off x="4570420" y="2609903"/>
            <a:ext cx="1" cy="305657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63" name="Google Shape;87;p3"/>
          <p:cNvCxnSpPr>
            <a:cxnSpLocks/>
            <a:stCxn id="17" idx="2"/>
            <a:endCxn id="18" idx="0"/>
          </p:cNvCxnSpPr>
          <p:nvPr/>
        </p:nvCxnSpPr>
        <p:spPr>
          <a:xfrm>
            <a:off x="4570420" y="4248098"/>
            <a:ext cx="1" cy="357916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69" name="圆角矩形 68"/>
          <p:cNvSpPr/>
          <p:nvPr/>
        </p:nvSpPr>
        <p:spPr>
          <a:xfrm>
            <a:off x="247139" y="909690"/>
            <a:ext cx="8646563" cy="1700213"/>
          </a:xfrm>
          <a:prstGeom prst="round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1"/>
          <p:cNvSpPr txBox="1">
            <a:spLocks noGrp="1"/>
          </p:cNvSpPr>
          <p:nvPr>
            <p:ph type="title"/>
          </p:nvPr>
        </p:nvSpPr>
        <p:spPr>
          <a:xfrm>
            <a:off x="311700" y="3469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47857"/>
              </a:buClr>
              <a:buSzPts val="2400"/>
              <a:buFont typeface="Calibri" panose="020F0502020204030204"/>
              <a:buNone/>
            </a:pPr>
            <a:r>
              <a:rPr lang="en-US" sz="2400" b="1">
                <a:solidFill>
                  <a:srgbClr val="3D85C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Training &amp;Test</a:t>
            </a:r>
            <a:endParaRPr sz="4400">
              <a:solidFill>
                <a:srgbClr val="3D85C6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03" name="Google Shape;203;p11"/>
          <p:cNvSpPr/>
          <p:nvPr/>
        </p:nvSpPr>
        <p:spPr>
          <a:xfrm>
            <a:off x="666995" y="1709390"/>
            <a:ext cx="1310975" cy="1029867"/>
          </a:xfrm>
          <a:prstGeom prst="roundRect">
            <a:avLst>
              <a:gd name="adj" fmla="val 16667"/>
            </a:avLst>
          </a:prstGeom>
          <a:solidFill>
            <a:srgbClr val="0B5394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alibri" panose="020F0502020204030204"/>
              <a:buNone/>
            </a:pPr>
            <a:r>
              <a:rPr lang="en-US" sz="1100" b="1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Get Regime Soft Probabilities predict_proab</a:t>
            </a:r>
            <a:endParaRPr sz="1100" b="1" i="0" u="none" strike="noStrike" cap="none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alibri" panose="020F0502020204030204"/>
              <a:buNone/>
            </a:pPr>
            <a:r>
              <a:rPr lang="en-US" sz="1100" b="1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[p0,p1,p2] </a:t>
            </a:r>
            <a:endParaRPr sz="1100" b="1" i="0" u="none" strike="noStrike" cap="none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04" name="Google Shape;204;p11"/>
          <p:cNvSpPr/>
          <p:nvPr/>
        </p:nvSpPr>
        <p:spPr>
          <a:xfrm>
            <a:off x="2303803" y="1613809"/>
            <a:ext cx="1906477" cy="525842"/>
          </a:xfrm>
          <a:prstGeom prst="roundRect">
            <a:avLst>
              <a:gd name="adj" fmla="val 16667"/>
            </a:avLst>
          </a:prstGeom>
          <a:solidFill>
            <a:srgbClr val="0B5394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Original State Features</a:t>
            </a:r>
            <a:endParaRPr sz="1100" b="1" i="0" u="none" strike="noStrike" cap="none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9-dim: price, MACD, RSI, etc.</a:t>
            </a:r>
            <a:endParaRPr sz="1100" b="1" i="0" u="none" strike="noStrike" cap="none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05" name="Google Shape;205;p11"/>
          <p:cNvSpPr/>
          <p:nvPr/>
        </p:nvSpPr>
        <p:spPr>
          <a:xfrm>
            <a:off x="2601553" y="2369272"/>
            <a:ext cx="1310975" cy="486557"/>
          </a:xfrm>
          <a:prstGeom prst="roundRect">
            <a:avLst>
              <a:gd name="adj" fmla="val 16667"/>
            </a:avLst>
          </a:prstGeom>
          <a:solidFill>
            <a:srgbClr val="0B5394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Regime Features</a:t>
            </a:r>
            <a:endParaRPr sz="1100" b="1" i="0" u="none" strike="noStrike" cap="none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3-dim: P0, P1, P2</a:t>
            </a:r>
            <a:endParaRPr sz="1100" b="1" i="0" u="none" strike="noStrike" cap="none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06" name="Google Shape;206;p11"/>
          <p:cNvSpPr/>
          <p:nvPr/>
        </p:nvSpPr>
        <p:spPr>
          <a:xfrm>
            <a:off x="4671217" y="1975033"/>
            <a:ext cx="1699428" cy="594752"/>
          </a:xfrm>
          <a:prstGeom prst="roundRect">
            <a:avLst>
              <a:gd name="adj" fmla="val 16667"/>
            </a:avLst>
          </a:prstGeom>
          <a:solidFill>
            <a:srgbClr val="0B5394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Concatenate Augmented State 12-dim</a:t>
            </a:r>
            <a:endParaRPr sz="1100" b="1" i="0" u="none" strike="noStrike" cap="none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cxnSp>
        <p:nvCxnSpPr>
          <p:cNvPr id="207" name="Google Shape;207;p11"/>
          <p:cNvCxnSpPr>
            <a:stCxn id="203" idx="0"/>
            <a:endCxn id="204" idx="0"/>
          </p:cNvCxnSpPr>
          <p:nvPr/>
        </p:nvCxnSpPr>
        <p:spPr>
          <a:xfrm rot="-5400000">
            <a:off x="2241983" y="694190"/>
            <a:ext cx="95700" cy="1934700"/>
          </a:xfrm>
          <a:prstGeom prst="curvedConnector3">
            <a:avLst>
              <a:gd name="adj1" fmla="val 338746"/>
            </a:avLst>
          </a:prstGeom>
          <a:noFill/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208" name="Google Shape;208;p11"/>
          <p:cNvSpPr/>
          <p:nvPr/>
        </p:nvSpPr>
        <p:spPr>
          <a:xfrm>
            <a:off x="211765" y="1110467"/>
            <a:ext cx="8720470" cy="2153279"/>
          </a:xfrm>
          <a:prstGeom prst="roundRect">
            <a:avLst>
              <a:gd name="adj" fmla="val 16667"/>
            </a:avLst>
          </a:prstGeom>
          <a:noFill/>
          <a:ln w="25400" cap="flat" cmpd="sng">
            <a:solidFill>
              <a:srgbClr val="00206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09" name="Google Shape;209;p11"/>
          <p:cNvSpPr txBox="1"/>
          <p:nvPr/>
        </p:nvSpPr>
        <p:spPr>
          <a:xfrm>
            <a:off x="3919611" y="1169949"/>
            <a:ext cx="1359960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TRAINING</a:t>
            </a: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10" name="Google Shape;210;p11"/>
          <p:cNvSpPr/>
          <p:nvPr/>
        </p:nvSpPr>
        <p:spPr>
          <a:xfrm>
            <a:off x="6831583" y="1975033"/>
            <a:ext cx="1699428" cy="594752"/>
          </a:xfrm>
          <a:prstGeom prst="roundRect">
            <a:avLst>
              <a:gd name="adj" fmla="val 16667"/>
            </a:avLst>
          </a:prstGeom>
          <a:solidFill>
            <a:srgbClr val="0B5394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Train Single A2C with full training data</a:t>
            </a:r>
            <a:endParaRPr sz="1100" b="1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cxnSp>
        <p:nvCxnSpPr>
          <p:cNvPr id="211" name="Google Shape;211;p11"/>
          <p:cNvCxnSpPr>
            <a:stCxn id="203" idx="2"/>
            <a:endCxn id="205" idx="2"/>
          </p:cNvCxnSpPr>
          <p:nvPr/>
        </p:nvCxnSpPr>
        <p:spPr>
          <a:xfrm rot="-5400000" flipH="1">
            <a:off x="2231483" y="1830257"/>
            <a:ext cx="116700" cy="1934700"/>
          </a:xfrm>
          <a:prstGeom prst="curvedConnector3">
            <a:avLst>
              <a:gd name="adj1" fmla="val 295777"/>
            </a:avLst>
          </a:prstGeom>
          <a:noFill/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12" name="Google Shape;212;p11"/>
          <p:cNvCxnSpPr>
            <a:stCxn id="205" idx="3"/>
          </p:cNvCxnSpPr>
          <p:nvPr/>
        </p:nvCxnSpPr>
        <p:spPr>
          <a:xfrm rot="10800000" flipH="1">
            <a:off x="3912528" y="2534551"/>
            <a:ext cx="758700" cy="78000"/>
          </a:xfrm>
          <a:prstGeom prst="straightConnector1">
            <a:avLst/>
          </a:prstGeom>
          <a:noFill/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13" name="Google Shape;213;p11"/>
          <p:cNvCxnSpPr>
            <a:stCxn id="204" idx="3"/>
          </p:cNvCxnSpPr>
          <p:nvPr/>
        </p:nvCxnSpPr>
        <p:spPr>
          <a:xfrm>
            <a:off x="4210280" y="1876730"/>
            <a:ext cx="460800" cy="131400"/>
          </a:xfrm>
          <a:prstGeom prst="straightConnector1">
            <a:avLst/>
          </a:prstGeom>
          <a:noFill/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14" name="Google Shape;214;p11"/>
          <p:cNvCxnSpPr>
            <a:stCxn id="206" idx="3"/>
            <a:endCxn id="210" idx="1"/>
          </p:cNvCxnSpPr>
          <p:nvPr/>
        </p:nvCxnSpPr>
        <p:spPr>
          <a:xfrm>
            <a:off x="6370645" y="2272409"/>
            <a:ext cx="460800" cy="0"/>
          </a:xfrm>
          <a:prstGeom prst="straightConnector1">
            <a:avLst/>
          </a:prstGeom>
          <a:noFill/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215" name="Google Shape;215;p11"/>
          <p:cNvSpPr/>
          <p:nvPr/>
        </p:nvSpPr>
        <p:spPr>
          <a:xfrm>
            <a:off x="403913" y="4546614"/>
            <a:ext cx="946652" cy="594753"/>
          </a:xfrm>
          <a:prstGeom prst="roundRect">
            <a:avLst>
              <a:gd name="adj" fmla="val 16667"/>
            </a:avLst>
          </a:prstGeom>
          <a:solidFill>
            <a:srgbClr val="0B5394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alibri" panose="020F0502020204030204"/>
              <a:buNone/>
            </a:pPr>
            <a:r>
              <a:rPr lang="en-US" sz="1100" b="1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Load test data</a:t>
            </a:r>
            <a:endParaRPr sz="1100" b="1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16" name="Google Shape;216;p11"/>
          <p:cNvSpPr/>
          <p:nvPr/>
        </p:nvSpPr>
        <p:spPr>
          <a:xfrm>
            <a:off x="1678427" y="4371684"/>
            <a:ext cx="2212221" cy="932016"/>
          </a:xfrm>
          <a:prstGeom prst="roundRect">
            <a:avLst>
              <a:gd name="adj" fmla="val 16667"/>
            </a:avLst>
          </a:prstGeom>
          <a:solidFill>
            <a:srgbClr val="0B5394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Get Augmented State</a:t>
            </a:r>
            <a:br>
              <a:rPr lang="en-US" sz="1100" b="1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br>
            <a:r>
              <a:rPr lang="en-US" sz="1100" b="1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[Original 9-dim + Soft prob 3-dim] = 12 dim input</a:t>
            </a:r>
            <a:endParaRPr sz="1100" b="1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17" name="Google Shape;217;p11"/>
          <p:cNvSpPr/>
          <p:nvPr/>
        </p:nvSpPr>
        <p:spPr>
          <a:xfrm>
            <a:off x="4291872" y="4317585"/>
            <a:ext cx="1877501" cy="1040213"/>
          </a:xfrm>
          <a:prstGeom prst="roundRect">
            <a:avLst>
              <a:gd name="adj" fmla="val 16667"/>
            </a:avLst>
          </a:prstGeom>
          <a:solidFill>
            <a:srgbClr val="0B5394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Single A2C inference LSTM automatically handles regime conditioning</a:t>
            </a:r>
            <a:endParaRPr sz="1100" b="1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18" name="Google Shape;218;p11"/>
          <p:cNvSpPr/>
          <p:nvPr/>
        </p:nvSpPr>
        <p:spPr>
          <a:xfrm>
            <a:off x="211765" y="3761053"/>
            <a:ext cx="8720470" cy="2153279"/>
          </a:xfrm>
          <a:prstGeom prst="roundRect">
            <a:avLst>
              <a:gd name="adj" fmla="val 16667"/>
            </a:avLst>
          </a:prstGeom>
          <a:noFill/>
          <a:ln w="25400" cap="flat" cmpd="sng">
            <a:solidFill>
              <a:srgbClr val="00206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19" name="Google Shape;219;p11"/>
          <p:cNvSpPr txBox="1"/>
          <p:nvPr/>
        </p:nvSpPr>
        <p:spPr>
          <a:xfrm>
            <a:off x="3919611" y="3820535"/>
            <a:ext cx="643125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TEST</a:t>
            </a: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20" name="Google Shape;220;p11"/>
          <p:cNvSpPr/>
          <p:nvPr/>
        </p:nvSpPr>
        <p:spPr>
          <a:xfrm>
            <a:off x="6831583" y="4546614"/>
            <a:ext cx="1699428" cy="594752"/>
          </a:xfrm>
          <a:prstGeom prst="roundRect">
            <a:avLst>
              <a:gd name="adj" fmla="val 16667"/>
            </a:avLst>
          </a:prstGeom>
          <a:solidFill>
            <a:srgbClr val="0B5394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Output action directly</a:t>
            </a:r>
            <a:endParaRPr sz="1100" b="1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cxnSp>
        <p:nvCxnSpPr>
          <p:cNvPr id="221" name="Google Shape;221;p11"/>
          <p:cNvCxnSpPr>
            <a:stCxn id="216" idx="3"/>
            <a:endCxn id="217" idx="1"/>
          </p:cNvCxnSpPr>
          <p:nvPr/>
        </p:nvCxnSpPr>
        <p:spPr>
          <a:xfrm>
            <a:off x="3890648" y="4837692"/>
            <a:ext cx="401100" cy="0"/>
          </a:xfrm>
          <a:prstGeom prst="straightConnector1">
            <a:avLst/>
          </a:prstGeom>
          <a:noFill/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22" name="Google Shape;222;p11"/>
          <p:cNvCxnSpPr>
            <a:stCxn id="217" idx="3"/>
            <a:endCxn id="220" idx="1"/>
          </p:cNvCxnSpPr>
          <p:nvPr/>
        </p:nvCxnSpPr>
        <p:spPr>
          <a:xfrm>
            <a:off x="6169373" y="4837692"/>
            <a:ext cx="662100" cy="6300"/>
          </a:xfrm>
          <a:prstGeom prst="straightConnector1">
            <a:avLst/>
          </a:prstGeom>
          <a:noFill/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23" name="Google Shape;223;p11"/>
          <p:cNvCxnSpPr>
            <a:stCxn id="215" idx="3"/>
            <a:endCxn id="216" idx="1"/>
          </p:cNvCxnSpPr>
          <p:nvPr/>
        </p:nvCxnSpPr>
        <p:spPr>
          <a:xfrm rot="10800000" flipH="1">
            <a:off x="1350565" y="4837691"/>
            <a:ext cx="327900" cy="6300"/>
          </a:xfrm>
          <a:prstGeom prst="straightConnector1">
            <a:avLst/>
          </a:prstGeom>
          <a:noFill/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triangle" w="med" len="med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275</TotalTime>
  <Words>443</Words>
  <Application>Microsoft Macintosh PowerPoint</Application>
  <PresentationFormat>全屏显示(4:3)</PresentationFormat>
  <Paragraphs>67</Paragraphs>
  <Slides>5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Deep Reinforcement Learning for Trading</vt:lpstr>
      <vt:lpstr>PowerPoint 演示文稿</vt:lpstr>
      <vt:lpstr>Summary of Original Paper</vt:lpstr>
      <vt:lpstr>Regime Detection:</vt:lpstr>
      <vt:lpstr>Training &amp;Test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Deep Reinforcement Learning for Trading</dc:title>
  <dc:creator/>
  <cp:lastModifiedBy>hahaha haha</cp:lastModifiedBy>
  <cp:revision>4</cp:revision>
  <dcterms:created xsi:type="dcterms:W3CDTF">2026-04-28T01:18:14Z</dcterms:created>
  <dcterms:modified xsi:type="dcterms:W3CDTF">2026-05-07T02:40:27Z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1033-12.1.24031.24031</vt:lpwstr>
  </property>
  <property fmtid="{D5CDD505-2E9C-101B-9397-08002B2CF9AE}" pid="3" name="ICV">
    <vt:lpwstr>07F572F11AF24193D60AF069A7866AB1_43</vt:lpwstr>
  </property>
</Properties>
</file>