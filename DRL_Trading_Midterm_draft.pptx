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&amp; Brief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alibri"/>
              </a:defRPr>
            </a:pPr>
            <a:r>
              <a:t>Topic: Deep Reinforcement Learning (DRL) for optimal trading strategy development.</a:t>
            </a:r>
            <a:br/>
            <a:br/>
            <a:r>
              <a:t>Brief Introduction:</a:t>
            </a:r>
            <a:br/>
            <a:r>
              <a:t>• Explores training DRL agents to output trade positions directly, bypassing traditional explicit forecasting steps.</a:t>
            </a:r>
            <a:br/>
            <a:r>
              <a:t>• Instead of relying on static rules, the agent learns to maximize a reward function based on expected cumulative trade returns.</a:t>
            </a:r>
            <a:br/>
            <a:r>
              <a:t>• The system operates dynamically, learning to navigate market frictions by directly incorporating transaction costs into its optimization.</a:t>
            </a:r>
          </a:p>
        </p:txBody>
      </p:sp>
      <p:pic>
        <p:nvPicPr>
          <p:cNvPr id="4" name="Picture 3" descr="enhanced_cum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47472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Literature and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alibri"/>
              </a:defRPr>
            </a:pPr>
            <a:r>
              <a:t>Overview of Literature (Existing Approaches):</a:t>
            </a:r>
            <a:br/>
            <a:r>
              <a:t>• Fundamental &amp; Technical Analysis: Often lack precise timing for entering and exiting trades, leading to potential drawdowns.</a:t>
            </a:r>
            <a:br/>
            <a:r>
              <a:t>• Time-Series Momentum: Highly effective in trending markets, but severely vulnerable to sideways or mean-reverting markets (like FX).</a:t>
            </a:r>
            <a:br/>
            <a:r>
              <a:t>• Classical RL (Q-Learning): Frequently relies on discrete action spaces (fully long/short), which is highly risky during volatile periods.</a:t>
            </a:r>
            <a:br/>
            <a:br/>
            <a:r>
              <a:t>The DRL Methods Utilized:</a:t>
            </a:r>
            <a:br/>
            <a:r>
              <a:t>• DQN (Deep Q-learning Networks): Evaluates the value of discrete actions in a given state.</a:t>
            </a:r>
            <a:br/>
            <a:r>
              <a:t>• PG (Policy Gradients): Optimizes the policy directly, useful for continuous action spaces.</a:t>
            </a:r>
            <a:br/>
            <a:r>
              <a:t>• A2C (Advantage Actor-Critic): Updates policies in real-time by combining an 'actor' network with a 'critic'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alibri"/>
              </a:defRPr>
            </a:pPr>
            <a:r>
              <a:t>Data:</a:t>
            </a:r>
            <a:br/>
            <a:r>
              <a:t>• 50 highly liquid continuous futures contracts spanning from 2011 to 2019.</a:t>
            </a:r>
            <a:br/>
            <a:r>
              <a:t>• Covers four asset classes: Commodities, Equity Indices, Fixed Income, and Forex.</a:t>
            </a:r>
            <a:br/>
            <a:br/>
            <a:r>
              <a:t>Methodology:</a:t>
            </a:r>
            <a:br/>
            <a:r>
              <a:t>• States: Built using past prices, returns, MACD, and RSI (60-day lookback).</a:t>
            </a:r>
            <a:br/>
            <a:r>
              <a:t>• Agents: Modeled using two-layer Long Short-Term Memory (LSTM) neural networks.</a:t>
            </a:r>
            <a:br/>
            <a:r>
              <a:t>• Rewards: Utilizes volatility scaling to scale up positions when volatility is low, and scale down when high.</a:t>
            </a:r>
            <a:br/>
            <a:br/>
            <a:r>
              <a:t>Evaluation Metrics:</a:t>
            </a:r>
            <a:br/>
            <a:r>
              <a:t>• Performance judged using Expected Return, Sharpe Ratio, Maximum Drawdown (MDD), Sortino Ratio, and Calmar Ratio.</a:t>
            </a:r>
          </a:p>
        </p:txBody>
      </p:sp>
      <p:pic>
        <p:nvPicPr>
          <p:cNvPr id="4" name="Picture 3" descr="rl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754880"/>
            <a:ext cx="64008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Identified Weaknesses &amp; 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Identified Weaknesses in Existing Methods:</a:t>
            </a:r>
            <a:br/>
            <a:r>
              <a:t>• Baseline momentum algorithms suffer from deteriorating predictability and excess turnover during market consolidation.</a:t>
            </a:r>
            <a:br/>
            <a:r>
              <a:t>• Critic-only RL approaches struggle with the large, continuous action spaces needed to dynamically scale positions down.</a:t>
            </a:r>
            <a:br/>
            <a:br/>
            <a:r>
              <a:t>Planned Extension of the Project:</a:t>
            </a:r>
            <a:br/>
            <a:r>
              <a:t>• Strategy Change: Shift the utility function from maximizing simple linear returns (risk-neutral) to optimizing a risk-adjusted metric like the Sharpe Ratio (concave utility for risk-averse behavior).</a:t>
            </a:r>
          </a:p>
        </p:txBody>
      </p:sp>
      <p:pic>
        <p:nvPicPr>
          <p:cNvPr id="4" name="Picture 3" descr="enhanced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64008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