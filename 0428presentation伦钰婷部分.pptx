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56" r:id="rId3"/>
  </p:sldIdLst>
  <p:sldSz cx="9144000" cy="6858000" type="screen4x3"/>
  <p:notesSz cx="6858000" cy="9144000"/>
  <p:embeddedFontLst>
    <p:embeddedFont>
      <p:font typeface="Proxima Nova" panose="02000506030000020004" pitchFamily="2" charset="0"/>
      <p:regular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2"/>
    <p:restoredTop sz="94737"/>
  </p:normalViewPr>
  <p:slideViewPr>
    <p:cSldViewPr snapToGrid="0" showGuides="1">
      <p:cViewPr varScale="1">
        <p:scale>
          <a:sx n="95" d="100"/>
          <a:sy n="95" d="100"/>
        </p:scale>
        <p:origin x="73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95d4a1ce48_0_456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g395d4a1ce48_0_456"/>
          <p:cNvSpPr txBox="1">
            <a:spLocks noGrp="1"/>
          </p:cNvSpPr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95d4a1ce48_0_456"/>
          <p:cNvSpPr txBox="1">
            <a:spLocks noGrp="1"/>
          </p:cNvSpPr>
          <p:nvPr>
            <p:ph type="subTitle" idx="1"/>
          </p:nvPr>
        </p:nvSpPr>
        <p:spPr>
          <a:xfrm>
            <a:off x="510450" y="4243083"/>
            <a:ext cx="81231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g395d4a1ce48_0_45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g395d4a1ce48_0_461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g395d4a1ce48_0_461"/>
          <p:cNvSpPr txBox="1">
            <a:spLocks noGrp="1"/>
          </p:cNvSpPr>
          <p:nvPr>
            <p:ph type="title"/>
          </p:nvPr>
        </p:nvSpPr>
        <p:spPr>
          <a:xfrm>
            <a:off x="510450" y="2743200"/>
            <a:ext cx="8123100" cy="103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g395d4a1ce48_0_46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95d4a1ce48_0_46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395d4a1ce48_0_46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395d4a1ce48_0_46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395d4a1ce48_0_46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5d4a1ce48_0_47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95d4a1ce48_0_47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g395d4a1ce48_0_47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395d4a1ce48_0_47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5d4a1ce48_0_47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95d4a1ce48_0_47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5d4a1ce48_0_478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g395d4a1ce48_0_478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g395d4a1ce48_0_47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5d4a1ce48_0_482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7975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g395d4a1ce48_0_48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5d4a1ce48_0_485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g395d4a1ce48_0_485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g395d4a1ce48_0_485"/>
          <p:cNvSpPr txBox="1">
            <a:spLocks noGrp="1"/>
          </p:cNvSpPr>
          <p:nvPr>
            <p:ph type="title"/>
          </p:nvPr>
        </p:nvSpPr>
        <p:spPr>
          <a:xfrm>
            <a:off x="265500" y="1607767"/>
            <a:ext cx="4045200" cy="201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395d4a1ce48_0_485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395d4a1ce48_0_485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g395d4a1ce48_0_4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95d4a1ce48_0_492"/>
          <p:cNvSpPr txBox="1">
            <a:spLocks noGrp="1"/>
          </p:cNvSpPr>
          <p:nvPr>
            <p:ph type="body" idx="1"/>
          </p:nvPr>
        </p:nvSpPr>
        <p:spPr>
          <a:xfrm>
            <a:off x="311700" y="5649100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g395d4a1ce48_0_49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5d4a1ce48_0_49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95d4a1ce48_0_495"/>
          <p:cNvSpPr txBox="1">
            <a:spLocks noGrp="1"/>
          </p:cNvSpPr>
          <p:nvPr>
            <p:ph type="title" hasCustomPrompt="1"/>
          </p:nvPr>
        </p:nvSpPr>
        <p:spPr>
          <a:xfrm>
            <a:off x="311700" y="1321967"/>
            <a:ext cx="8520600" cy="25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g395d4a1ce48_0_495"/>
          <p:cNvSpPr txBox="1">
            <a:spLocks noGrp="1"/>
          </p:cNvSpPr>
          <p:nvPr>
            <p:ph type="body" idx="1"/>
          </p:nvPr>
        </p:nvSpPr>
        <p:spPr>
          <a:xfrm>
            <a:off x="311700" y="4095067"/>
            <a:ext cx="8520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395d4a1ce48_0_49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5d4a1ce48_0_50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5d4a1ce48_0_45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 panose="02000506030000020004"/>
              <a:buNone/>
              <a:defRPr sz="28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endParaRPr/>
          </a:p>
        </p:txBody>
      </p:sp>
      <p:sp>
        <p:nvSpPr>
          <p:cNvPr id="7" name="Google Shape;7;g395d4a1ce48_0_45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 panose="02000506030000020004"/>
              <a:buChar char="●"/>
              <a:defRPr sz="18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●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○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 panose="02000506030000020004"/>
              <a:buChar char="■"/>
              <a:defRPr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endParaRPr/>
          </a:p>
        </p:txBody>
      </p:sp>
      <p:sp>
        <p:nvSpPr>
          <p:cNvPr id="8" name="Google Shape;8;g395d4a1ce48_0_45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311700" y="-554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dirty="0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Regime Detection:</a:t>
            </a:r>
            <a:endParaRPr lang="en-US" sz="2400" dirty="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84;p3">
            <a:extLst>
              <a:ext uri="{FF2B5EF4-FFF2-40B4-BE49-F238E27FC236}">
                <a16:creationId xmlns:a16="http://schemas.microsoft.com/office/drawing/2014/main" id="{641DBD76-6FD1-619A-A6B4-D2793F57ABFF}"/>
              </a:ext>
            </a:extLst>
          </p:cNvPr>
          <p:cNvSpPr/>
          <p:nvPr/>
        </p:nvSpPr>
        <p:spPr>
          <a:xfrm>
            <a:off x="440288" y="1441292"/>
            <a:ext cx="17595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Load Data of 50 Contracts</a:t>
            </a:r>
            <a:endParaRPr b="1" dirty="0">
              <a:solidFill>
                <a:schemeClr val="lt1"/>
              </a:solidFill>
            </a:endParaRPr>
          </a:p>
        </p:txBody>
      </p:sp>
      <p:cxnSp>
        <p:nvCxnSpPr>
          <p:cNvPr id="10" name="Google Shape;87;p3">
            <a:extLst>
              <a:ext uri="{FF2B5EF4-FFF2-40B4-BE49-F238E27FC236}">
                <a16:creationId xmlns:a16="http://schemas.microsoft.com/office/drawing/2014/main" id="{F52894A6-FDDE-614B-B43B-AEECF1AFD4A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199788" y="1740692"/>
            <a:ext cx="9205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Google Shape;84;p3">
            <a:extLst>
              <a:ext uri="{FF2B5EF4-FFF2-40B4-BE49-F238E27FC236}">
                <a16:creationId xmlns:a16="http://schemas.microsoft.com/office/drawing/2014/main" id="{8A5D0555-D5C2-F09D-3301-5989BA1B8C10}"/>
              </a:ext>
            </a:extLst>
          </p:cNvPr>
          <p:cNvSpPr/>
          <p:nvPr/>
        </p:nvSpPr>
        <p:spPr>
          <a:xfrm>
            <a:off x="3120367" y="1074423"/>
            <a:ext cx="2430801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Build State Matrices</a:t>
            </a:r>
          </a:p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For each asset at each time point</a:t>
            </a:r>
          </a:p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Construct 60x9 matrix</a:t>
            </a:r>
          </a:p>
        </p:txBody>
      </p:sp>
      <p:sp>
        <p:nvSpPr>
          <p:cNvPr id="16" name="Google Shape;84;p3">
            <a:extLst>
              <a:ext uri="{FF2B5EF4-FFF2-40B4-BE49-F238E27FC236}">
                <a16:creationId xmlns:a16="http://schemas.microsoft.com/office/drawing/2014/main" id="{414B9D00-C2A0-DD43-D7AF-FD8AA626D7F0}"/>
              </a:ext>
            </a:extLst>
          </p:cNvPr>
          <p:cNvSpPr/>
          <p:nvPr/>
        </p:nvSpPr>
        <p:spPr>
          <a:xfrm>
            <a:off x="3407554" y="3062230"/>
            <a:ext cx="2325734" cy="1113624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Extract FFT Features</a:t>
            </a:r>
          </a:p>
          <a:p>
            <a:pPr lvl="1"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9 columns independent FFT → 10 Real + 10 Imaginary</a:t>
            </a:r>
          </a:p>
          <a:p>
            <a:pPr lvl="1"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= 180-dimensional vector</a:t>
            </a:r>
          </a:p>
        </p:txBody>
      </p:sp>
      <p:sp>
        <p:nvSpPr>
          <p:cNvPr id="17" name="Google Shape;84;p3">
            <a:extLst>
              <a:ext uri="{FF2B5EF4-FFF2-40B4-BE49-F238E27FC236}">
                <a16:creationId xmlns:a16="http://schemas.microsoft.com/office/drawing/2014/main" id="{958A1FAB-3369-82DC-05F5-3E4632ABDB0E}"/>
              </a:ext>
            </a:extLst>
          </p:cNvPr>
          <p:cNvSpPr/>
          <p:nvPr/>
        </p:nvSpPr>
        <p:spPr>
          <a:xfrm>
            <a:off x="6163689" y="1074423"/>
            <a:ext cx="2430801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GMM Clustering</a:t>
            </a:r>
          </a:p>
          <a:p>
            <a:pPr lvl="1" algn="ctr"/>
            <a:r>
              <a:rPr lang="en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n_components</a:t>
            </a:r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= 3</a:t>
            </a:r>
          </a:p>
          <a:p>
            <a:pPr lvl="1"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Fit Gaussian Mixture Model</a:t>
            </a:r>
          </a:p>
        </p:txBody>
      </p:sp>
      <p:sp>
        <p:nvSpPr>
          <p:cNvPr id="18" name="Google Shape;84;p3">
            <a:extLst>
              <a:ext uri="{FF2B5EF4-FFF2-40B4-BE49-F238E27FC236}">
                <a16:creationId xmlns:a16="http://schemas.microsoft.com/office/drawing/2014/main" id="{66CF736F-3F28-A003-7D57-1DFF937EFA3E}"/>
              </a:ext>
            </a:extLst>
          </p:cNvPr>
          <p:cNvSpPr/>
          <p:nvPr/>
        </p:nvSpPr>
        <p:spPr>
          <a:xfrm>
            <a:off x="3802039" y="4606014"/>
            <a:ext cx="1536764" cy="6859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Output Regime</a:t>
            </a:r>
          </a:p>
        </p:txBody>
      </p:sp>
      <p:sp>
        <p:nvSpPr>
          <p:cNvPr id="19" name="Google Shape;84;p3">
            <a:extLst>
              <a:ext uri="{FF2B5EF4-FFF2-40B4-BE49-F238E27FC236}">
                <a16:creationId xmlns:a16="http://schemas.microsoft.com/office/drawing/2014/main" id="{B8386DBB-AFC2-17E0-4F78-A356C707F1E3}"/>
              </a:ext>
            </a:extLst>
          </p:cNvPr>
          <p:cNvSpPr/>
          <p:nvPr/>
        </p:nvSpPr>
        <p:spPr>
          <a:xfrm>
            <a:off x="1217013" y="5523576"/>
            <a:ext cx="2292671" cy="937764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Hard Labels: predict() Each time point → 0/1/2</a:t>
            </a:r>
          </a:p>
        </p:txBody>
      </p:sp>
      <p:sp>
        <p:nvSpPr>
          <p:cNvPr id="20" name="Google Shape;84;p3">
            <a:extLst>
              <a:ext uri="{FF2B5EF4-FFF2-40B4-BE49-F238E27FC236}">
                <a16:creationId xmlns:a16="http://schemas.microsoft.com/office/drawing/2014/main" id="{ADAAB137-A5DD-4362-5E45-33625DFC2C13}"/>
              </a:ext>
            </a:extLst>
          </p:cNvPr>
          <p:cNvSpPr/>
          <p:nvPr/>
        </p:nvSpPr>
        <p:spPr>
          <a:xfrm>
            <a:off x="5725101" y="5424883"/>
            <a:ext cx="2413062" cy="1135151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Soft</a:t>
            </a:r>
            <a:r>
              <a:rPr lang="zh-CN" alt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Prob: </a:t>
            </a:r>
            <a:r>
              <a:rPr lang="en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predict_proba</a:t>
            </a:r>
            <a:r>
              <a:rPr lang="en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() Each time point → P = [p0, p1, p2]</a:t>
            </a:r>
          </a:p>
        </p:txBody>
      </p:sp>
      <p:cxnSp>
        <p:nvCxnSpPr>
          <p:cNvPr id="21" name="Google Shape;87;p3">
            <a:extLst>
              <a:ext uri="{FF2B5EF4-FFF2-40B4-BE49-F238E27FC236}">
                <a16:creationId xmlns:a16="http://schemas.microsoft.com/office/drawing/2014/main" id="{8A494C96-BECE-7236-02FC-FA67000FC16C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5551168" y="1740692"/>
            <a:ext cx="6125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曲线连接符 29">
            <a:extLst>
              <a:ext uri="{FF2B5EF4-FFF2-40B4-BE49-F238E27FC236}">
                <a16:creationId xmlns:a16="http://schemas.microsoft.com/office/drawing/2014/main" id="{8507DB60-58C3-8E0C-10D2-7346BBFE45F5}"/>
              </a:ext>
            </a:extLst>
          </p:cNvPr>
          <p:cNvCxnSpPr>
            <a:cxnSpLocks/>
            <a:stCxn id="18" idx="1"/>
            <a:endCxn id="19" idx="0"/>
          </p:cNvCxnSpPr>
          <p:nvPr/>
        </p:nvCxnSpPr>
        <p:spPr>
          <a:xfrm rot="10800000" flipV="1">
            <a:off x="2363349" y="4948992"/>
            <a:ext cx="1438690" cy="5745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BA7C3858-66DF-1778-5B77-420839F8E26E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>
            <a:off x="5338803" y="4948993"/>
            <a:ext cx="1592829" cy="4758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oogle Shape;87;p3">
            <a:extLst>
              <a:ext uri="{FF2B5EF4-FFF2-40B4-BE49-F238E27FC236}">
                <a16:creationId xmlns:a16="http://schemas.microsoft.com/office/drawing/2014/main" id="{364447A0-4305-66A5-1A7D-EC0541D433AD}"/>
              </a:ext>
            </a:extLst>
          </p:cNvPr>
          <p:cNvCxnSpPr>
            <a:cxnSpLocks/>
            <a:stCxn id="69" idx="2"/>
            <a:endCxn id="16" idx="0"/>
          </p:cNvCxnSpPr>
          <p:nvPr/>
        </p:nvCxnSpPr>
        <p:spPr>
          <a:xfrm>
            <a:off x="4570421" y="2609903"/>
            <a:ext cx="0" cy="4523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" name="Google Shape;87;p3">
            <a:extLst>
              <a:ext uri="{FF2B5EF4-FFF2-40B4-BE49-F238E27FC236}">
                <a16:creationId xmlns:a16="http://schemas.microsoft.com/office/drawing/2014/main" id="{CFE70447-DBB1-6CFB-795C-C07628166304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570421" y="4175854"/>
            <a:ext cx="0" cy="4301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E9AEE7FF-0C90-1683-F451-E0AED3487DB8}"/>
              </a:ext>
            </a:extLst>
          </p:cNvPr>
          <p:cNvSpPr/>
          <p:nvPr/>
        </p:nvSpPr>
        <p:spPr>
          <a:xfrm>
            <a:off x="247139" y="909690"/>
            <a:ext cx="8646563" cy="170021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dirty="0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&amp;Test</a:t>
            </a:r>
            <a:endParaRPr sz="4400" dirty="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Google Shape;84;p3">
            <a:extLst>
              <a:ext uri="{FF2B5EF4-FFF2-40B4-BE49-F238E27FC236}">
                <a16:creationId xmlns:a16="http://schemas.microsoft.com/office/drawing/2014/main" id="{85C5AD84-EBD5-534B-1EB3-F9D249BB4102}"/>
              </a:ext>
            </a:extLst>
          </p:cNvPr>
          <p:cNvSpPr/>
          <p:nvPr/>
        </p:nvSpPr>
        <p:spPr>
          <a:xfrm>
            <a:off x="666995" y="1709390"/>
            <a:ext cx="1310975" cy="102986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chemeClr val="lt1"/>
                </a:solidFill>
              </a:rPr>
              <a:t>Get Regime Soft Probabilities </a:t>
            </a:r>
            <a:r>
              <a:rPr lang="en-US" altLang="zh-CN" sz="1100" b="1" dirty="0" err="1">
                <a:solidFill>
                  <a:schemeClr val="lt1"/>
                </a:solidFill>
              </a:rPr>
              <a:t>predict_proab</a:t>
            </a:r>
            <a:endParaRPr lang="en-US" altLang="zh-CN" sz="1100" b="1" dirty="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chemeClr val="lt1"/>
                </a:solidFill>
              </a:rPr>
              <a:t>[p0,p1,p2] </a:t>
            </a:r>
            <a:endParaRPr sz="1100" b="1" dirty="0">
              <a:solidFill>
                <a:schemeClr val="lt1"/>
              </a:solidFill>
            </a:endParaRPr>
          </a:p>
        </p:txBody>
      </p:sp>
      <p:sp>
        <p:nvSpPr>
          <p:cNvPr id="4" name="Google Shape;84;p3">
            <a:extLst>
              <a:ext uri="{FF2B5EF4-FFF2-40B4-BE49-F238E27FC236}">
                <a16:creationId xmlns:a16="http://schemas.microsoft.com/office/drawing/2014/main" id="{E7C15172-DC19-EFE0-2A3B-5FC73939C5F9}"/>
              </a:ext>
            </a:extLst>
          </p:cNvPr>
          <p:cNvSpPr/>
          <p:nvPr/>
        </p:nvSpPr>
        <p:spPr>
          <a:xfrm>
            <a:off x="2303803" y="1613809"/>
            <a:ext cx="1906477" cy="52584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Original State Features</a:t>
            </a:r>
          </a:p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9-dim: price, MACD, RSI, etc.</a:t>
            </a:r>
          </a:p>
        </p:txBody>
      </p:sp>
      <p:sp>
        <p:nvSpPr>
          <p:cNvPr id="5" name="Google Shape;84;p3">
            <a:extLst>
              <a:ext uri="{FF2B5EF4-FFF2-40B4-BE49-F238E27FC236}">
                <a16:creationId xmlns:a16="http://schemas.microsoft.com/office/drawing/2014/main" id="{6A75ECC6-1B9C-4CAC-7059-D27F8635F895}"/>
              </a:ext>
            </a:extLst>
          </p:cNvPr>
          <p:cNvSpPr/>
          <p:nvPr/>
        </p:nvSpPr>
        <p:spPr>
          <a:xfrm>
            <a:off x="2601553" y="2369272"/>
            <a:ext cx="1310975" cy="4865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Regime Features</a:t>
            </a:r>
          </a:p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3-dim: P0, P1, P2</a:t>
            </a:r>
          </a:p>
        </p:txBody>
      </p:sp>
      <p:sp>
        <p:nvSpPr>
          <p:cNvPr id="6" name="Google Shape;84;p3">
            <a:extLst>
              <a:ext uri="{FF2B5EF4-FFF2-40B4-BE49-F238E27FC236}">
                <a16:creationId xmlns:a16="http://schemas.microsoft.com/office/drawing/2014/main" id="{E9D67157-9E44-FE4A-E181-DF7A18E91AB8}"/>
              </a:ext>
            </a:extLst>
          </p:cNvPr>
          <p:cNvSpPr/>
          <p:nvPr/>
        </p:nvSpPr>
        <p:spPr>
          <a:xfrm>
            <a:off x="4671217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Concatenate Augmented State 12-dim</a:t>
            </a:r>
          </a:p>
        </p:txBody>
      </p:sp>
      <p:cxnSp>
        <p:nvCxnSpPr>
          <p:cNvPr id="11" name="曲线连接符 10">
            <a:extLst>
              <a:ext uri="{FF2B5EF4-FFF2-40B4-BE49-F238E27FC236}">
                <a16:creationId xmlns:a16="http://schemas.microsoft.com/office/drawing/2014/main" id="{16655646-A22D-36F7-62FE-113B294ED17E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rot="5400000" flipH="1" flipV="1">
            <a:off x="2241972" y="694321"/>
            <a:ext cx="95581" cy="1934559"/>
          </a:xfrm>
          <a:prstGeom prst="curvedConnector3">
            <a:avLst>
              <a:gd name="adj1" fmla="val 339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F2EB16A-2EB8-30A8-F573-A0354F619722}"/>
              </a:ext>
            </a:extLst>
          </p:cNvPr>
          <p:cNvSpPr/>
          <p:nvPr/>
        </p:nvSpPr>
        <p:spPr>
          <a:xfrm>
            <a:off x="211765" y="1110467"/>
            <a:ext cx="8720470" cy="215327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6727F0-BCAB-91E7-61F7-A8146E5AEEF7}"/>
              </a:ext>
            </a:extLst>
          </p:cNvPr>
          <p:cNvSpPr txBox="1"/>
          <p:nvPr/>
        </p:nvSpPr>
        <p:spPr>
          <a:xfrm>
            <a:off x="3919611" y="1169949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TRAINING</a:t>
            </a:r>
            <a:endParaRPr kumimoji="1" lang="zh-CN" altLang="en-US" dirty="0"/>
          </a:p>
        </p:txBody>
      </p:sp>
      <p:sp>
        <p:nvSpPr>
          <p:cNvPr id="39" name="Google Shape;84;p3">
            <a:extLst>
              <a:ext uri="{FF2B5EF4-FFF2-40B4-BE49-F238E27FC236}">
                <a16:creationId xmlns:a16="http://schemas.microsoft.com/office/drawing/2014/main" id="{F99E4CD5-9BDC-8FD8-0F45-FA534B32A05F}"/>
              </a:ext>
            </a:extLst>
          </p:cNvPr>
          <p:cNvSpPr/>
          <p:nvPr/>
        </p:nvSpPr>
        <p:spPr>
          <a:xfrm>
            <a:off x="6831583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Train Single A2C with full training data</a:t>
            </a:r>
          </a:p>
        </p:txBody>
      </p: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0311E791-D366-E37B-0DFC-2280F456186D}"/>
              </a:ext>
            </a:extLst>
          </p:cNvPr>
          <p:cNvCxnSpPr>
            <a:cxnSpLocks/>
            <a:stCxn id="2" idx="2"/>
            <a:endCxn id="5" idx="2"/>
          </p:cNvCxnSpPr>
          <p:nvPr/>
        </p:nvCxnSpPr>
        <p:spPr>
          <a:xfrm rot="16200000" flipH="1">
            <a:off x="2231476" y="1830264"/>
            <a:ext cx="116572" cy="1934558"/>
          </a:xfrm>
          <a:prstGeom prst="curvedConnector3">
            <a:avLst>
              <a:gd name="adj1" fmla="val 2961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184624C9-B1C4-D92C-A4BA-2DAFCFBC1E4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912528" y="2534617"/>
            <a:ext cx="758689" cy="77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98FE8620-BF40-E8E9-5AFA-21B33EB78C9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10280" y="1876730"/>
            <a:ext cx="460937" cy="131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AC70A9D-36E4-6AAE-F912-E1A5F992F247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6370645" y="2272409"/>
            <a:ext cx="460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Google Shape;84;p3">
            <a:extLst>
              <a:ext uri="{FF2B5EF4-FFF2-40B4-BE49-F238E27FC236}">
                <a16:creationId xmlns:a16="http://schemas.microsoft.com/office/drawing/2014/main" id="{00874470-A040-1433-DD3E-459179394AEB}"/>
              </a:ext>
            </a:extLst>
          </p:cNvPr>
          <p:cNvSpPr/>
          <p:nvPr/>
        </p:nvSpPr>
        <p:spPr>
          <a:xfrm>
            <a:off x="403913" y="4546614"/>
            <a:ext cx="946652" cy="59475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</a:rPr>
              <a:t>Load test data</a:t>
            </a:r>
            <a:endParaRPr sz="1100" b="1" dirty="0">
              <a:solidFill>
                <a:schemeClr val="lt1"/>
              </a:solidFill>
            </a:endParaRPr>
          </a:p>
        </p:txBody>
      </p:sp>
      <p:sp>
        <p:nvSpPr>
          <p:cNvPr id="65" name="Google Shape;84;p3">
            <a:extLst>
              <a:ext uri="{FF2B5EF4-FFF2-40B4-BE49-F238E27FC236}">
                <a16:creationId xmlns:a16="http://schemas.microsoft.com/office/drawing/2014/main" id="{A0FC1340-4A8D-D55D-D962-E341F9D577DA}"/>
              </a:ext>
            </a:extLst>
          </p:cNvPr>
          <p:cNvSpPr/>
          <p:nvPr/>
        </p:nvSpPr>
        <p:spPr>
          <a:xfrm>
            <a:off x="1678427" y="4371684"/>
            <a:ext cx="2212221" cy="932016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Get Augmented State</a:t>
            </a:r>
            <a:b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</a:br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[Original 9-dim + Soft prob 3-dim] = 12 dim input</a:t>
            </a:r>
          </a:p>
        </p:txBody>
      </p:sp>
      <p:sp>
        <p:nvSpPr>
          <p:cNvPr id="67" name="Google Shape;84;p3">
            <a:extLst>
              <a:ext uri="{FF2B5EF4-FFF2-40B4-BE49-F238E27FC236}">
                <a16:creationId xmlns:a16="http://schemas.microsoft.com/office/drawing/2014/main" id="{0CA552FD-C13A-80E2-E1C5-D4814514D542}"/>
              </a:ext>
            </a:extLst>
          </p:cNvPr>
          <p:cNvSpPr/>
          <p:nvPr/>
        </p:nvSpPr>
        <p:spPr>
          <a:xfrm>
            <a:off x="4291872" y="4317585"/>
            <a:ext cx="1877501" cy="104021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Single A2C inference LSTM automatically handles regime conditioning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6959B4D2-5C06-FD80-5DF4-C174FBD3A7E1}"/>
              </a:ext>
            </a:extLst>
          </p:cNvPr>
          <p:cNvSpPr/>
          <p:nvPr/>
        </p:nvSpPr>
        <p:spPr>
          <a:xfrm>
            <a:off x="211765" y="3761053"/>
            <a:ext cx="8720470" cy="215327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854BD48-A614-57A5-EAEC-E12C7DC1BA69}"/>
              </a:ext>
            </a:extLst>
          </p:cNvPr>
          <p:cNvSpPr txBox="1"/>
          <p:nvPr/>
        </p:nvSpPr>
        <p:spPr>
          <a:xfrm>
            <a:off x="3919611" y="3820535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TEST</a:t>
            </a:r>
            <a:endParaRPr kumimoji="1" lang="zh-CN" altLang="en-US" dirty="0"/>
          </a:p>
        </p:txBody>
      </p:sp>
      <p:sp>
        <p:nvSpPr>
          <p:cNvPr id="71" name="Google Shape;84;p3">
            <a:extLst>
              <a:ext uri="{FF2B5EF4-FFF2-40B4-BE49-F238E27FC236}">
                <a16:creationId xmlns:a16="http://schemas.microsoft.com/office/drawing/2014/main" id="{C6C8B124-45D7-58E2-B9A9-12E545586A59}"/>
              </a:ext>
            </a:extLst>
          </p:cNvPr>
          <p:cNvSpPr/>
          <p:nvPr/>
        </p:nvSpPr>
        <p:spPr>
          <a:xfrm>
            <a:off x="6831583" y="4546614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altLang="zh-CN" sz="11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Output action directly</a:t>
            </a: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5A00C5F9-D784-A6F1-6F21-7DFD6AB640CB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3890648" y="4837692"/>
            <a:ext cx="401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9FBF62F1-17BC-1A99-2C2E-A471B805D6ED}"/>
              </a:ext>
            </a:extLst>
          </p:cNvPr>
          <p:cNvCxnSpPr>
            <a:cxnSpLocks/>
            <a:stCxn id="67" idx="3"/>
            <a:endCxn id="71" idx="1"/>
          </p:cNvCxnSpPr>
          <p:nvPr/>
        </p:nvCxnSpPr>
        <p:spPr>
          <a:xfrm>
            <a:off x="6169373" y="4837692"/>
            <a:ext cx="662210" cy="6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F865D95A-61DB-4A61-D057-3F70EC6090FE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 flipV="1">
            <a:off x="1350565" y="4837692"/>
            <a:ext cx="327862" cy="6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162</Words>
  <Application>Microsoft Macintosh PowerPoint</Application>
  <PresentationFormat>全屏显示(4:3)</PresentationFormat>
  <Paragraphs>29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Proxima Nova</vt:lpstr>
      <vt:lpstr>Arial</vt:lpstr>
      <vt:lpstr>Spearmint</vt:lpstr>
      <vt:lpstr>Regime Detection:</vt:lpstr>
      <vt:lpstr>Training &amp;Test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&amp; Brief Introduction</dc:title>
  <dc:creator/>
  <cp:lastModifiedBy>hahaha haha</cp:lastModifiedBy>
  <cp:revision>2</cp:revision>
  <dcterms:created xsi:type="dcterms:W3CDTF">2026-03-06T22:48:53Z</dcterms:created>
  <dcterms:modified xsi:type="dcterms:W3CDTF">2026-04-27T15:18:25Z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6DC1BA338C9C6137D559AB69939A7EB8_42</vt:lpwstr>
  </property>
</Properties>
</file>